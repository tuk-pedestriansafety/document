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1" r:id="rId2"/>
    <p:sldId id="257" r:id="rId3"/>
    <p:sldId id="265" r:id="rId4"/>
    <p:sldId id="279" r:id="rId5"/>
    <p:sldId id="280" r:id="rId6"/>
    <p:sldId id="281" r:id="rId7"/>
    <p:sldId id="282" r:id="rId8"/>
    <p:sldId id="283" r:id="rId9"/>
    <p:sldId id="262" r:id="rId10"/>
    <p:sldId id="287" r:id="rId11"/>
    <p:sldId id="286" r:id="rId12"/>
    <p:sldId id="294" r:id="rId13"/>
    <p:sldId id="288" r:id="rId14"/>
    <p:sldId id="289" r:id="rId15"/>
    <p:sldId id="290" r:id="rId16"/>
    <p:sldId id="291" r:id="rId17"/>
    <p:sldId id="268" r:id="rId18"/>
    <p:sldId id="295" r:id="rId19"/>
    <p:sldId id="296" r:id="rId20"/>
    <p:sldId id="297" r:id="rId21"/>
    <p:sldId id="298" r:id="rId22"/>
    <p:sldId id="299" r:id="rId23"/>
    <p:sldId id="292" r:id="rId24"/>
    <p:sldId id="293" r:id="rId25"/>
    <p:sldId id="300" r:id="rId26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F0175"/>
    <a:srgbClr val="354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3" autoAdjust="0"/>
    <p:restoredTop sz="94660"/>
  </p:normalViewPr>
  <p:slideViewPr>
    <p:cSldViewPr>
      <p:cViewPr varScale="1">
        <p:scale>
          <a:sx n="108" d="100"/>
          <a:sy n="108" d="100"/>
        </p:scale>
        <p:origin x="176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76"/>
    </p:cViewPr>
  </p:sorterViewPr>
  <p:notesViewPr>
    <p:cSldViewPr>
      <p:cViewPr varScale="1">
        <p:scale>
          <a:sx n="85" d="100"/>
          <a:sy n="85" d="100"/>
        </p:scale>
        <p:origin x="-3918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7F38221-2BE1-4391-B1E9-C443B153E15F}" type="datetimeFigureOut">
              <a:rPr lang="ko-KR" altLang="en-US" smtClean="0"/>
              <a:pPr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0CFACD4-296C-4A27-A8DD-7826D7A7B25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61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071679"/>
            <a:ext cx="7772400" cy="121444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171952"/>
            <a:ext cx="6400800" cy="614370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54F6F"/>
                </a:solidFill>
                <a:effectLst/>
                <a:uLnTx/>
                <a:uFillTx/>
                <a:latin typeface="+mn-lt"/>
                <a:ea typeface="+mn-ea"/>
                <a:cs typeface="+mj-cs"/>
              </a:rPr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41942" y="785794"/>
            <a:ext cx="9052898" cy="1588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제목 16"/>
          <p:cNvSpPr>
            <a:spLocks noGrp="1"/>
          </p:cNvSpPr>
          <p:nvPr>
            <p:ph type="title"/>
          </p:nvPr>
        </p:nvSpPr>
        <p:spPr>
          <a:xfrm>
            <a:off x="74020" y="295560"/>
            <a:ext cx="9001156" cy="428628"/>
          </a:xfrm>
        </p:spPr>
        <p:txBody>
          <a:bodyPr>
            <a:normAutofit/>
          </a:bodyPr>
          <a:lstStyle>
            <a:lvl1pPr>
              <a:defRPr sz="24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TextBox 26"/>
          <p:cNvSpPr txBox="1"/>
          <p:nvPr userDrawn="1"/>
        </p:nvSpPr>
        <p:spPr>
          <a:xfrm>
            <a:off x="4281047" y="6601557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- </a:t>
            </a:r>
            <a:fld id="{416CE5A6-E363-4E55-B443-8C6E49C9DC55}" type="slidenum">
              <a:rPr lang="en-US" altLang="ko-KR" sz="1200" b="1" smtClean="0">
                <a:solidFill>
                  <a:schemeClr val="bg1"/>
                </a:solidFill>
              </a:rPr>
              <a:pPr/>
              <a:t>‹#›</a:t>
            </a:fld>
            <a:r>
              <a:rPr lang="en-US" altLang="ko-KR" sz="1200" b="1" dirty="0">
                <a:solidFill>
                  <a:schemeClr val="bg1"/>
                </a:solidFill>
              </a:rPr>
              <a:t> -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내용 개체 틀 2"/>
          <p:cNvSpPr>
            <a:spLocks noGrp="1"/>
          </p:cNvSpPr>
          <p:nvPr>
            <p:ph idx="1"/>
          </p:nvPr>
        </p:nvSpPr>
        <p:spPr>
          <a:xfrm>
            <a:off x="88488" y="857232"/>
            <a:ext cx="8912668" cy="5715040"/>
          </a:xfrm>
        </p:spPr>
        <p:txBody>
          <a:bodyPr/>
          <a:lstStyle>
            <a:lvl1pPr>
              <a:buFont typeface="Arial" pitchFamily="34" charset="0"/>
              <a:buChar char="►"/>
              <a:defRPr b="1">
                <a:solidFill>
                  <a:srgbClr val="0070C0"/>
                </a:solidFill>
                <a:effectLst/>
              </a:defRPr>
            </a:lvl1pPr>
            <a:lvl2pPr>
              <a:buFont typeface="Wingdings" pitchFamily="2" charset="2"/>
              <a:buChar char="ü"/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1406" y="6577990"/>
            <a:ext cx="4572032" cy="251795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Software Engineering,</a:t>
            </a:r>
            <a:r>
              <a:rPr lang="en-US" altLang="ko-KR" sz="1400" b="0" baseline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8</a:t>
            </a:r>
            <a:r>
              <a:rPr lang="en-US" altLang="ko-KR" sz="1400" b="0" baseline="30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altLang="ko-KR" sz="1400" b="0" baseline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edition. Ian Sommervile 2010</a:t>
            </a:r>
            <a:endParaRPr lang="ko-KR" altLang="en-US" sz="1400" b="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14282" y="285728"/>
            <a:ext cx="8715436" cy="725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14282" y="1214422"/>
            <a:ext cx="8715436" cy="4911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b="1" kern="1200" cap="none" spc="0">
          <a:ln w="12700">
            <a:solidFill>
              <a:schemeClr val="tx2">
                <a:satMod val="155000"/>
              </a:schemeClr>
            </a:solidFill>
            <a:prstDash val="solid"/>
          </a:ln>
          <a:solidFill>
            <a:schemeClr val="bg2">
              <a:tint val="85000"/>
              <a:satMod val="155000"/>
            </a:schemeClr>
          </a:solidFill>
          <a:effectLst>
            <a:outerShdw blurRad="41275" dist="20320" dir="18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54F6F"/>
          </a:solidFill>
          <a:latin typeface="+mn-lt"/>
          <a:ea typeface="+mn-ea"/>
          <a:cs typeface="+mn-cs"/>
        </a:defRPr>
      </a:lvl1pPr>
      <a:lvl2pPr marL="54000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kern="1200">
          <a:solidFill>
            <a:srgbClr val="354F6F"/>
          </a:solidFill>
          <a:latin typeface="+mn-lt"/>
          <a:ea typeface="+mn-ea"/>
          <a:cs typeface="+mn-cs"/>
        </a:defRPr>
      </a:lvl2pPr>
      <a:lvl3pPr marL="720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354F6F"/>
          </a:solidFill>
          <a:latin typeface="+mn-lt"/>
          <a:ea typeface="+mn-ea"/>
          <a:cs typeface="+mn-cs"/>
        </a:defRPr>
      </a:lvl3pPr>
      <a:lvl4pPr marL="9000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354F6F"/>
          </a:solidFill>
          <a:latin typeface="+mn-lt"/>
          <a:ea typeface="+mn-ea"/>
          <a:cs typeface="+mn-cs"/>
        </a:defRPr>
      </a:lvl4pPr>
      <a:lvl5pPr marL="10800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354F6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28690" y="2852936"/>
            <a:ext cx="7772400" cy="1214445"/>
          </a:xfrm>
          <a:noFill/>
          <a:ln w="38100">
            <a:noFill/>
          </a:ln>
          <a:effectLst/>
        </p:spPr>
        <p:txBody>
          <a:bodyPr/>
          <a:lstStyle/>
          <a:p>
            <a:r>
              <a:rPr lang="ko-KR" altLang="en-US" sz="3200" dirty="0">
                <a:solidFill>
                  <a:schemeClr val="tx2"/>
                </a:solidFill>
                <a:ea typeface="굴림" panose="020B0600000101010101" pitchFamily="50" charset="-127"/>
              </a:rPr>
              <a:t>소프트웨어공학 소개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 차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gray">
          <a:xfrm>
            <a:off x="857224" y="2798748"/>
            <a:ext cx="7500990" cy="4667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3197BB">
                  <a:gamma/>
                  <a:shade val="46275"/>
                  <a:invGamma/>
                </a:srgbClr>
              </a:gs>
              <a:gs pos="50000">
                <a:srgbClr val="3197BB"/>
              </a:gs>
              <a:gs pos="100000">
                <a:srgbClr val="3197BB">
                  <a:gamma/>
                  <a:shade val="46275"/>
                  <a:invGamma/>
                </a:srgbClr>
              </a:gs>
            </a:gsLst>
            <a:lin ang="5400000" scaled="1"/>
          </a:gradFill>
          <a:ln w="38100">
            <a:solidFill>
              <a:srgbClr val="FFFFFF"/>
            </a:solidFill>
            <a:round/>
            <a:headEnd/>
            <a:tailEnd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굴림" charset="-127"/>
              </a:rPr>
              <a:t> </a:t>
            </a:r>
            <a:r>
              <a:rPr kumimoji="1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굴림" charset="-127"/>
              </a:rPr>
              <a:t>1. </a:t>
            </a:r>
            <a:r>
              <a:rPr kumimoji="1" lang="ko-KR" altLang="en-US" sz="2400" b="1" kern="0" dirty="0">
                <a:solidFill>
                  <a:srgbClr val="FFFFFF"/>
                </a:solidFill>
                <a:latin typeface="Arial" charset="0"/>
                <a:ea typeface="굴림" charset="-127"/>
              </a:rPr>
              <a:t>소프트웨어공학의 개념</a:t>
            </a: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굴림" charset="-127"/>
            </a:endParaRP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gray">
          <a:xfrm>
            <a:off x="871510" y="3819531"/>
            <a:ext cx="7486703" cy="4667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45086">
                  <a:gamma/>
                  <a:shade val="46275"/>
                  <a:invGamma/>
                </a:srgbClr>
              </a:gs>
              <a:gs pos="50000">
                <a:srgbClr val="145086"/>
              </a:gs>
              <a:gs pos="100000">
                <a:srgbClr val="145086">
                  <a:gamma/>
                  <a:shade val="46275"/>
                  <a:invGamma/>
                </a:srgbClr>
              </a:gs>
            </a:gsLst>
            <a:lin ang="5400000" scaled="1"/>
          </a:gradFill>
          <a:ln w="38100">
            <a:solidFill>
              <a:srgbClr val="FFFFFF"/>
            </a:solidFill>
            <a:round/>
            <a:headEnd/>
            <a:tailEnd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굴림" charset="-127"/>
              </a:rPr>
              <a:t> </a:t>
            </a:r>
            <a:r>
              <a:rPr kumimoji="1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굴림" charset="-127"/>
              </a:rPr>
              <a:t>2.</a:t>
            </a:r>
            <a:r>
              <a:rPr kumimoji="1" lang="en-US" altLang="ko-KR" sz="2400" b="1" i="0" u="none" strike="noStrike" kern="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굴림" charset="-127"/>
              </a:rPr>
              <a:t> </a:t>
            </a:r>
            <a:r>
              <a:rPr kumimoji="1" lang="ko-KR" altLang="en-US" sz="2400" b="1" kern="0" dirty="0">
                <a:solidFill>
                  <a:srgbClr val="FFFFFF"/>
                </a:solidFill>
                <a:latin typeface="Arial" charset="0"/>
                <a:ea typeface="굴림" charset="-127"/>
              </a:rPr>
              <a:t>소프트웨어 개발 프로세스 </a:t>
            </a: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굴림" charset="-127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2857496"/>
          <a:ext cx="9144000" cy="1071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71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1.  </a:t>
                      </a:r>
                      <a:r>
                        <a:rPr lang="ko-KR" altLang="en-US" sz="3200" dirty="0"/>
                        <a:t>소프트웨어공학의 개념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0" y="-24"/>
            <a:ext cx="9143999" cy="256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2" y="6601170"/>
            <a:ext cx="9143999" cy="256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Do you want to build a dog hutch?</a:t>
            </a:r>
            <a:endParaRPr lang="ko-KR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0825" y="1938337"/>
            <a:ext cx="604837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Do you want to build a small house?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3563" y="1562100"/>
            <a:ext cx="547687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Do you want to build a huge building?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7288" y="1438293"/>
            <a:ext cx="6829425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Can you everyone build such a building?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88" y="1795478"/>
            <a:ext cx="6143625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Unmanned Combat Air Vehicle, X-45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38" y="2143116"/>
            <a:ext cx="671512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소프트웨어</a:t>
            </a:r>
            <a:r>
              <a:rPr lang="en-US" altLang="ko-KR" dirty="0"/>
              <a:t>, </a:t>
            </a:r>
            <a:r>
              <a:rPr lang="ko-KR" altLang="en-US" dirty="0"/>
              <a:t>소프트웨어공학 그리고 소프트웨어 비용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소프트웨어 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0070C0"/>
                </a:solidFill>
              </a:rPr>
              <a:t>좁은 의미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r>
              <a:rPr lang="ko-KR" altLang="en-US" dirty="0"/>
              <a:t>컴퓨터 프로그램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0070C0"/>
                </a:solidFill>
              </a:rPr>
              <a:t>넓은 의미</a:t>
            </a:r>
            <a:endParaRPr lang="en-US" altLang="ko-KR" dirty="0">
              <a:solidFill>
                <a:srgbClr val="0070C0"/>
              </a:solidFill>
            </a:endParaRPr>
          </a:p>
          <a:p>
            <a:pPr lvl="2"/>
            <a:r>
              <a:rPr lang="ko-KR" altLang="en-US" dirty="0"/>
              <a:t>요구사항</a:t>
            </a:r>
            <a:r>
              <a:rPr lang="en-US" altLang="ko-KR" dirty="0"/>
              <a:t>, 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사용자 매뉴얼과 같은 문서와 관련</a:t>
            </a:r>
            <a:endParaRPr lang="en-US" altLang="ko-KR" dirty="0"/>
          </a:p>
          <a:p>
            <a:pPr lvl="2"/>
            <a:r>
              <a:rPr lang="ko-KR" altLang="en-US" dirty="0"/>
              <a:t>프로그램이 올바르게 동작하도록 하는데 필요한 문서와 설치 데이터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소프트웨어공학</a:t>
            </a:r>
            <a:endParaRPr lang="en-US" altLang="ko-KR" dirty="0"/>
          </a:p>
          <a:p>
            <a:pPr marL="800100" lvl="1" indent="-342900" algn="just"/>
            <a:r>
              <a:rPr lang="ko-KR" altLang="en-US" b="0" dirty="0"/>
              <a:t>소프트웨어 생산의 모든 관점을 다루는 공학적인 학문	</a:t>
            </a:r>
          </a:p>
          <a:p>
            <a:pPr marL="800100" lvl="1" indent="-342900" algn="just"/>
            <a:r>
              <a:rPr lang="ko-KR" altLang="en-US" b="0" dirty="0"/>
              <a:t>시스템 명세화의 초기 단계부터 시스템을 사용하고 유지보수</a:t>
            </a:r>
          </a:p>
          <a:p>
            <a:pPr marL="800100" lvl="1" indent="-342900" algn="just"/>
            <a:r>
              <a:rPr lang="ko-KR" altLang="en-US" b="0" dirty="0"/>
              <a:t>전문적인 소프트웨어 개발에 대한 </a:t>
            </a:r>
          </a:p>
          <a:p>
            <a:pPr marL="1257300" lvl="2" indent="-342900" algn="just"/>
            <a:r>
              <a:rPr lang="ko-KR" altLang="en-US" dirty="0"/>
              <a:t>이론 </a:t>
            </a:r>
            <a:r>
              <a:rPr lang="en-US" altLang="ko-KR" dirty="0"/>
              <a:t>(Theory)</a:t>
            </a:r>
          </a:p>
          <a:p>
            <a:pPr marL="1257300" lvl="2" indent="-342900" algn="just"/>
            <a:r>
              <a:rPr lang="ko-KR" altLang="en-US" dirty="0"/>
              <a:t>방법론 </a:t>
            </a:r>
            <a:r>
              <a:rPr lang="en-US" altLang="ko-KR" dirty="0"/>
              <a:t>(Method)</a:t>
            </a:r>
          </a:p>
          <a:p>
            <a:pPr marL="1257300" lvl="2" indent="-342900" algn="just"/>
            <a:r>
              <a:rPr lang="ko-KR" altLang="en-US" dirty="0"/>
              <a:t>툴 </a:t>
            </a:r>
            <a:r>
              <a:rPr lang="en-US" altLang="ko-KR" dirty="0"/>
              <a:t>(Tool)</a:t>
            </a:r>
          </a:p>
          <a:p>
            <a:pPr marL="1257300" lvl="2" indent="-342900" algn="just"/>
            <a:endParaRPr lang="en-US" altLang="ko-KR" dirty="0"/>
          </a:p>
          <a:p>
            <a:pPr marL="361950" indent="-361950" algn="just"/>
            <a:r>
              <a:rPr lang="ko-KR" altLang="en-US" dirty="0"/>
              <a:t>소프트웨어 비용</a:t>
            </a:r>
            <a:endParaRPr lang="en-US" altLang="ko-KR" dirty="0"/>
          </a:p>
          <a:p>
            <a:pPr marL="559050" lvl="1" indent="-361950" algn="just"/>
            <a:r>
              <a:rPr lang="ko-KR" altLang="en-US" dirty="0"/>
              <a:t>개선 비용이 개발 비용을 초과</a:t>
            </a:r>
            <a:endParaRPr lang="en-US" altLang="ko-KR" dirty="0"/>
          </a:p>
          <a:p>
            <a:pPr marL="559050" lvl="1" indent="-361950" algn="just"/>
            <a:r>
              <a:rPr lang="ko-KR" altLang="en-US" dirty="0"/>
              <a:t>적은 비용으로 최대 효과를 유지하는 소프트웨어를 개발하는 것이 목적</a:t>
            </a:r>
            <a:endParaRPr lang="en-US" altLang="ko-KR" dirty="0"/>
          </a:p>
          <a:p>
            <a:pPr marL="1257300" lvl="2" indent="-342900" algn="just"/>
            <a:endParaRPr lang="en-US" altLang="ko-KR" dirty="0"/>
          </a:p>
          <a:p>
            <a:pPr marL="880200" algn="just">
              <a:buNone/>
            </a:pPr>
            <a:endParaRPr lang="en-US" altLang="ko-KR" dirty="0"/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소프트웨어 공학과 컴퓨터 과학의 차이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소프트웨어 공학</a:t>
            </a:r>
            <a:endParaRPr lang="en-US" altLang="ko-KR" dirty="0"/>
          </a:p>
          <a:p>
            <a:pPr lvl="1"/>
            <a:r>
              <a:rPr lang="ko-KR" altLang="en-US" dirty="0"/>
              <a:t>유용한 소프트웨어를 개발하고 인도하는 실용학문</a:t>
            </a:r>
            <a:endParaRPr lang="en-US" altLang="ko-KR" dirty="0"/>
          </a:p>
          <a:p>
            <a:pPr lvl="1"/>
            <a:r>
              <a:rPr lang="ko-KR" altLang="en-US" dirty="0"/>
              <a:t>소프트웨어를 생산하는 실질적인 문제를 다룸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컴퓨터 과학</a:t>
            </a:r>
            <a:endParaRPr lang="en-US" altLang="ko-KR" dirty="0"/>
          </a:p>
          <a:p>
            <a:pPr lvl="1"/>
            <a:r>
              <a:rPr lang="ko-KR" altLang="en-US" dirty="0"/>
              <a:t>이론과 기본</a:t>
            </a:r>
            <a:endParaRPr lang="en-US" altLang="ko-KR" dirty="0"/>
          </a:p>
          <a:p>
            <a:pPr lvl="1"/>
            <a:r>
              <a:rPr lang="ko-KR" altLang="en-US" dirty="0"/>
              <a:t>컴퓨터와 소프트웨어 사이의 이론과 방법을 다룸</a:t>
            </a:r>
            <a:endParaRPr lang="en-US" altLang="ko-K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시스템 공학과 소프트웨어 공학의 차이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81000" indent="-381000" algn="just"/>
            <a:r>
              <a:rPr lang="ko-KR" altLang="en-US" dirty="0"/>
              <a:t>시스템 공학 </a:t>
            </a:r>
            <a:r>
              <a:rPr lang="en-US" altLang="ko-KR" dirty="0"/>
              <a:t>(System engineering)</a:t>
            </a:r>
          </a:p>
          <a:p>
            <a:pPr marL="800100" lvl="1" indent="-342900" algn="just"/>
            <a:r>
              <a:rPr lang="ko-KR" altLang="en-US" dirty="0"/>
              <a:t>소프트웨어 공학보다 </a:t>
            </a:r>
            <a:r>
              <a:rPr lang="ko-KR" altLang="en-US" dirty="0">
                <a:solidFill>
                  <a:srgbClr val="0000FF"/>
                </a:solidFill>
              </a:rPr>
              <a:t>더 오래된 학문 </a:t>
            </a:r>
          </a:p>
          <a:p>
            <a:pPr marL="800100" lvl="1" indent="-342900" algn="just"/>
            <a:r>
              <a:rPr lang="ko-KR" altLang="en-US" dirty="0"/>
              <a:t>하드웨어</a:t>
            </a:r>
            <a:r>
              <a:rPr lang="en-US" altLang="ko-KR" dirty="0"/>
              <a:t>, </a:t>
            </a:r>
            <a:r>
              <a:rPr lang="ko-KR" altLang="en-US" dirty="0"/>
              <a:t>소프트웨어</a:t>
            </a:r>
            <a:r>
              <a:rPr lang="en-US" altLang="ko-KR" dirty="0"/>
              <a:t>, </a:t>
            </a:r>
            <a:r>
              <a:rPr lang="ko-KR" altLang="en-US" dirty="0"/>
              <a:t>프로세스를  포함하는 </a:t>
            </a:r>
            <a:r>
              <a:rPr lang="ko-KR" altLang="en-US" dirty="0">
                <a:solidFill>
                  <a:srgbClr val="0000FF"/>
                </a:solidFill>
              </a:rPr>
              <a:t>컴퓨터 기반의 모든 측면</a:t>
            </a:r>
            <a:endParaRPr lang="ko-KR" altLang="en-US" dirty="0"/>
          </a:p>
          <a:p>
            <a:pPr marL="800100" lvl="1" indent="-342900" algn="just">
              <a:buFont typeface="Webdings" pitchFamily="18" charset="2"/>
              <a:buNone/>
            </a:pPr>
            <a:endParaRPr lang="ko-KR" altLang="en-US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endParaRPr lang="en-US" altLang="ko-KR" dirty="0"/>
          </a:p>
          <a:p>
            <a:pPr marL="381000" indent="-381000" algn="just"/>
            <a:r>
              <a:rPr lang="ko-KR" altLang="en-US" dirty="0"/>
              <a:t>소프트웨어 공학 </a:t>
            </a:r>
            <a:r>
              <a:rPr lang="en-US" altLang="ko-KR" dirty="0"/>
              <a:t>(Software engineering)</a:t>
            </a:r>
          </a:p>
          <a:p>
            <a:pPr marL="800100" lvl="1" indent="-342900" algn="just"/>
            <a:r>
              <a:rPr lang="ko-KR" altLang="en-US" dirty="0"/>
              <a:t>시스템 공학의 일부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6345" y="2033578"/>
            <a:ext cx="5344547" cy="32147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소프트웨어 엔지니어와 프로그래머의 차이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엔지니어</a:t>
            </a:r>
            <a:endParaRPr lang="en-US" altLang="ko-KR" dirty="0"/>
          </a:p>
          <a:p>
            <a:pPr lvl="1"/>
            <a:r>
              <a:rPr lang="ko-KR" altLang="en-US" dirty="0"/>
              <a:t>프로젝트 팀의 전문가</a:t>
            </a:r>
            <a:endParaRPr lang="en-US" altLang="ko-KR" dirty="0"/>
          </a:p>
          <a:p>
            <a:pPr lvl="2"/>
            <a:r>
              <a:rPr lang="en-US" altLang="ko-KR" dirty="0"/>
              <a:t>SW</a:t>
            </a:r>
            <a:r>
              <a:rPr lang="ko-KR" altLang="en-US" dirty="0"/>
              <a:t>의 요구사항 분석</a:t>
            </a:r>
            <a:endParaRPr lang="en-US" altLang="ko-KR" dirty="0"/>
          </a:p>
          <a:p>
            <a:pPr lvl="2"/>
            <a:r>
              <a:rPr lang="en-US" altLang="ko-KR" dirty="0"/>
              <a:t>SW</a:t>
            </a:r>
            <a:r>
              <a:rPr lang="ko-KR" altLang="en-US" dirty="0"/>
              <a:t>의 설계</a:t>
            </a:r>
            <a:endParaRPr lang="en-US" altLang="ko-KR" dirty="0"/>
          </a:p>
          <a:p>
            <a:pPr lvl="2"/>
            <a:r>
              <a:rPr lang="ko-KR" altLang="en-US" dirty="0"/>
              <a:t>구현 </a:t>
            </a:r>
            <a:r>
              <a:rPr lang="en-US" altLang="ko-KR" dirty="0"/>
              <a:t>(</a:t>
            </a:r>
            <a:r>
              <a:rPr lang="ko-KR" altLang="en-US" dirty="0"/>
              <a:t>프로그램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테스트</a:t>
            </a:r>
            <a:endParaRPr lang="en-US" altLang="ko-KR" dirty="0"/>
          </a:p>
          <a:p>
            <a:pPr lvl="2"/>
            <a:r>
              <a:rPr lang="ko-KR" altLang="en-US" dirty="0"/>
              <a:t>유지보수</a:t>
            </a:r>
            <a:endParaRPr lang="en-US" altLang="ko-KR" dirty="0"/>
          </a:p>
          <a:p>
            <a:pPr lvl="2"/>
            <a:r>
              <a:rPr lang="ko-KR" altLang="en-US" dirty="0"/>
              <a:t>프로젝트 관리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프로그래머</a:t>
            </a:r>
            <a:endParaRPr lang="en-US" altLang="ko-KR" dirty="0"/>
          </a:p>
          <a:p>
            <a:pPr lvl="1"/>
            <a:r>
              <a:rPr lang="ko-KR" altLang="en-US" dirty="0"/>
              <a:t>작은 규모의 프로그램을 개발하는 사람</a:t>
            </a:r>
          </a:p>
        </p:txBody>
      </p:sp>
      <p:pic>
        <p:nvPicPr>
          <p:cNvPr id="18" name="Picture 103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1614" y="4724400"/>
            <a:ext cx="3276600" cy="1704975"/>
          </a:xfrm>
          <a:prstGeom prst="rect">
            <a:avLst/>
          </a:prstGeom>
          <a:noFill/>
        </p:spPr>
      </p:pic>
      <p:grpSp>
        <p:nvGrpSpPr>
          <p:cNvPr id="20" name="Group 1058"/>
          <p:cNvGrpSpPr>
            <a:grpSpLocks/>
          </p:cNvGrpSpPr>
          <p:nvPr/>
        </p:nvGrpSpPr>
        <p:grpSpPr bwMode="auto">
          <a:xfrm>
            <a:off x="4286248" y="977900"/>
            <a:ext cx="4757737" cy="3103563"/>
            <a:chOff x="2931" y="616"/>
            <a:chExt cx="2997" cy="1955"/>
          </a:xfrm>
        </p:grpSpPr>
        <p:sp>
          <p:nvSpPr>
            <p:cNvPr id="21" name="Oval 1051"/>
            <p:cNvSpPr>
              <a:spLocks noChangeArrowheads="1"/>
            </p:cNvSpPr>
            <p:nvPr/>
          </p:nvSpPr>
          <p:spPr bwMode="auto">
            <a:xfrm>
              <a:off x="4854" y="1171"/>
              <a:ext cx="1074" cy="893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ECECE"/>
              </a:solidFill>
              <a:round/>
              <a:headEnd/>
              <a:tailEnd/>
            </a:ln>
            <a:effectLst>
              <a:outerShdw dist="53882" dir="2700000" algn="ctr" rotWithShape="0">
                <a:srgbClr val="9966FF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22" name="Group 1057"/>
            <p:cNvGrpSpPr>
              <a:grpSpLocks/>
            </p:cNvGrpSpPr>
            <p:nvPr/>
          </p:nvGrpSpPr>
          <p:grpSpPr bwMode="auto">
            <a:xfrm>
              <a:off x="2931" y="616"/>
              <a:ext cx="2725" cy="1955"/>
              <a:chOff x="2931" y="616"/>
              <a:chExt cx="2725" cy="1955"/>
            </a:xfrm>
          </p:grpSpPr>
          <p:sp>
            <p:nvSpPr>
              <p:cNvPr id="23" name="AutoShape 1045"/>
              <p:cNvSpPr>
                <a:spLocks noChangeArrowheads="1"/>
              </p:cNvSpPr>
              <p:nvPr/>
            </p:nvSpPr>
            <p:spPr bwMode="auto">
              <a:xfrm>
                <a:off x="3355" y="781"/>
                <a:ext cx="2154" cy="1790"/>
              </a:xfrm>
              <a:custGeom>
                <a:avLst/>
                <a:gdLst>
                  <a:gd name="G0" fmla="+- 2410725 0 0"/>
                  <a:gd name="G1" fmla="+- 7964981 0 0"/>
                  <a:gd name="G2" fmla="+- 2410725 0 7964981"/>
                  <a:gd name="G3" fmla="+- 10800 0 0"/>
                  <a:gd name="G4" fmla="+- 0 0 2410725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8209 0 0"/>
                  <a:gd name="G9" fmla="+- 0 0 7964981"/>
                  <a:gd name="G10" fmla="+- 8209 0 2700"/>
                  <a:gd name="G11" fmla="cos G10 2410725"/>
                  <a:gd name="G12" fmla="sin G10 2410725"/>
                  <a:gd name="G13" fmla="cos 13500 2410725"/>
                  <a:gd name="G14" fmla="sin 13500 2410725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8209 1 2"/>
                  <a:gd name="G20" fmla="+- G19 5400 0"/>
                  <a:gd name="G21" fmla="cos G20 2410725"/>
                  <a:gd name="G22" fmla="sin G20 2410725"/>
                  <a:gd name="G23" fmla="+- G21 10800 0"/>
                  <a:gd name="G24" fmla="+- G12 G23 G22"/>
                  <a:gd name="G25" fmla="+- G22 G23 G11"/>
                  <a:gd name="G26" fmla="cos 10800 2410725"/>
                  <a:gd name="G27" fmla="sin 10800 2410725"/>
                  <a:gd name="G28" fmla="cos 8209 2410725"/>
                  <a:gd name="G29" fmla="sin 8209 2410725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7964981"/>
                  <a:gd name="G36" fmla="sin G34 7964981"/>
                  <a:gd name="G37" fmla="+/ 7964981 2410725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8209 G39"/>
                  <a:gd name="G43" fmla="sin 8209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8768 w 21600"/>
                  <a:gd name="T5" fmla="*/ 192 h 21600"/>
                  <a:gd name="T6" fmla="*/ 5828 w 21600"/>
                  <a:gd name="T7" fmla="*/ 18901 h 21600"/>
                  <a:gd name="T8" fmla="*/ 9256 w 21600"/>
                  <a:gd name="T9" fmla="*/ 2737 h 21600"/>
                  <a:gd name="T10" fmla="*/ 21612 w 21600"/>
                  <a:gd name="T11" fmla="*/ 18883 h 21600"/>
                  <a:gd name="T12" fmla="*/ 16019 w 21600"/>
                  <a:gd name="T13" fmla="*/ 19691 h 21600"/>
                  <a:gd name="T14" fmla="*/ 15212 w 21600"/>
                  <a:gd name="T15" fmla="*/ 14098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7374" y="15715"/>
                    </a:moveTo>
                    <a:cubicBezTo>
                      <a:pt x="18435" y="14296"/>
                      <a:pt x="19009" y="12572"/>
                      <a:pt x="19009" y="10800"/>
                    </a:cubicBezTo>
                    <a:cubicBezTo>
                      <a:pt x="19009" y="6266"/>
                      <a:pt x="15333" y="2591"/>
                      <a:pt x="10800" y="2591"/>
                    </a:cubicBezTo>
                    <a:cubicBezTo>
                      <a:pt x="6266" y="2591"/>
                      <a:pt x="2591" y="6266"/>
                      <a:pt x="2591" y="10800"/>
                    </a:cubicBezTo>
                    <a:cubicBezTo>
                      <a:pt x="2590" y="13654"/>
                      <a:pt x="4073" y="16303"/>
                      <a:pt x="6506" y="17796"/>
                    </a:cubicBezTo>
                    <a:lnTo>
                      <a:pt x="5151" y="20004"/>
                    </a:lnTo>
                    <a:cubicBezTo>
                      <a:pt x="1950" y="18040"/>
                      <a:pt x="0" y="1455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ubicBezTo>
                      <a:pt x="21600" y="13131"/>
                      <a:pt x="20845" y="15400"/>
                      <a:pt x="19449" y="17267"/>
                    </a:cubicBezTo>
                    <a:lnTo>
                      <a:pt x="21612" y="18883"/>
                    </a:lnTo>
                    <a:lnTo>
                      <a:pt x="16019" y="19691"/>
                    </a:lnTo>
                    <a:lnTo>
                      <a:pt x="15212" y="14098"/>
                    </a:lnTo>
                    <a:lnTo>
                      <a:pt x="17374" y="157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CCCC"/>
                  </a:gs>
                  <a:gs pos="100000">
                    <a:srgbClr val="33CCCC">
                      <a:gamma/>
                      <a:tint val="3922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12700">
                <a:solidFill>
                  <a:srgbClr val="CECECE"/>
                </a:solidFill>
                <a:miter lim="800000"/>
                <a:headEnd type="none" w="sm" len="sm"/>
                <a:tailEnd type="none" w="sm" len="sm"/>
              </a:ln>
              <a:effectLst>
                <a:outerShdw dist="53882" dir="2700000" algn="ctr" rotWithShape="0">
                  <a:srgbClr val="9966FF"/>
                </a:outer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Oval 1046"/>
              <p:cNvSpPr>
                <a:spLocks noChangeArrowheads="1"/>
              </p:cNvSpPr>
              <p:nvPr/>
            </p:nvSpPr>
            <p:spPr bwMode="auto">
              <a:xfrm>
                <a:off x="2931" y="1171"/>
                <a:ext cx="1073" cy="89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ECECE"/>
                </a:solidFill>
                <a:round/>
                <a:headEnd/>
                <a:tailEnd/>
              </a:ln>
              <a:effectLst>
                <a:outerShdw dist="53882" dir="2700000" algn="ctr" rotWithShape="0">
                  <a:srgbClr val="9966FF"/>
                </a:outer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Rectangle 1047"/>
              <p:cNvSpPr>
                <a:spLocks noChangeArrowheads="1"/>
              </p:cNvSpPr>
              <p:nvPr/>
            </p:nvSpPr>
            <p:spPr bwMode="auto">
              <a:xfrm>
                <a:off x="3001" y="1431"/>
                <a:ext cx="854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defTabSz="7620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itchFamily="34" charset="0"/>
                  </a:rPr>
                  <a:t>요구사항의 </a:t>
                </a:r>
              </a:p>
              <a:p>
                <a:pPr marL="0" marR="0" lvl="0" indent="0" defTabSz="7620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itchFamily="34" charset="0"/>
                  </a:rPr>
                  <a:t>분석 및  설계</a:t>
                </a:r>
                <a:endParaRPr kumimoji="0" lang="ko-KR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itchFamily="34" charset="0"/>
                </a:endParaRPr>
              </a:p>
            </p:txBody>
          </p:sp>
          <p:sp>
            <p:nvSpPr>
              <p:cNvPr id="26" name="Oval 1049"/>
              <p:cNvSpPr>
                <a:spLocks noChangeArrowheads="1"/>
              </p:cNvSpPr>
              <p:nvPr/>
            </p:nvSpPr>
            <p:spPr bwMode="auto">
              <a:xfrm>
                <a:off x="3889" y="616"/>
                <a:ext cx="1074" cy="893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ECECE"/>
                </a:solidFill>
                <a:round/>
                <a:headEnd/>
                <a:tailEnd/>
              </a:ln>
              <a:effectLst>
                <a:outerShdw dist="53882" dir="2700000" algn="ctr" rotWithShape="0">
                  <a:srgbClr val="9966FF"/>
                </a:outerShdw>
              </a:effectLst>
            </p:spPr>
            <p:txBody>
              <a:bodyPr wrap="none" anchor="ctr"/>
              <a:lstStyle/>
              <a:p>
                <a:pPr marL="0" marR="0" lvl="0" indent="0" defTabSz="7620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0" cap="none" spc="0" normalizeH="0" baseline="0" noProof="0">
                  <a:ln>
                    <a:noFill/>
                  </a:ln>
                  <a:solidFill>
                    <a:srgbClr val="C0C0C0"/>
                  </a:solidFill>
                  <a:effectLst/>
                  <a:uLnTx/>
                  <a:uFillTx/>
                  <a:latin typeface="Arial" pitchFamily="34" charset="0"/>
                </a:endParaRPr>
              </a:p>
            </p:txBody>
          </p:sp>
          <p:sp>
            <p:nvSpPr>
              <p:cNvPr id="27" name="Rectangle 1050"/>
              <p:cNvSpPr>
                <a:spLocks noChangeArrowheads="1"/>
              </p:cNvSpPr>
              <p:nvPr/>
            </p:nvSpPr>
            <p:spPr bwMode="auto">
              <a:xfrm>
                <a:off x="4006" y="935"/>
                <a:ext cx="83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marL="0" marR="0" lvl="0" indent="0" defTabSz="7620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itchFamily="34" charset="0"/>
                  </a:rPr>
                  <a:t>프로그램</a:t>
                </a:r>
                <a:endParaRPr kumimoji="0" lang="ko-KR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itchFamily="34" charset="0"/>
                </a:endParaRPr>
              </a:p>
            </p:txBody>
          </p:sp>
          <p:sp>
            <p:nvSpPr>
              <p:cNvPr id="28" name="Rectangle 1052"/>
              <p:cNvSpPr>
                <a:spLocks noChangeArrowheads="1"/>
              </p:cNvSpPr>
              <p:nvPr/>
            </p:nvSpPr>
            <p:spPr bwMode="auto">
              <a:xfrm>
                <a:off x="5162" y="1495"/>
                <a:ext cx="49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marL="0" marR="0" lvl="0" indent="0" defTabSz="7620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itchFamily="34" charset="0"/>
                  </a:rPr>
                  <a:t>테스트</a:t>
                </a:r>
                <a:endParaRPr kumimoji="0" lang="ko-KR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itchFamily="34" charset="0"/>
                </a:endParaRPr>
              </a:p>
            </p:txBody>
          </p:sp>
          <p:graphicFrame>
            <p:nvGraphicFramePr>
              <p:cNvPr id="29" name="Object 1053"/>
              <p:cNvGraphicFramePr>
                <a:graphicFrameLocks/>
              </p:cNvGraphicFramePr>
              <p:nvPr/>
            </p:nvGraphicFramePr>
            <p:xfrm>
              <a:off x="3841" y="1420"/>
              <a:ext cx="1176" cy="8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클립" r:id="rId3" imgW="2779560" imgH="2842920" progId="">
                      <p:embed/>
                    </p:oleObj>
                  </mc:Choice>
                  <mc:Fallback>
                    <p:oleObj name="클립" r:id="rId3" imgW="2779560" imgH="2842920" progId="">
                      <p:embed/>
                      <p:pic>
                        <p:nvPicPr>
                          <p:cNvPr id="0" name="Picture 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1" y="1420"/>
                            <a:ext cx="1176" cy="852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993366"/>
                              </a:gs>
                              <a:gs pos="100000">
                                <a:srgbClr val="FFFFFF"/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Rectangle 1054"/>
              <p:cNvSpPr>
                <a:spLocks noChangeArrowheads="1"/>
              </p:cNvSpPr>
              <p:nvPr/>
            </p:nvSpPr>
            <p:spPr bwMode="auto">
              <a:xfrm>
                <a:off x="4224" y="1691"/>
                <a:ext cx="626" cy="3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rgbClr val="4D4D4D"/>
                </a:outerShdw>
              </a:effectLst>
            </p:spPr>
            <p:txBody>
              <a:bodyPr wrap="none" lIns="92075" tIns="46038" rIns="92075" bIns="46038" anchor="ctr" anchorCtr="1">
                <a:spAutoFit/>
              </a:bodyPr>
              <a:lstStyle/>
              <a:p>
                <a:pPr marL="0" marR="0" lvl="0" indent="0" defTabSz="7620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itchFamily="18" charset="0"/>
                    <a:ea typeface="굴림" pitchFamily="50" charset="-127"/>
                  </a:rPr>
                  <a:t>프로젝트</a:t>
                </a:r>
              </a:p>
              <a:p>
                <a:pPr marL="0" marR="0" lvl="0" indent="0" defTabSz="7620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itchFamily="18" charset="0"/>
                    <a:ea typeface="굴림" pitchFamily="50" charset="-127"/>
                  </a:rPr>
                  <a:t>    관리</a:t>
                </a:r>
              </a:p>
            </p:txBody>
          </p:sp>
        </p:grpSp>
      </p:grpSp>
      <p:sp>
        <p:nvSpPr>
          <p:cNvPr id="32" name="오른쪽 화살표 31"/>
          <p:cNvSpPr/>
          <p:nvPr/>
        </p:nvSpPr>
        <p:spPr>
          <a:xfrm>
            <a:off x="3000364" y="24288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오른쪽 화살표 32"/>
          <p:cNvSpPr/>
          <p:nvPr/>
        </p:nvSpPr>
        <p:spPr>
          <a:xfrm>
            <a:off x="3017326" y="521495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CASE (Computer-Aided Software Engineering)</a:t>
            </a:r>
            <a:r>
              <a:rPr lang="ko-KR" altLang="en-US" dirty="0"/>
              <a:t>는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 algn="just"/>
            <a:r>
              <a:rPr lang="ko-KR" altLang="en-US" dirty="0"/>
              <a:t>소프트웨어 프로세스 활동을 자동으로 지원하기 위한 소프트웨어 시스템</a:t>
            </a:r>
          </a:p>
          <a:p>
            <a:pPr marL="381000" indent="-381000" algn="just"/>
            <a:endParaRPr lang="ko-KR" altLang="en-US" dirty="0"/>
          </a:p>
          <a:p>
            <a:pPr marL="381000" indent="-381000" algn="just"/>
            <a:r>
              <a:rPr lang="ko-KR" altLang="en-US" dirty="0"/>
              <a:t>개발 방법을 지원하기 위해 사용</a:t>
            </a:r>
          </a:p>
          <a:p>
            <a:pPr marL="800100" lvl="1" indent="-342900" algn="just"/>
            <a:r>
              <a:rPr lang="en-US" altLang="ko-KR" dirty="0">
                <a:solidFill>
                  <a:srgbClr val="0000FF"/>
                </a:solidFill>
              </a:rPr>
              <a:t>Upper-Case</a:t>
            </a:r>
          </a:p>
          <a:p>
            <a:pPr marL="1257300" lvl="2" indent="-342900" algn="just"/>
            <a:r>
              <a:rPr lang="ko-KR" altLang="en-US" dirty="0"/>
              <a:t>요구사항 분석</a:t>
            </a:r>
            <a:r>
              <a:rPr lang="en-US" altLang="ko-KR" dirty="0"/>
              <a:t>, </a:t>
            </a:r>
            <a:r>
              <a:rPr lang="ko-KR" altLang="en-US" dirty="0"/>
              <a:t>설계 지원</a:t>
            </a:r>
          </a:p>
          <a:p>
            <a:pPr marL="1257300" lvl="2" indent="-342900" algn="just"/>
            <a:endParaRPr lang="ko-KR" altLang="en-US" dirty="0"/>
          </a:p>
          <a:p>
            <a:pPr marL="800100" lvl="1" indent="-342900" algn="just"/>
            <a:r>
              <a:rPr lang="en-US" altLang="ko-KR" dirty="0">
                <a:solidFill>
                  <a:srgbClr val="0000FF"/>
                </a:solidFill>
              </a:rPr>
              <a:t>Lower-Case</a:t>
            </a:r>
          </a:p>
          <a:p>
            <a:pPr marL="1257300" lvl="2" indent="-342900" algn="just"/>
            <a:r>
              <a:rPr lang="ko-KR" altLang="en-US" dirty="0"/>
              <a:t>프로그래밍</a:t>
            </a:r>
            <a:r>
              <a:rPr lang="en-US" altLang="ko-KR" dirty="0"/>
              <a:t>, </a:t>
            </a:r>
            <a:r>
              <a:rPr lang="ko-KR" altLang="en-US" dirty="0"/>
              <a:t>디버깅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좋은 소프트웨어의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 algn="just"/>
            <a:r>
              <a:rPr lang="ko-KR" altLang="en-US" dirty="0"/>
              <a:t>유지보수성 </a:t>
            </a:r>
            <a:r>
              <a:rPr lang="en-US" altLang="ko-KR" dirty="0"/>
              <a:t>(Maintainability)</a:t>
            </a:r>
          </a:p>
          <a:p>
            <a:pPr marL="800100" lvl="1" indent="-342900" algn="just"/>
            <a:r>
              <a:rPr lang="ko-KR" altLang="en-US" dirty="0"/>
              <a:t>고객의 변경 요구를 수용</a:t>
            </a:r>
          </a:p>
          <a:p>
            <a:pPr marL="800100" lvl="1" indent="-342900" algn="just"/>
            <a:endParaRPr lang="ko-KR" altLang="en-US" dirty="0"/>
          </a:p>
          <a:p>
            <a:pPr marL="381000" indent="-381000" algn="just"/>
            <a:r>
              <a:rPr lang="ko-KR" altLang="en-US" dirty="0"/>
              <a:t>신뢰성 </a:t>
            </a:r>
            <a:r>
              <a:rPr lang="en-US" altLang="ko-KR" dirty="0"/>
              <a:t>/ </a:t>
            </a:r>
            <a:r>
              <a:rPr lang="ko-KR" altLang="en-US" dirty="0"/>
              <a:t>확실성 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0000FF"/>
                </a:solidFill>
              </a:rPr>
              <a:t>Dependability</a:t>
            </a:r>
            <a:r>
              <a:rPr lang="en-US" altLang="ko-KR" dirty="0"/>
              <a:t>)</a:t>
            </a:r>
          </a:p>
          <a:p>
            <a:pPr marL="800100" lvl="1" indent="-342900" algn="just"/>
            <a:r>
              <a:rPr lang="ko-KR" altLang="en-US" dirty="0"/>
              <a:t>신뢰성</a:t>
            </a:r>
            <a:r>
              <a:rPr lang="en-US" altLang="ko-KR" dirty="0"/>
              <a:t>, </a:t>
            </a:r>
            <a:r>
              <a:rPr lang="ko-KR" altLang="en-US" dirty="0"/>
              <a:t>보안성</a:t>
            </a:r>
            <a:r>
              <a:rPr lang="en-US" altLang="ko-KR" dirty="0"/>
              <a:t>, </a:t>
            </a:r>
            <a:r>
              <a:rPr lang="ko-KR" altLang="en-US" dirty="0"/>
              <a:t>안전성을 포함하는 포괄적인 특성</a:t>
            </a:r>
          </a:p>
          <a:p>
            <a:pPr marL="800100" lvl="1" indent="-342900" algn="just"/>
            <a:endParaRPr lang="ko-KR" altLang="en-US" dirty="0"/>
          </a:p>
          <a:p>
            <a:pPr marL="381000" indent="-381000" algn="just"/>
            <a:r>
              <a:rPr lang="ko-KR" altLang="en-US" dirty="0"/>
              <a:t>효율성 </a:t>
            </a:r>
            <a:r>
              <a:rPr lang="en-US" altLang="ko-KR" dirty="0"/>
              <a:t>(Efficiency)</a:t>
            </a:r>
          </a:p>
          <a:p>
            <a:pPr marL="800100" lvl="1" indent="-342900" algn="just"/>
            <a:r>
              <a:rPr lang="ko-KR" altLang="en-US" dirty="0"/>
              <a:t>응답시간</a:t>
            </a:r>
            <a:r>
              <a:rPr lang="en-US" altLang="ko-KR" dirty="0"/>
              <a:t>, </a:t>
            </a:r>
            <a:r>
              <a:rPr lang="ko-KR" altLang="en-US" dirty="0"/>
              <a:t>처리시간</a:t>
            </a:r>
            <a:r>
              <a:rPr lang="en-US" altLang="ko-KR" dirty="0"/>
              <a:t>, </a:t>
            </a:r>
            <a:r>
              <a:rPr lang="ko-KR" altLang="en-US" dirty="0"/>
              <a:t>메모리 활용 정도</a:t>
            </a:r>
          </a:p>
          <a:p>
            <a:pPr marL="800100" lvl="1" indent="-342900" algn="just"/>
            <a:endParaRPr lang="ko-KR" altLang="en-US" dirty="0"/>
          </a:p>
          <a:p>
            <a:pPr marL="381000" indent="-381000" algn="just"/>
            <a:r>
              <a:rPr lang="ko-KR" altLang="en-US" dirty="0"/>
              <a:t>사용성 </a:t>
            </a:r>
            <a:r>
              <a:rPr lang="en-US" altLang="ko-KR" dirty="0"/>
              <a:t>(Usability)</a:t>
            </a:r>
          </a:p>
          <a:p>
            <a:pPr marL="800100" lvl="1" indent="-342900" algn="just"/>
            <a:r>
              <a:rPr lang="ko-KR" altLang="en-US" dirty="0"/>
              <a:t>소프트웨어는 그것이 설계된 사용자에게 사용이 가능해야 함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소프트웨어공학이 직면한 주요 도전 과제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이질성에 대한 도전 </a:t>
            </a:r>
            <a:r>
              <a:rPr lang="en-US" altLang="ko-KR" dirty="0"/>
              <a:t>(Heterogeneity challenge)</a:t>
            </a:r>
          </a:p>
          <a:p>
            <a:pPr lvl="1"/>
            <a:r>
              <a:rPr lang="ko-KR" altLang="en-US" dirty="0"/>
              <a:t>이기종 장치들을 포함하는 네트워크상에서 존재하는 데이터의 분산과 공유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인도시간에 대한 도전 </a:t>
            </a:r>
            <a:r>
              <a:rPr lang="en-US" altLang="ko-KR" dirty="0"/>
              <a:t>(Delivery challenge)</a:t>
            </a:r>
          </a:p>
          <a:p>
            <a:pPr lvl="1"/>
            <a:r>
              <a:rPr lang="ko-KR" altLang="en-US" dirty="0"/>
              <a:t>시스템의 품질을 유지하면서 인도 시간을 단축 시키는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신뢰성에 대한 도전 </a:t>
            </a:r>
            <a:r>
              <a:rPr lang="en-US" altLang="ko-KR" dirty="0"/>
              <a:t>(Reliability challenge)</a:t>
            </a:r>
          </a:p>
          <a:p>
            <a:pPr lvl="1"/>
            <a:r>
              <a:rPr lang="ko-KR" altLang="en-US" dirty="0"/>
              <a:t>사용자가 신뢰할 수 있는 소프트웨어 기술을 개발하는 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직업적 책임과 윤리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 algn="just"/>
            <a:r>
              <a:rPr lang="ko-KR" altLang="en-US" dirty="0"/>
              <a:t>기밀 유지 </a:t>
            </a:r>
            <a:r>
              <a:rPr lang="en-US" altLang="ko-KR" dirty="0"/>
              <a:t>(Confidentiality)</a:t>
            </a:r>
          </a:p>
          <a:p>
            <a:pPr marL="800100" lvl="1" indent="-342900" algn="just"/>
            <a:r>
              <a:rPr lang="ko-KR" altLang="en-US" dirty="0"/>
              <a:t>엔지니어는 고객과 기업주에 대한 비밀 유지</a:t>
            </a:r>
          </a:p>
          <a:p>
            <a:pPr marL="381000" indent="-381000" algn="just"/>
            <a:endParaRPr lang="ko-KR" altLang="en-US" dirty="0"/>
          </a:p>
          <a:p>
            <a:pPr marL="381000" indent="-381000" algn="just"/>
            <a:r>
              <a:rPr lang="ko-KR" altLang="en-US" dirty="0"/>
              <a:t>능력 </a:t>
            </a:r>
            <a:r>
              <a:rPr lang="en-US" altLang="ko-KR" dirty="0"/>
              <a:t>(Competence)</a:t>
            </a:r>
          </a:p>
          <a:p>
            <a:pPr marL="800100" lvl="1" indent="-342900" algn="just"/>
            <a:r>
              <a:rPr lang="ko-KR" altLang="en-US" dirty="0"/>
              <a:t>엔지니어는 자신의 능력 밖 의 일을 하면 안됨</a:t>
            </a:r>
          </a:p>
          <a:p>
            <a:pPr marL="381000" indent="-381000" algn="just"/>
            <a:endParaRPr lang="ko-KR" altLang="en-US" dirty="0"/>
          </a:p>
          <a:p>
            <a:pPr marL="381000" indent="-381000" algn="just"/>
            <a:r>
              <a:rPr lang="ko-KR" altLang="en-US" dirty="0"/>
              <a:t>지적재산권 보호 </a:t>
            </a:r>
            <a:r>
              <a:rPr lang="en-US" altLang="ko-KR" dirty="0"/>
              <a:t>(Intellectual property rights)</a:t>
            </a:r>
          </a:p>
          <a:p>
            <a:pPr marL="800100" lvl="1" indent="-342900" algn="just"/>
            <a:r>
              <a:rPr lang="ko-KR" altLang="en-US" dirty="0"/>
              <a:t>특허와 복제권과 같은 지적 재산의 사용을 관리하는 법을 준수</a:t>
            </a:r>
          </a:p>
          <a:p>
            <a:pPr marL="381000" indent="-381000" algn="just"/>
            <a:endParaRPr lang="ko-KR" altLang="en-US" dirty="0"/>
          </a:p>
          <a:p>
            <a:pPr marL="381000" indent="-381000" algn="just"/>
            <a:r>
              <a:rPr lang="ko-KR" altLang="en-US" dirty="0"/>
              <a:t>컴퓨터 오용 </a:t>
            </a:r>
            <a:r>
              <a:rPr lang="en-US" altLang="ko-KR" dirty="0"/>
              <a:t>(Computer misuse)</a:t>
            </a:r>
          </a:p>
          <a:p>
            <a:pPr marL="800100" lvl="1" indent="-342900" algn="just"/>
            <a:r>
              <a:rPr lang="ko-KR" altLang="en-US" dirty="0"/>
              <a:t>자기 기술을 이용해서 다른  사람의 컴퓨터를 오용하지 말아야 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2857496"/>
          <a:ext cx="9144000" cy="1071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71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2.  </a:t>
                      </a:r>
                      <a:r>
                        <a:rPr lang="ko-KR" altLang="en-US" sz="3200" dirty="0"/>
                        <a:t>소프트웨어 개발프로세스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0" y="-24"/>
            <a:ext cx="9143999" cy="256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32" y="6601170"/>
            <a:ext cx="9143999" cy="256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SW </a:t>
            </a:r>
            <a:r>
              <a:rPr lang="ko-KR" altLang="en-US" dirty="0"/>
              <a:t>개발 프로세스란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SW </a:t>
            </a:r>
            <a:r>
              <a:rPr lang="ko-KR" altLang="en-US" dirty="0"/>
              <a:t>개발 프로세스</a:t>
            </a:r>
            <a:endParaRPr lang="en-US" altLang="ko-KR" dirty="0"/>
          </a:p>
          <a:p>
            <a:pPr lvl="1"/>
            <a:r>
              <a:rPr lang="en-US" altLang="ko-KR" dirty="0"/>
              <a:t>SW</a:t>
            </a:r>
            <a:r>
              <a:rPr lang="ko-KR" altLang="en-US" dirty="0"/>
              <a:t>의 개발과 진화를 목표로 하는 활동들의 집합</a:t>
            </a:r>
            <a:endParaRPr lang="en-US" altLang="ko-KR" dirty="0"/>
          </a:p>
          <a:p>
            <a:pPr lvl="1"/>
            <a:r>
              <a:rPr lang="en-US" altLang="ko-KR" dirty="0"/>
              <a:t>SW</a:t>
            </a:r>
            <a:r>
              <a:rPr lang="ko-KR" altLang="en-US" dirty="0"/>
              <a:t>를 생산하는 활동들의 집합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SW </a:t>
            </a:r>
            <a:r>
              <a:rPr lang="ko-KR" altLang="en-US" dirty="0"/>
              <a:t>개발 프로세스들의 </a:t>
            </a:r>
            <a:r>
              <a:rPr lang="ko-KR" altLang="en-US" dirty="0">
                <a:solidFill>
                  <a:srgbClr val="0000FF"/>
                </a:solidFill>
              </a:rPr>
              <a:t>공통적인 활동</a:t>
            </a:r>
          </a:p>
        </p:txBody>
      </p:sp>
      <p:grpSp>
        <p:nvGrpSpPr>
          <p:cNvPr id="97" name="Group 37"/>
          <p:cNvGrpSpPr>
            <a:grpSpLocks/>
          </p:cNvGrpSpPr>
          <p:nvPr/>
        </p:nvGrpSpPr>
        <p:grpSpPr bwMode="auto">
          <a:xfrm>
            <a:off x="285720" y="3524918"/>
            <a:ext cx="8572560" cy="214314"/>
            <a:chOff x="2003" y="3439"/>
            <a:chExt cx="468" cy="244"/>
          </a:xfrm>
        </p:grpSpPr>
        <p:sp>
          <p:nvSpPr>
            <p:cNvPr id="98" name="Oval 38"/>
            <p:cNvSpPr>
              <a:spLocks noChangeArrowheads="1"/>
            </p:cNvSpPr>
            <p:nvPr/>
          </p:nvSpPr>
          <p:spPr bwMode="gray">
            <a:xfrm>
              <a:off x="2003" y="3439"/>
              <a:ext cx="79" cy="242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Rectangle 39"/>
            <p:cNvSpPr>
              <a:spLocks noChangeArrowheads="1"/>
            </p:cNvSpPr>
            <p:nvPr/>
          </p:nvSpPr>
          <p:spPr bwMode="gray">
            <a:xfrm>
              <a:off x="2048" y="3441"/>
              <a:ext cx="388" cy="242"/>
            </a:xfrm>
            <a:prstGeom prst="rect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val 40"/>
            <p:cNvSpPr>
              <a:spLocks noChangeArrowheads="1"/>
            </p:cNvSpPr>
            <p:nvPr/>
          </p:nvSpPr>
          <p:spPr bwMode="gray">
            <a:xfrm>
              <a:off x="2400" y="3443"/>
              <a:ext cx="71" cy="234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val 41"/>
            <p:cNvSpPr>
              <a:spLocks noChangeArrowheads="1"/>
            </p:cNvSpPr>
            <p:nvPr/>
          </p:nvSpPr>
          <p:spPr bwMode="gray">
            <a:xfrm>
              <a:off x="2438" y="3519"/>
              <a:ext cx="20" cy="69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직사각형 127"/>
          <p:cNvSpPr/>
          <p:nvPr/>
        </p:nvSpPr>
        <p:spPr>
          <a:xfrm>
            <a:off x="1190624" y="3096290"/>
            <a:ext cx="135732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요구사항 명세화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2990860" y="3105822"/>
            <a:ext cx="135732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SW </a:t>
            </a:r>
            <a:r>
              <a:rPr lang="ko-KR" alt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개발</a:t>
            </a:r>
          </a:p>
        </p:txBody>
      </p:sp>
      <p:sp>
        <p:nvSpPr>
          <p:cNvPr id="130" name="직사각형 129"/>
          <p:cNvSpPr/>
          <p:nvPr/>
        </p:nvSpPr>
        <p:spPr>
          <a:xfrm>
            <a:off x="4857774" y="3110584"/>
            <a:ext cx="135732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SW </a:t>
            </a:r>
            <a:r>
              <a:rPr lang="ko-KR" alt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확인</a:t>
            </a:r>
          </a:p>
        </p:txBody>
      </p:sp>
      <p:sp>
        <p:nvSpPr>
          <p:cNvPr id="131" name="직사각형 130"/>
          <p:cNvSpPr/>
          <p:nvPr/>
        </p:nvSpPr>
        <p:spPr>
          <a:xfrm>
            <a:off x="6691350" y="3115340"/>
            <a:ext cx="135732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SW </a:t>
            </a:r>
            <a:r>
              <a:rPr lang="ko-KR" altLang="en-US" sz="2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진화</a:t>
            </a:r>
          </a:p>
        </p:txBody>
      </p:sp>
      <p:sp>
        <p:nvSpPr>
          <p:cNvPr id="134" name="AutoShape 65"/>
          <p:cNvSpPr>
            <a:spLocks noChangeArrowheads="1"/>
          </p:cNvSpPr>
          <p:nvPr/>
        </p:nvSpPr>
        <p:spPr bwMode="auto">
          <a:xfrm>
            <a:off x="1028698" y="4239966"/>
            <a:ext cx="1647814" cy="1890058"/>
          </a:xfrm>
          <a:prstGeom prst="roundRect">
            <a:avLst>
              <a:gd name="adj" fmla="val 13745"/>
            </a:avLst>
          </a:prstGeom>
          <a:solidFill>
            <a:srgbClr val="FFFFFF"/>
          </a:solidFill>
          <a:ln w="38100">
            <a:solidFill>
              <a:schemeClr val="accent1"/>
            </a:solidFill>
            <a:round/>
            <a:headEnd/>
            <a:tailEnd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고객과 엔지니어가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생산될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SW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를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 정의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하고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SW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운영의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제약사항을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</a:rPr>
              <a:t>정의하는 단계</a:t>
            </a:r>
          </a:p>
        </p:txBody>
      </p:sp>
      <p:sp>
        <p:nvSpPr>
          <p:cNvPr id="135" name="AutoShape 65"/>
          <p:cNvSpPr>
            <a:spLocks noChangeArrowheads="1"/>
          </p:cNvSpPr>
          <p:nvPr/>
        </p:nvSpPr>
        <p:spPr bwMode="auto">
          <a:xfrm>
            <a:off x="2886086" y="4253586"/>
            <a:ext cx="1647814" cy="1890058"/>
          </a:xfrm>
          <a:prstGeom prst="roundRect">
            <a:avLst>
              <a:gd name="adj" fmla="val 13745"/>
            </a:avLst>
          </a:prstGeom>
          <a:solidFill>
            <a:srgbClr val="FFFFFF"/>
          </a:solidFill>
          <a:ln w="38100">
            <a:solidFill>
              <a:schemeClr val="accent1"/>
            </a:solidFill>
            <a:round/>
            <a:headEnd/>
            <a:tailEnd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anchor="ctr">
            <a:normAutofit/>
          </a:bodyPr>
          <a:lstStyle/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SW를</a:t>
            </a: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설계</a:t>
            </a:r>
            <a:r>
              <a:rPr kumimoji="1" lang="ko-KR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하고</a:t>
            </a: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프로그램</a:t>
            </a:r>
            <a:r>
              <a:rPr kumimoji="1" lang="ko-KR" altLang="en-US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하는 단계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(</a:t>
            </a: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프로그래밍</a:t>
            </a:r>
            <a:r>
              <a:rPr kumimoji="1" lang="en-US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)</a:t>
            </a:r>
            <a:r>
              <a:rPr kumimoji="1" lang="ko-KR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  <a:endParaRPr kumimoji="1" lang="en-US" altLang="ko-KR" sz="1400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itchFamily="50" charset="-127"/>
              <a:ea typeface="돋움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  <p:sp>
        <p:nvSpPr>
          <p:cNvPr id="136" name="AutoShape 65"/>
          <p:cNvSpPr>
            <a:spLocks noChangeArrowheads="1"/>
          </p:cNvSpPr>
          <p:nvPr/>
        </p:nvSpPr>
        <p:spPr bwMode="auto">
          <a:xfrm>
            <a:off x="4738734" y="4239298"/>
            <a:ext cx="1647814" cy="1890058"/>
          </a:xfrm>
          <a:prstGeom prst="roundRect">
            <a:avLst>
              <a:gd name="adj" fmla="val 13745"/>
            </a:avLst>
          </a:prstGeom>
          <a:solidFill>
            <a:srgbClr val="FFFFFF"/>
          </a:solidFill>
          <a:ln w="38100">
            <a:solidFill>
              <a:schemeClr val="accent1"/>
            </a:solidFill>
            <a:round/>
            <a:headEnd/>
            <a:tailEnd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anchor="ctr">
            <a:normAutofit/>
          </a:bodyPr>
          <a:lstStyle/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만들어진</a:t>
            </a: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SW가</a:t>
            </a: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고객이</a:t>
            </a:r>
            <a:r>
              <a:rPr kumimoji="1" lang="ko-KR" altLang="en-US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  <a:r>
              <a:rPr kumimoji="1" lang="ko-KR" altLang="ko-KR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원하는</a:t>
            </a:r>
            <a:r>
              <a:rPr kumimoji="1" lang="ko-KR" altLang="en-US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것인지를</a:t>
            </a:r>
            <a:r>
              <a:rPr kumimoji="1" lang="ko-KR" altLang="en-US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보장</a:t>
            </a:r>
            <a:r>
              <a:rPr kumimoji="1" lang="ko-KR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하는</a:t>
            </a: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 </a:t>
            </a:r>
            <a:r>
              <a:rPr kumimoji="1" lang="ko-KR" altLang="ko-KR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단계</a:t>
            </a:r>
            <a:endParaRPr kumimoji="1" lang="ko-KR" altLang="en-US" sz="1400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itchFamily="50" charset="-127"/>
              <a:ea typeface="돋움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  <p:sp>
        <p:nvSpPr>
          <p:cNvPr id="137" name="AutoShape 65"/>
          <p:cNvSpPr>
            <a:spLocks noChangeArrowheads="1"/>
          </p:cNvSpPr>
          <p:nvPr/>
        </p:nvSpPr>
        <p:spPr bwMode="auto">
          <a:xfrm>
            <a:off x="6586574" y="4253586"/>
            <a:ext cx="1647814" cy="1890058"/>
          </a:xfrm>
          <a:prstGeom prst="roundRect">
            <a:avLst>
              <a:gd name="adj" fmla="val 13745"/>
            </a:avLst>
          </a:prstGeom>
          <a:solidFill>
            <a:srgbClr val="FFFFFF"/>
          </a:solidFill>
          <a:ln w="38100">
            <a:solidFill>
              <a:schemeClr val="accent1"/>
            </a:solidFill>
            <a:round/>
            <a:headEnd/>
            <a:tailEnd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anchor="ctr">
            <a:normAutofit/>
          </a:bodyPr>
          <a:lstStyle/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고객과 시장의 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요구사항에 맞게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SW</a:t>
            </a:r>
            <a:r>
              <a:rPr kumimoji="1" lang="ko-KR" altLang="en-US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를 </a:t>
            </a:r>
          </a:p>
          <a:p>
            <a:pPr lvl="0"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변경</a:t>
            </a:r>
            <a:r>
              <a:rPr kumimoji="1" lang="ko-KR" altLang="en-US" sz="14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돋움" pitchFamily="50" charset="-127"/>
                <a:ea typeface="돋움" pitchFamily="50" charset="-127"/>
              </a:rPr>
              <a:t>하는 단계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대표적인 세가지 </a:t>
            </a:r>
            <a:r>
              <a:rPr lang="en-US" altLang="ko-KR" dirty="0"/>
              <a:t>SW </a:t>
            </a:r>
            <a:r>
              <a:rPr lang="ko-KR" altLang="en-US" dirty="0"/>
              <a:t>개발 프로세스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폭포수 모델 </a:t>
            </a:r>
            <a:r>
              <a:rPr lang="en-US" altLang="ko-KR" dirty="0"/>
              <a:t>(Waterfall Model)</a:t>
            </a:r>
          </a:p>
          <a:p>
            <a:endParaRPr lang="en-US" altLang="ko-KR" dirty="0"/>
          </a:p>
          <a:p>
            <a:r>
              <a:rPr lang="ko-KR" altLang="en-US" dirty="0"/>
              <a:t>진화 모델 </a:t>
            </a:r>
            <a:r>
              <a:rPr lang="en-US" altLang="ko-KR" dirty="0"/>
              <a:t>(Evolution Model)</a:t>
            </a:r>
          </a:p>
          <a:p>
            <a:endParaRPr lang="en-US" altLang="ko-KR" dirty="0"/>
          </a:p>
          <a:p>
            <a:r>
              <a:rPr lang="ko-KR" altLang="en-US" dirty="0"/>
              <a:t>컴포넌트기반 모델 </a:t>
            </a:r>
            <a:r>
              <a:rPr lang="en-US" altLang="ko-KR" dirty="0"/>
              <a:t>(Component-based Model)</a:t>
            </a:r>
          </a:p>
          <a:p>
            <a:endParaRPr lang="en-US" altLang="ko-K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폭포수 모델 </a:t>
            </a:r>
            <a:r>
              <a:rPr lang="en-US" altLang="ko-KR" dirty="0"/>
              <a:t>(Waterfall Model)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SW </a:t>
            </a:r>
            <a:r>
              <a:rPr lang="ko-KR" altLang="en-US" dirty="0"/>
              <a:t>개발 프로세스 중에서 첫 번째로 발표된 모델 </a:t>
            </a:r>
            <a:endParaRPr lang="en-US" altLang="ko-KR" dirty="0"/>
          </a:p>
          <a:p>
            <a:pPr lvl="1"/>
            <a:r>
              <a:rPr lang="ko-KR" altLang="en-US" dirty="0"/>
              <a:t>요구사항 명세화</a:t>
            </a:r>
            <a:r>
              <a:rPr lang="en-US" altLang="ko-KR" dirty="0"/>
              <a:t>, SW 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  <a:r>
              <a:rPr lang="en-US" altLang="ko-KR" dirty="0"/>
              <a:t>, </a:t>
            </a:r>
            <a:r>
              <a:rPr lang="ko-KR" altLang="en-US" dirty="0"/>
              <a:t>유지보수의 기본적인 프로세스</a:t>
            </a:r>
          </a:p>
          <a:p>
            <a:pPr lvl="1"/>
            <a:r>
              <a:rPr lang="ko-KR" altLang="en-US" dirty="0"/>
              <a:t>각 단계마다 문서가 만들어 짐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19" name="Group 44"/>
          <p:cNvGrpSpPr>
            <a:grpSpLocks/>
          </p:cNvGrpSpPr>
          <p:nvPr/>
        </p:nvGrpSpPr>
        <p:grpSpPr bwMode="auto">
          <a:xfrm>
            <a:off x="-214346" y="2500306"/>
            <a:ext cx="9683750" cy="3700462"/>
            <a:chOff x="47" y="1797"/>
            <a:chExt cx="6100" cy="2331"/>
          </a:xfrm>
        </p:grpSpPr>
        <p:sp>
          <p:nvSpPr>
            <p:cNvPr id="20" name="Oval 45"/>
            <p:cNvSpPr>
              <a:spLocks noChangeArrowheads="1"/>
            </p:cNvSpPr>
            <p:nvPr/>
          </p:nvSpPr>
          <p:spPr bwMode="auto">
            <a:xfrm rot="1376343">
              <a:off x="47" y="2252"/>
              <a:ext cx="6100" cy="1319"/>
            </a:xfrm>
            <a:prstGeom prst="ellipse">
              <a:avLst/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1" spc="5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endParaRPr>
            </a:p>
          </p:txBody>
        </p:sp>
        <p:grpSp>
          <p:nvGrpSpPr>
            <p:cNvPr id="21" name="Group 46"/>
            <p:cNvGrpSpPr>
              <a:grpSpLocks/>
            </p:cNvGrpSpPr>
            <p:nvPr/>
          </p:nvGrpSpPr>
          <p:grpSpPr bwMode="auto">
            <a:xfrm>
              <a:off x="544" y="1797"/>
              <a:ext cx="5099" cy="2331"/>
              <a:chOff x="681" y="1734"/>
              <a:chExt cx="5099" cy="2331"/>
            </a:xfrm>
          </p:grpSpPr>
          <p:cxnSp>
            <p:nvCxnSpPr>
              <p:cNvPr id="22" name="AutoShape 47"/>
              <p:cNvCxnSpPr>
                <a:cxnSpLocks noChangeShapeType="1"/>
              </p:cNvCxnSpPr>
              <p:nvPr/>
            </p:nvCxnSpPr>
            <p:spPr bwMode="auto">
              <a:xfrm>
                <a:off x="1459" y="1888"/>
                <a:ext cx="663" cy="226"/>
              </a:xfrm>
              <a:prstGeom prst="curvedConnector2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3" name="AutoShape 48"/>
              <p:cNvCxnSpPr>
                <a:cxnSpLocks noChangeShapeType="1"/>
              </p:cNvCxnSpPr>
              <p:nvPr/>
            </p:nvCxnSpPr>
            <p:spPr bwMode="auto">
              <a:xfrm>
                <a:off x="2546" y="2319"/>
                <a:ext cx="664" cy="294"/>
              </a:xfrm>
              <a:prstGeom prst="curvedConnector2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4" name="AutoShape 49"/>
              <p:cNvCxnSpPr>
                <a:cxnSpLocks noChangeShapeType="1"/>
              </p:cNvCxnSpPr>
              <p:nvPr/>
            </p:nvCxnSpPr>
            <p:spPr bwMode="auto">
              <a:xfrm>
                <a:off x="3602" y="2831"/>
                <a:ext cx="561" cy="273"/>
              </a:xfrm>
              <a:prstGeom prst="curvedConnector2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5" name="AutoShape 50"/>
              <p:cNvCxnSpPr>
                <a:cxnSpLocks noChangeShapeType="1"/>
              </p:cNvCxnSpPr>
              <p:nvPr/>
            </p:nvCxnSpPr>
            <p:spPr bwMode="auto">
              <a:xfrm>
                <a:off x="4613" y="3294"/>
                <a:ext cx="613" cy="364"/>
              </a:xfrm>
              <a:prstGeom prst="curvedConnector2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6" name="AutoShape 51"/>
              <p:cNvCxnSpPr>
                <a:cxnSpLocks noChangeShapeType="1"/>
              </p:cNvCxnSpPr>
              <p:nvPr/>
            </p:nvCxnSpPr>
            <p:spPr bwMode="auto">
              <a:xfrm rot="10800000">
                <a:off x="4323" y="3475"/>
                <a:ext cx="611" cy="387"/>
              </a:xfrm>
              <a:prstGeom prst="curvedConnector2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7" name="AutoShape 52"/>
              <p:cNvCxnSpPr>
                <a:cxnSpLocks noChangeShapeType="1"/>
              </p:cNvCxnSpPr>
              <p:nvPr/>
            </p:nvCxnSpPr>
            <p:spPr bwMode="auto">
              <a:xfrm rot="10800000">
                <a:off x="3237" y="3013"/>
                <a:ext cx="560" cy="296"/>
              </a:xfrm>
              <a:prstGeom prst="curvedConnector2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8" name="AutoShape 53"/>
              <p:cNvCxnSpPr>
                <a:cxnSpLocks noChangeShapeType="1"/>
              </p:cNvCxnSpPr>
              <p:nvPr/>
            </p:nvCxnSpPr>
            <p:spPr bwMode="auto">
              <a:xfrm rot="10800000">
                <a:off x="2131" y="2518"/>
                <a:ext cx="662" cy="295"/>
              </a:xfrm>
              <a:prstGeom prst="curvedConnector2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9" name="AutoShape 54"/>
              <p:cNvCxnSpPr>
                <a:cxnSpLocks noChangeShapeType="1"/>
              </p:cNvCxnSpPr>
              <p:nvPr/>
            </p:nvCxnSpPr>
            <p:spPr bwMode="auto">
              <a:xfrm rot="10800000">
                <a:off x="1051" y="2133"/>
                <a:ext cx="687" cy="204"/>
              </a:xfrm>
              <a:prstGeom prst="curvedConnector2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 type="triangle" w="med" len="med"/>
              </a:ln>
              <a:effectLst/>
            </p:spPr>
          </p:cxnSp>
          <p:grpSp>
            <p:nvGrpSpPr>
              <p:cNvPr id="30" name="Group 55"/>
              <p:cNvGrpSpPr>
                <a:grpSpLocks/>
              </p:cNvGrpSpPr>
              <p:nvPr/>
            </p:nvGrpSpPr>
            <p:grpSpPr bwMode="auto">
              <a:xfrm>
                <a:off x="681" y="1734"/>
                <a:ext cx="800" cy="408"/>
                <a:chOff x="762" y="1752"/>
                <a:chExt cx="800" cy="408"/>
              </a:xfrm>
            </p:grpSpPr>
            <p:sp>
              <p:nvSpPr>
                <p:cNvPr id="43" name="AutoShape 56"/>
                <p:cNvSpPr>
                  <a:spLocks noChangeArrowheads="1"/>
                </p:cNvSpPr>
                <p:nvPr/>
              </p:nvSpPr>
              <p:spPr bwMode="auto">
                <a:xfrm>
                  <a:off x="797" y="1797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eaLnBrk="0" latinLnBrk="0" hangingPunct="0">
                    <a:lnSpc>
                      <a:spcPct val="100000"/>
                    </a:lnSpc>
                  </a:pPr>
                  <a:endParaRPr kumimoji="0" lang="ko-KR" altLang="ko-KR">
                    <a:latin typeface="굴림체" pitchFamily="49" charset="-127"/>
                    <a:ea typeface="굴림체" pitchFamily="49" charset="-127"/>
                  </a:endParaRPr>
                </a:p>
              </p:txBody>
            </p:sp>
            <p:sp>
              <p:nvSpPr>
                <p:cNvPr id="44" name="AutoShape 57"/>
                <p:cNvSpPr>
                  <a:spLocks noChangeArrowheads="1"/>
                </p:cNvSpPr>
                <p:nvPr/>
              </p:nvSpPr>
              <p:spPr bwMode="auto">
                <a:xfrm>
                  <a:off x="762" y="1752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algn="ctr" eaLnBrk="0" latinLnBrk="0" hangingPunct="0">
                    <a:lnSpc>
                      <a:spcPct val="100000"/>
                    </a:lnSpc>
                  </a:pPr>
                  <a:r>
                    <a:rPr kumimoji="0" lang="ko-KR" altLang="en-US" b="1" spc="50" dirty="0">
                      <a:ln w="12700" cmpd="sng">
                        <a:solidFill>
                          <a:schemeClr val="accent6">
                            <a:satMod val="120000"/>
                            <a:shade val="80000"/>
                          </a:schemeClr>
                        </a:solidFill>
                        <a:prstDash val="solid"/>
                      </a:ln>
                      <a:solidFill>
                        <a:schemeClr val="accent6">
                          <a:tint val="1000"/>
                        </a:schemeClr>
                      </a:solidFill>
                      <a:effectLst>
                        <a:glow rad="53100">
                          <a:schemeClr val="accent6">
                            <a:satMod val="180000"/>
                            <a:alpha val="30000"/>
                          </a:schemeClr>
                        </a:glow>
                      </a:effectLst>
                      <a:latin typeface="굴림체" pitchFamily="49" charset="-127"/>
                      <a:ea typeface="굴림체" pitchFamily="49" charset="-127"/>
                    </a:rPr>
                    <a:t>요구사항 명세화</a:t>
                  </a:r>
                </a:p>
              </p:txBody>
            </p:sp>
          </p:grpSp>
          <p:grpSp>
            <p:nvGrpSpPr>
              <p:cNvPr id="31" name="Group 58"/>
              <p:cNvGrpSpPr>
                <a:grpSpLocks/>
              </p:cNvGrpSpPr>
              <p:nvPr/>
            </p:nvGrpSpPr>
            <p:grpSpPr bwMode="auto">
              <a:xfrm>
                <a:off x="1759" y="2115"/>
                <a:ext cx="800" cy="408"/>
                <a:chOff x="762" y="1752"/>
                <a:chExt cx="800" cy="408"/>
              </a:xfrm>
            </p:grpSpPr>
            <p:sp>
              <p:nvSpPr>
                <p:cNvPr id="41" name="AutoShape 59"/>
                <p:cNvSpPr>
                  <a:spLocks noChangeArrowheads="1"/>
                </p:cNvSpPr>
                <p:nvPr/>
              </p:nvSpPr>
              <p:spPr bwMode="auto">
                <a:xfrm>
                  <a:off x="797" y="1797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eaLnBrk="0" latinLnBrk="0" hangingPunct="0">
                    <a:lnSpc>
                      <a:spcPct val="100000"/>
                    </a:lnSpc>
                  </a:pPr>
                  <a:endParaRPr kumimoji="0" lang="ko-KR" altLang="ko-KR">
                    <a:latin typeface="굴림체" pitchFamily="49" charset="-127"/>
                    <a:ea typeface="굴림체" pitchFamily="49" charset="-127"/>
                  </a:endParaRPr>
                </a:p>
              </p:txBody>
            </p:sp>
            <p:sp>
              <p:nvSpPr>
                <p:cNvPr id="42" name="AutoShape 60"/>
                <p:cNvSpPr>
                  <a:spLocks noChangeArrowheads="1"/>
                </p:cNvSpPr>
                <p:nvPr/>
              </p:nvSpPr>
              <p:spPr bwMode="auto">
                <a:xfrm>
                  <a:off x="762" y="1752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eaLnBrk="0" latinLnBrk="0" hangingPunct="0">
                    <a:lnSpc>
                      <a:spcPct val="100000"/>
                    </a:lnSpc>
                  </a:pPr>
                  <a:r>
                    <a:rPr kumimoji="0" lang="ko-KR" altLang="en-US" b="1" spc="50" dirty="0">
                      <a:ln w="12700" cmpd="sng">
                        <a:solidFill>
                          <a:schemeClr val="accent6">
                            <a:satMod val="120000"/>
                            <a:shade val="80000"/>
                          </a:schemeClr>
                        </a:solidFill>
                        <a:prstDash val="solid"/>
                      </a:ln>
                      <a:solidFill>
                        <a:schemeClr val="accent6">
                          <a:tint val="1000"/>
                        </a:schemeClr>
                      </a:solidFill>
                      <a:effectLst>
                        <a:glow rad="53100">
                          <a:schemeClr val="accent6">
                            <a:satMod val="180000"/>
                            <a:alpha val="30000"/>
                          </a:schemeClr>
                        </a:glow>
                      </a:effectLst>
                      <a:latin typeface="굴림체" pitchFamily="49" charset="-127"/>
                      <a:ea typeface="굴림체" pitchFamily="49" charset="-127"/>
                    </a:rPr>
                    <a:t>설계</a:t>
                  </a:r>
                </a:p>
              </p:txBody>
            </p:sp>
          </p:grpSp>
          <p:grpSp>
            <p:nvGrpSpPr>
              <p:cNvPr id="32" name="Group 61"/>
              <p:cNvGrpSpPr>
                <a:grpSpLocks/>
              </p:cNvGrpSpPr>
              <p:nvPr/>
            </p:nvGrpSpPr>
            <p:grpSpPr bwMode="auto">
              <a:xfrm>
                <a:off x="2803" y="2614"/>
                <a:ext cx="800" cy="408"/>
                <a:chOff x="762" y="1752"/>
                <a:chExt cx="800" cy="408"/>
              </a:xfrm>
            </p:grpSpPr>
            <p:sp>
              <p:nvSpPr>
                <p:cNvPr id="39" name="AutoShape 62"/>
                <p:cNvSpPr>
                  <a:spLocks noChangeArrowheads="1"/>
                </p:cNvSpPr>
                <p:nvPr/>
              </p:nvSpPr>
              <p:spPr bwMode="auto">
                <a:xfrm>
                  <a:off x="797" y="1797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eaLnBrk="0" latinLnBrk="0" hangingPunct="0">
                    <a:lnSpc>
                      <a:spcPct val="100000"/>
                    </a:lnSpc>
                  </a:pPr>
                  <a:endParaRPr kumimoji="0" lang="ko-KR" altLang="ko-KR" b="1">
                    <a:ln w="12700">
                      <a:solidFill>
                        <a:schemeClr val="tx2">
                          <a:satMod val="155000"/>
                        </a:schemeClr>
                      </a:solidFill>
                      <a:prstDash val="solid"/>
                    </a:ln>
                    <a:solidFill>
                      <a:schemeClr val="bg2">
                        <a:tint val="85000"/>
                        <a:satMod val="155000"/>
                      </a:schemeClr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  <a:latin typeface="굴림체" pitchFamily="49" charset="-127"/>
                    <a:ea typeface="굴림체" pitchFamily="49" charset="-127"/>
                  </a:endParaRPr>
                </a:p>
              </p:txBody>
            </p:sp>
            <p:sp>
              <p:nvSpPr>
                <p:cNvPr id="40" name="AutoShape 63"/>
                <p:cNvSpPr>
                  <a:spLocks noChangeArrowheads="1"/>
                </p:cNvSpPr>
                <p:nvPr/>
              </p:nvSpPr>
              <p:spPr bwMode="auto">
                <a:xfrm>
                  <a:off x="762" y="1752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eaLnBrk="0" latinLnBrk="0" hangingPunct="0">
                    <a:lnSpc>
                      <a:spcPct val="100000"/>
                    </a:lnSpc>
                  </a:pPr>
                  <a:r>
                    <a:rPr kumimoji="0" lang="ko-KR" altLang="en-US" b="1" spc="50" dirty="0">
                      <a:ln w="12700" cmpd="sng">
                        <a:solidFill>
                          <a:schemeClr val="accent6">
                            <a:satMod val="120000"/>
                            <a:shade val="80000"/>
                          </a:schemeClr>
                        </a:solidFill>
                        <a:prstDash val="solid"/>
                      </a:ln>
                      <a:solidFill>
                        <a:schemeClr val="accent6">
                          <a:tint val="1000"/>
                        </a:schemeClr>
                      </a:solidFill>
                      <a:effectLst>
                        <a:glow rad="53100">
                          <a:schemeClr val="accent6">
                            <a:satMod val="180000"/>
                            <a:alpha val="30000"/>
                          </a:schemeClr>
                        </a:glow>
                      </a:effectLst>
                      <a:latin typeface="굴림체" pitchFamily="49" charset="-127"/>
                      <a:ea typeface="굴림체" pitchFamily="49" charset="-127"/>
                    </a:rPr>
                    <a:t>구현</a:t>
                  </a:r>
                </a:p>
              </p:txBody>
            </p:sp>
          </p:grpSp>
          <p:grpSp>
            <p:nvGrpSpPr>
              <p:cNvPr id="33" name="Group 64"/>
              <p:cNvGrpSpPr>
                <a:grpSpLocks/>
              </p:cNvGrpSpPr>
              <p:nvPr/>
            </p:nvGrpSpPr>
            <p:grpSpPr bwMode="auto">
              <a:xfrm>
                <a:off x="3819" y="3103"/>
                <a:ext cx="800" cy="408"/>
                <a:chOff x="762" y="1752"/>
                <a:chExt cx="800" cy="408"/>
              </a:xfrm>
            </p:grpSpPr>
            <p:sp>
              <p:nvSpPr>
                <p:cNvPr id="37" name="AutoShape 65"/>
                <p:cNvSpPr>
                  <a:spLocks noChangeArrowheads="1"/>
                </p:cNvSpPr>
                <p:nvPr/>
              </p:nvSpPr>
              <p:spPr bwMode="auto">
                <a:xfrm>
                  <a:off x="797" y="1797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eaLnBrk="0" latinLnBrk="0" hangingPunct="0">
                    <a:lnSpc>
                      <a:spcPct val="100000"/>
                    </a:lnSpc>
                  </a:pPr>
                  <a:endParaRPr kumimoji="0" lang="ko-KR" altLang="ko-KR">
                    <a:latin typeface="굴림체" pitchFamily="49" charset="-127"/>
                    <a:ea typeface="굴림체" pitchFamily="49" charset="-127"/>
                  </a:endParaRPr>
                </a:p>
              </p:txBody>
            </p:sp>
            <p:sp>
              <p:nvSpPr>
                <p:cNvPr id="38" name="AutoShape 66"/>
                <p:cNvSpPr>
                  <a:spLocks noChangeArrowheads="1"/>
                </p:cNvSpPr>
                <p:nvPr/>
              </p:nvSpPr>
              <p:spPr bwMode="auto">
                <a:xfrm>
                  <a:off x="762" y="1752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algn="ctr" eaLnBrk="0" latinLnBrk="0" hangingPunct="0">
                    <a:lnSpc>
                      <a:spcPct val="100000"/>
                    </a:lnSpc>
                  </a:pPr>
                  <a:r>
                    <a:rPr kumimoji="0" lang="ko-KR" altLang="en-US" b="1" spc="50" dirty="0">
                      <a:ln w="12700" cmpd="sng">
                        <a:solidFill>
                          <a:schemeClr val="accent6">
                            <a:satMod val="120000"/>
                            <a:shade val="80000"/>
                          </a:schemeClr>
                        </a:solidFill>
                        <a:prstDash val="solid"/>
                      </a:ln>
                      <a:solidFill>
                        <a:schemeClr val="accent6">
                          <a:tint val="1000"/>
                        </a:schemeClr>
                      </a:solidFill>
                      <a:effectLst>
                        <a:glow rad="53100">
                          <a:schemeClr val="accent6">
                            <a:satMod val="180000"/>
                            <a:alpha val="30000"/>
                          </a:schemeClr>
                        </a:glow>
                      </a:effectLst>
                      <a:latin typeface="굴림체" pitchFamily="49" charset="-127"/>
                      <a:ea typeface="굴림체" pitchFamily="49" charset="-127"/>
                    </a:rPr>
                    <a:t>테스트</a:t>
                  </a:r>
                </a:p>
              </p:txBody>
            </p:sp>
          </p:grpSp>
          <p:grpSp>
            <p:nvGrpSpPr>
              <p:cNvPr id="34" name="Group 67"/>
              <p:cNvGrpSpPr>
                <a:grpSpLocks/>
              </p:cNvGrpSpPr>
              <p:nvPr/>
            </p:nvGrpSpPr>
            <p:grpSpPr bwMode="auto">
              <a:xfrm>
                <a:off x="4980" y="3657"/>
                <a:ext cx="800" cy="408"/>
                <a:chOff x="762" y="1752"/>
                <a:chExt cx="800" cy="408"/>
              </a:xfrm>
            </p:grpSpPr>
            <p:sp>
              <p:nvSpPr>
                <p:cNvPr id="35" name="AutoShape 68"/>
                <p:cNvSpPr>
                  <a:spLocks noChangeArrowheads="1"/>
                </p:cNvSpPr>
                <p:nvPr/>
              </p:nvSpPr>
              <p:spPr bwMode="auto">
                <a:xfrm>
                  <a:off x="797" y="1797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eaLnBrk="0" latinLnBrk="0" hangingPunct="0">
                    <a:lnSpc>
                      <a:spcPct val="100000"/>
                    </a:lnSpc>
                  </a:pPr>
                  <a:endParaRPr kumimoji="0" lang="ko-KR" altLang="ko-KR">
                    <a:latin typeface="굴림체" pitchFamily="49" charset="-127"/>
                    <a:ea typeface="굴림체" pitchFamily="49" charset="-127"/>
                  </a:endParaRPr>
                </a:p>
              </p:txBody>
            </p:sp>
            <p:sp>
              <p:nvSpPr>
                <p:cNvPr id="36" name="AutoShape 69"/>
                <p:cNvSpPr>
                  <a:spLocks noChangeArrowheads="1"/>
                </p:cNvSpPr>
                <p:nvPr/>
              </p:nvSpPr>
              <p:spPr bwMode="auto">
                <a:xfrm>
                  <a:off x="762" y="1752"/>
                  <a:ext cx="765" cy="363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lIns="12700" tIns="12700" rIns="12700" bIns="12700" anchor="ctr" anchorCtr="1"/>
                <a:lstStyle/>
                <a:p>
                  <a:pPr eaLnBrk="0" latinLnBrk="0" hangingPunct="0">
                    <a:lnSpc>
                      <a:spcPct val="100000"/>
                    </a:lnSpc>
                  </a:pPr>
                  <a:r>
                    <a:rPr kumimoji="0" lang="ko-KR" altLang="en-US" b="1" spc="50" dirty="0">
                      <a:ln w="12700" cmpd="sng">
                        <a:solidFill>
                          <a:schemeClr val="accent6">
                            <a:satMod val="120000"/>
                            <a:shade val="80000"/>
                          </a:schemeClr>
                        </a:solidFill>
                        <a:prstDash val="solid"/>
                      </a:ln>
                      <a:solidFill>
                        <a:schemeClr val="accent6">
                          <a:tint val="1000"/>
                        </a:schemeClr>
                      </a:solidFill>
                      <a:effectLst>
                        <a:glow rad="53100">
                          <a:schemeClr val="accent6">
                            <a:satMod val="180000"/>
                            <a:alpha val="30000"/>
                          </a:schemeClr>
                        </a:glow>
                      </a:effectLst>
                      <a:latin typeface="굴림체" pitchFamily="49" charset="-127"/>
                      <a:ea typeface="굴림체" pitchFamily="49" charset="-127"/>
                    </a:rPr>
                    <a:t>유지보수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진화 모델 </a:t>
            </a:r>
            <a:r>
              <a:rPr lang="en-US" altLang="ko-KR" dirty="0"/>
              <a:t>(Evolution Model)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명확하지 않은 고객의 요구사항을 명확히 하기 위해 초기에 구현 시작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고객의 요구를 충족하는 시스템을 만들기 위해 고객의 의견을 반영</a:t>
            </a:r>
            <a:endParaRPr lang="en-US" altLang="ko-KR" dirty="0"/>
          </a:p>
          <a:p>
            <a:pPr lvl="1"/>
            <a:r>
              <a:rPr lang="ko-KR" altLang="en-US" dirty="0"/>
              <a:t>최종 시스템이 개발될 때 가지 버전을 진화시키는 모델</a:t>
            </a: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663930" y="2786058"/>
            <a:ext cx="7848600" cy="3455988"/>
            <a:chOff x="580" y="1852"/>
            <a:chExt cx="4944" cy="2177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580" y="1852"/>
              <a:ext cx="4944" cy="2177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" name="Rectangle 16"/>
            <p:cNvSpPr>
              <a:spLocks noChangeArrowheads="1"/>
            </p:cNvSpPr>
            <p:nvPr/>
          </p:nvSpPr>
          <p:spPr bwMode="auto">
            <a:xfrm>
              <a:off x="2068" y="1997"/>
              <a:ext cx="1316" cy="1905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" name="Rectangle 17"/>
            <p:cNvSpPr>
              <a:spLocks noChangeArrowheads="1"/>
            </p:cNvSpPr>
            <p:nvPr/>
          </p:nvSpPr>
          <p:spPr bwMode="auto">
            <a:xfrm>
              <a:off x="3909" y="1997"/>
              <a:ext cx="1316" cy="1905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8" name="AutoShape 18"/>
            <p:cNvSpPr>
              <a:spLocks noChangeArrowheads="1"/>
            </p:cNvSpPr>
            <p:nvPr/>
          </p:nvSpPr>
          <p:spPr bwMode="auto">
            <a:xfrm>
              <a:off x="677" y="2777"/>
              <a:ext cx="765" cy="363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12700" tIns="12700" rIns="12700" bIns="12700" anchor="ctr" anchorCtr="1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 eaLnBrk="0" latinLnBrk="0" hangingPunct="0">
                <a:lnSpc>
                  <a:spcPct val="100000"/>
                </a:lnSpc>
              </a:pPr>
              <a:r>
                <a:rPr kumimoji="0" lang="en-US" altLang="ko-KR" b="1">
                  <a:latin typeface="굴림체" pitchFamily="49" charset="-127"/>
                  <a:ea typeface="굴림체" pitchFamily="49" charset="-127"/>
                </a:rPr>
                <a:t>Outline</a:t>
              </a:r>
            </a:p>
            <a:p>
              <a:pPr eaLnBrk="0" latinLnBrk="0" hangingPunct="0">
                <a:lnSpc>
                  <a:spcPct val="100000"/>
                </a:lnSpc>
              </a:pPr>
              <a:r>
                <a:rPr kumimoji="0" lang="en-US" altLang="ko-KR" b="1">
                  <a:latin typeface="굴림체" pitchFamily="49" charset="-127"/>
                  <a:ea typeface="굴림체" pitchFamily="49" charset="-127"/>
                </a:rPr>
                <a:t>description</a:t>
              </a:r>
            </a:p>
          </p:txBody>
        </p:sp>
        <p:sp>
          <p:nvSpPr>
            <p:cNvPr id="9" name="AutoShape 19"/>
            <p:cNvSpPr>
              <a:spLocks noChangeArrowheads="1"/>
            </p:cNvSpPr>
            <p:nvPr/>
          </p:nvSpPr>
          <p:spPr bwMode="gray">
            <a:xfrm>
              <a:off x="2186" y="2180"/>
              <a:ext cx="1043" cy="31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Specification</a:t>
              </a:r>
            </a:p>
          </p:txBody>
        </p:sp>
        <p:sp>
          <p:nvSpPr>
            <p:cNvPr id="10" name="AutoShape 20"/>
            <p:cNvSpPr>
              <a:spLocks noChangeArrowheads="1"/>
            </p:cNvSpPr>
            <p:nvPr/>
          </p:nvSpPr>
          <p:spPr bwMode="gray">
            <a:xfrm>
              <a:off x="2186" y="2781"/>
              <a:ext cx="1043" cy="31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Development</a:t>
              </a:r>
            </a:p>
          </p:txBody>
        </p:sp>
        <p:sp>
          <p:nvSpPr>
            <p:cNvPr id="11" name="AutoShape 21"/>
            <p:cNvSpPr>
              <a:spLocks noChangeArrowheads="1"/>
            </p:cNvSpPr>
            <p:nvPr/>
          </p:nvSpPr>
          <p:spPr bwMode="gray">
            <a:xfrm>
              <a:off x="2186" y="3390"/>
              <a:ext cx="1043" cy="31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Validation</a:t>
              </a:r>
            </a:p>
          </p:txBody>
        </p:sp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4127" y="2178"/>
              <a:ext cx="862" cy="31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Ctr="1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r>
                <a:rPr lang="en-US" altLang="ko-KR" b="1" spc="50" dirty="0" err="1">
                  <a:ln w="12700" cmpd="sng">
                    <a:solidFill>
                      <a:schemeClr val="accent6">
                        <a:satMod val="120000"/>
                        <a:shade val="80000"/>
                      </a:schemeClr>
                    </a:solidFill>
                    <a:prstDash val="solid"/>
                  </a:ln>
                  <a:solidFill>
                    <a:schemeClr val="accent6">
                      <a:tint val="1000"/>
                    </a:schemeClr>
                  </a:solidFill>
                  <a:effectLst>
                    <a:glow rad="53100">
                      <a:schemeClr val="accent6">
                        <a:satMod val="180000"/>
                        <a:alpha val="30000"/>
                      </a:schemeClr>
                    </a:glow>
                  </a:effectLst>
                </a:rPr>
                <a:t>Initial_version</a:t>
              </a:r>
              <a:endParaRPr lang="en-US" altLang="ko-KR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endParaRPr>
            </a:p>
          </p:txBody>
        </p:sp>
        <p:grpSp>
          <p:nvGrpSpPr>
            <p:cNvPr id="13" name="Group 23"/>
            <p:cNvGrpSpPr>
              <a:grpSpLocks/>
            </p:cNvGrpSpPr>
            <p:nvPr/>
          </p:nvGrpSpPr>
          <p:grpSpPr bwMode="auto">
            <a:xfrm>
              <a:off x="4109" y="2749"/>
              <a:ext cx="934" cy="399"/>
              <a:chOff x="3347" y="2432"/>
              <a:chExt cx="934" cy="399"/>
            </a:xfrm>
          </p:grpSpPr>
          <p:sp>
            <p:nvSpPr>
              <p:cNvPr id="26" name="Rectangle 24"/>
              <p:cNvSpPr>
                <a:spLocks noChangeArrowheads="1"/>
              </p:cNvSpPr>
              <p:nvPr/>
            </p:nvSpPr>
            <p:spPr bwMode="auto">
              <a:xfrm>
                <a:off x="3419" y="2514"/>
                <a:ext cx="862" cy="317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defPPr>
                  <a:defRPr lang="ko-KR"/>
                </a:defPPr>
                <a:lvl1pPr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1pPr>
                <a:lvl2pPr marL="4572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2pPr>
                <a:lvl3pPr marL="9144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3pPr>
                <a:lvl4pPr marL="13716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4pPr>
                <a:lvl5pPr marL="18288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9pPr>
              </a:lstStyle>
              <a:p>
                <a:r>
                  <a:rPr lang="en-US" altLang="ko-KR"/>
                  <a:t>Initial version</a:t>
                </a:r>
              </a:p>
            </p:txBody>
          </p:sp>
          <p:sp>
            <p:nvSpPr>
              <p:cNvPr id="27" name="Rectangle 25"/>
              <p:cNvSpPr>
                <a:spLocks noChangeArrowheads="1"/>
              </p:cNvSpPr>
              <p:nvPr/>
            </p:nvSpPr>
            <p:spPr bwMode="auto">
              <a:xfrm>
                <a:off x="3383" y="2469"/>
                <a:ext cx="862" cy="317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defPPr>
                  <a:defRPr lang="ko-KR"/>
                </a:defPPr>
                <a:lvl1pPr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1pPr>
                <a:lvl2pPr marL="4572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2pPr>
                <a:lvl3pPr marL="9144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3pPr>
                <a:lvl4pPr marL="13716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4pPr>
                <a:lvl5pPr marL="18288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9pPr>
              </a:lstStyle>
              <a:p>
                <a:r>
                  <a:rPr lang="en-US" altLang="ko-KR"/>
                  <a:t>Initial version</a:t>
                </a:r>
              </a:p>
            </p:txBody>
          </p:sp>
          <p:sp>
            <p:nvSpPr>
              <p:cNvPr id="28" name="Rectangle 26"/>
              <p:cNvSpPr>
                <a:spLocks noChangeArrowheads="1"/>
              </p:cNvSpPr>
              <p:nvPr/>
            </p:nvSpPr>
            <p:spPr bwMode="auto">
              <a:xfrm>
                <a:off x="3347" y="2432"/>
                <a:ext cx="862" cy="317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defPPr>
                  <a:defRPr lang="ko-KR"/>
                </a:defPPr>
                <a:lvl1pPr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1pPr>
                <a:lvl2pPr marL="4572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2pPr>
                <a:lvl3pPr marL="9144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3pPr>
                <a:lvl4pPr marL="13716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4pPr>
                <a:lvl5pPr marL="1828800" algn="ctr" rtl="0" fontAlgn="base" latinLnBrk="1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돋움" pitchFamily="50" charset="-127"/>
                    <a:ea typeface="돋움" pitchFamily="50" charset="-127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ko-KR" b="1" spc="50" dirty="0">
                    <a:ln w="12700" cmpd="sng">
                      <a:solidFill>
                        <a:schemeClr val="accent6">
                          <a:satMod val="120000"/>
                          <a:shade val="80000"/>
                        </a:schemeClr>
                      </a:solidFill>
                      <a:prstDash val="solid"/>
                    </a:ln>
                    <a:solidFill>
                      <a:schemeClr val="accent6">
                        <a:tint val="1000"/>
                      </a:schemeClr>
                    </a:solidFill>
                    <a:effectLst>
                      <a:glow rad="53100">
                        <a:schemeClr val="accent6">
                          <a:satMod val="180000"/>
                          <a:alpha val="30000"/>
                        </a:schemeClr>
                      </a:glow>
                    </a:effectLst>
                  </a:rPr>
                  <a:t>Intermediate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b="1" spc="50" dirty="0">
                    <a:ln w="12700" cmpd="sng">
                      <a:solidFill>
                        <a:schemeClr val="accent6">
                          <a:satMod val="120000"/>
                          <a:shade val="80000"/>
                        </a:schemeClr>
                      </a:solidFill>
                      <a:prstDash val="solid"/>
                    </a:ln>
                    <a:solidFill>
                      <a:schemeClr val="accent6">
                        <a:tint val="1000"/>
                      </a:schemeClr>
                    </a:solidFill>
                    <a:effectLst>
                      <a:glow rad="53100">
                        <a:schemeClr val="accent6">
                          <a:satMod val="180000"/>
                          <a:alpha val="30000"/>
                        </a:schemeClr>
                      </a:glow>
                    </a:effectLst>
                  </a:rPr>
                  <a:t> version</a:t>
                </a:r>
              </a:p>
            </p:txBody>
          </p:sp>
        </p:grpSp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4136" y="3402"/>
              <a:ext cx="862" cy="31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Ctr="1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r>
                <a:rPr lang="en-US" altLang="ko-KR" b="1" spc="50" dirty="0">
                  <a:ln w="12700" cmpd="sng">
                    <a:solidFill>
                      <a:schemeClr val="accent6">
                        <a:satMod val="120000"/>
                        <a:shade val="80000"/>
                      </a:schemeClr>
                    </a:solidFill>
                    <a:prstDash val="solid"/>
                  </a:ln>
                  <a:solidFill>
                    <a:schemeClr val="accent6">
                      <a:tint val="1000"/>
                    </a:schemeClr>
                  </a:solidFill>
                  <a:effectLst>
                    <a:glow rad="53100">
                      <a:schemeClr val="accent6">
                        <a:satMod val="180000"/>
                        <a:alpha val="30000"/>
                      </a:schemeClr>
                    </a:glow>
                  </a:effectLst>
                </a:rPr>
                <a:t>Final version</a:t>
              </a:r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>
              <a:off x="1442" y="2940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2621" y="250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7" name="Line 30"/>
            <p:cNvSpPr>
              <a:spLocks noChangeShapeType="1"/>
            </p:cNvSpPr>
            <p:nvPr/>
          </p:nvSpPr>
          <p:spPr bwMode="auto">
            <a:xfrm>
              <a:off x="2621" y="312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8" name="Line 31"/>
            <p:cNvSpPr>
              <a:spLocks noChangeShapeType="1"/>
            </p:cNvSpPr>
            <p:nvPr/>
          </p:nvSpPr>
          <p:spPr bwMode="auto">
            <a:xfrm flipV="1">
              <a:off x="2757" y="250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9" name="Line 32"/>
            <p:cNvSpPr>
              <a:spLocks noChangeShapeType="1"/>
            </p:cNvSpPr>
            <p:nvPr/>
          </p:nvSpPr>
          <p:spPr bwMode="auto">
            <a:xfrm flipV="1">
              <a:off x="2757" y="312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0" name="Line 33"/>
            <p:cNvSpPr>
              <a:spLocks noChangeShapeType="1"/>
            </p:cNvSpPr>
            <p:nvPr/>
          </p:nvSpPr>
          <p:spPr bwMode="auto">
            <a:xfrm>
              <a:off x="3401" y="2314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1" name="Line 34"/>
            <p:cNvSpPr>
              <a:spLocks noChangeShapeType="1"/>
            </p:cNvSpPr>
            <p:nvPr/>
          </p:nvSpPr>
          <p:spPr bwMode="auto">
            <a:xfrm>
              <a:off x="3402" y="237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2" name="Line 35"/>
            <p:cNvSpPr>
              <a:spLocks noChangeShapeType="1"/>
            </p:cNvSpPr>
            <p:nvPr/>
          </p:nvSpPr>
          <p:spPr bwMode="auto">
            <a:xfrm>
              <a:off x="3400" y="2903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3" name="Line 36"/>
            <p:cNvSpPr>
              <a:spLocks noChangeShapeType="1"/>
            </p:cNvSpPr>
            <p:nvPr/>
          </p:nvSpPr>
          <p:spPr bwMode="auto">
            <a:xfrm>
              <a:off x="3392" y="2967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4" name="Line 37"/>
            <p:cNvSpPr>
              <a:spLocks noChangeShapeType="1"/>
            </p:cNvSpPr>
            <p:nvPr/>
          </p:nvSpPr>
          <p:spPr bwMode="auto">
            <a:xfrm>
              <a:off x="3401" y="3530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5" name="Line 38"/>
            <p:cNvSpPr>
              <a:spLocks noChangeShapeType="1"/>
            </p:cNvSpPr>
            <p:nvPr/>
          </p:nvSpPr>
          <p:spPr bwMode="auto">
            <a:xfrm>
              <a:off x="3402" y="3594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컴포넌트 기반 모델 </a:t>
            </a:r>
            <a:r>
              <a:rPr lang="en-US" altLang="ko-KR" dirty="0"/>
              <a:t>(Component-based Model)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재사용 가능한 컴포넌트 기반의 모델</a:t>
            </a:r>
            <a:endParaRPr lang="en-US" altLang="ko-KR" dirty="0"/>
          </a:p>
          <a:p>
            <a:pPr lvl="1"/>
            <a:r>
              <a:rPr lang="ko-KR" altLang="en-US" dirty="0"/>
              <a:t>이미 구축된 컴포넌트들을 통합하여 시스템을 개발하는 프로세스 모델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1071538" y="2694001"/>
            <a:ext cx="7129462" cy="2735263"/>
            <a:chOff x="807" y="2076"/>
            <a:chExt cx="4491" cy="1723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grpSpPr>
        <p:sp>
          <p:nvSpPr>
            <p:cNvPr id="5" name="Rectangle 16"/>
            <p:cNvSpPr>
              <a:spLocks noChangeArrowheads="1"/>
            </p:cNvSpPr>
            <p:nvPr/>
          </p:nvSpPr>
          <p:spPr bwMode="auto">
            <a:xfrm>
              <a:off x="807" y="2076"/>
              <a:ext cx="4491" cy="1723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" name="AutoShape 17"/>
            <p:cNvSpPr>
              <a:spLocks noChangeArrowheads="1"/>
            </p:cNvSpPr>
            <p:nvPr/>
          </p:nvSpPr>
          <p:spPr bwMode="gray">
            <a:xfrm>
              <a:off x="1034" y="2341"/>
              <a:ext cx="1134" cy="40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Requirements</a:t>
              </a:r>
            </a:p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specification</a:t>
              </a:r>
            </a:p>
          </p:txBody>
        </p:sp>
        <p:sp>
          <p:nvSpPr>
            <p:cNvPr id="7" name="AutoShape 18"/>
            <p:cNvSpPr>
              <a:spLocks noChangeArrowheads="1"/>
            </p:cNvSpPr>
            <p:nvPr/>
          </p:nvSpPr>
          <p:spPr bwMode="gray">
            <a:xfrm>
              <a:off x="2440" y="2350"/>
              <a:ext cx="1134" cy="40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Component</a:t>
              </a:r>
            </a:p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analysis</a:t>
              </a:r>
            </a:p>
          </p:txBody>
        </p:sp>
        <p:sp>
          <p:nvSpPr>
            <p:cNvPr id="8" name="AutoShape 19"/>
            <p:cNvSpPr>
              <a:spLocks noChangeArrowheads="1"/>
            </p:cNvSpPr>
            <p:nvPr/>
          </p:nvSpPr>
          <p:spPr bwMode="gray">
            <a:xfrm>
              <a:off x="3846" y="2359"/>
              <a:ext cx="1134" cy="40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Requirements</a:t>
              </a:r>
            </a:p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Modification</a:t>
              </a:r>
            </a:p>
          </p:txBody>
        </p:sp>
        <p:sp>
          <p:nvSpPr>
            <p:cNvPr id="9" name="AutoShape 20"/>
            <p:cNvSpPr>
              <a:spLocks noChangeArrowheads="1"/>
            </p:cNvSpPr>
            <p:nvPr/>
          </p:nvSpPr>
          <p:spPr bwMode="gray">
            <a:xfrm>
              <a:off x="3846" y="3067"/>
              <a:ext cx="1134" cy="40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System design</a:t>
              </a:r>
            </a:p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With reuse</a:t>
              </a:r>
            </a:p>
          </p:txBody>
        </p:sp>
        <p:sp>
          <p:nvSpPr>
            <p:cNvPr id="10" name="AutoShape 21"/>
            <p:cNvSpPr>
              <a:spLocks noChangeArrowheads="1"/>
            </p:cNvSpPr>
            <p:nvPr/>
          </p:nvSpPr>
          <p:spPr bwMode="gray">
            <a:xfrm>
              <a:off x="2431" y="3050"/>
              <a:ext cx="1134" cy="40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Development</a:t>
              </a:r>
            </a:p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and integration</a:t>
              </a:r>
            </a:p>
          </p:txBody>
        </p:sp>
        <p:sp>
          <p:nvSpPr>
            <p:cNvPr id="11" name="AutoShape 22"/>
            <p:cNvSpPr>
              <a:spLocks noChangeArrowheads="1"/>
            </p:cNvSpPr>
            <p:nvPr/>
          </p:nvSpPr>
          <p:spPr bwMode="gray">
            <a:xfrm>
              <a:off x="1025" y="3040"/>
              <a:ext cx="1134" cy="40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FA5">
                    <a:gamma/>
                    <a:shade val="46275"/>
                    <a:invGamma/>
                  </a:srgbClr>
                </a:gs>
                <a:gs pos="50000">
                  <a:srgbClr val="878FA5"/>
                </a:gs>
                <a:gs pos="100000">
                  <a:srgbClr val="878FA5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System</a:t>
              </a:r>
            </a:p>
            <a:p>
              <a:pPr>
                <a:lnSpc>
                  <a:spcPct val="100000"/>
                </a:lnSpc>
                <a:defRPr/>
              </a:pPr>
              <a:r>
                <a:rPr lang="en-US" altLang="ko-KR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validation</a:t>
              </a:r>
            </a:p>
          </p:txBody>
        </p:sp>
        <p:sp>
          <p:nvSpPr>
            <p:cNvPr id="12" name="Line 23"/>
            <p:cNvSpPr>
              <a:spLocks noChangeShapeType="1"/>
            </p:cNvSpPr>
            <p:nvPr/>
          </p:nvSpPr>
          <p:spPr bwMode="auto">
            <a:xfrm>
              <a:off x="2194" y="255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3" name="Line 24"/>
            <p:cNvSpPr>
              <a:spLocks noChangeShapeType="1"/>
            </p:cNvSpPr>
            <p:nvPr/>
          </p:nvSpPr>
          <p:spPr bwMode="auto">
            <a:xfrm>
              <a:off x="3592" y="256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4" name="Line 25"/>
            <p:cNvSpPr>
              <a:spLocks noChangeShapeType="1"/>
            </p:cNvSpPr>
            <p:nvPr/>
          </p:nvSpPr>
          <p:spPr bwMode="auto">
            <a:xfrm>
              <a:off x="3574" y="325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>
              <a:off x="2167" y="324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>
              <a:off x="4417" y="2777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ko-KR"/>
              </a:defPPr>
              <a:lvl1pPr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Activity cost distribution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447817"/>
            <a:ext cx="7315200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Product development costs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1050" y="2890838"/>
            <a:ext cx="75819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Key points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Software engineering is an </a:t>
            </a:r>
            <a:r>
              <a:rPr lang="en-US" altLang="ko-KR" dirty="0">
                <a:solidFill>
                  <a:srgbClr val="0000FF"/>
                </a:solidFill>
              </a:rPr>
              <a:t>engineering discipline </a:t>
            </a:r>
            <a:r>
              <a:rPr lang="en-US" altLang="ko-KR" dirty="0"/>
              <a:t>that is concerned with </a:t>
            </a:r>
            <a:r>
              <a:rPr lang="en-US" altLang="ko-KR" dirty="0">
                <a:solidFill>
                  <a:srgbClr val="0000FF"/>
                </a:solidFill>
              </a:rPr>
              <a:t>all aspects of software production</a:t>
            </a:r>
          </a:p>
          <a:p>
            <a:endParaRPr lang="en-US" altLang="ko-KR" dirty="0"/>
          </a:p>
          <a:p>
            <a:r>
              <a:rPr lang="en-US" altLang="ko-KR" dirty="0"/>
              <a:t>Software products consist of developed </a:t>
            </a:r>
            <a:r>
              <a:rPr lang="en-US" altLang="ko-KR" dirty="0">
                <a:solidFill>
                  <a:srgbClr val="0000FF"/>
                </a:solidFill>
              </a:rPr>
              <a:t>programs</a:t>
            </a:r>
            <a:r>
              <a:rPr lang="en-US" altLang="ko-KR" dirty="0"/>
              <a:t> and associated </a:t>
            </a:r>
            <a:r>
              <a:rPr lang="en-US" altLang="ko-KR" dirty="0">
                <a:solidFill>
                  <a:srgbClr val="0000FF"/>
                </a:solidFill>
              </a:rPr>
              <a:t>documentation </a:t>
            </a:r>
          </a:p>
          <a:p>
            <a:pPr lvl="1"/>
            <a:r>
              <a:rPr lang="en-US" altLang="ko-KR" dirty="0"/>
              <a:t>Essential product attributes are </a:t>
            </a:r>
            <a:r>
              <a:rPr lang="en-US" altLang="ko-KR" dirty="0">
                <a:solidFill>
                  <a:srgbClr val="0000FF"/>
                </a:solidFill>
              </a:rPr>
              <a:t>maintainability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00FF"/>
                </a:solidFill>
              </a:rPr>
              <a:t>dependability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00FF"/>
                </a:solidFill>
              </a:rPr>
              <a:t>efficiency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rgbClr val="0000FF"/>
                </a:solidFill>
              </a:rPr>
              <a:t>usability</a:t>
            </a:r>
          </a:p>
          <a:p>
            <a:pPr>
              <a:buNone/>
            </a:pPr>
            <a:r>
              <a:rPr lang="en-US" altLang="ko-KR" dirty="0"/>
              <a:t> </a:t>
            </a:r>
          </a:p>
          <a:p>
            <a:r>
              <a:rPr lang="en-US" altLang="ko-KR" dirty="0"/>
              <a:t>The </a:t>
            </a:r>
            <a:r>
              <a:rPr lang="en-US" altLang="ko-KR" dirty="0">
                <a:solidFill>
                  <a:srgbClr val="0000FF"/>
                </a:solidFill>
              </a:rPr>
              <a:t>software process </a:t>
            </a:r>
            <a:r>
              <a:rPr lang="en-US" altLang="ko-KR" dirty="0"/>
              <a:t>consists of activities that are involved in </a:t>
            </a:r>
            <a:r>
              <a:rPr lang="en-US" altLang="ko-KR" dirty="0">
                <a:solidFill>
                  <a:srgbClr val="0000FF"/>
                </a:solidFill>
              </a:rPr>
              <a:t>developing software products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Basic activities are software </a:t>
            </a:r>
            <a:r>
              <a:rPr lang="en-US" altLang="ko-KR" dirty="0">
                <a:solidFill>
                  <a:srgbClr val="0000FF"/>
                </a:solidFill>
              </a:rPr>
              <a:t>specification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00FF"/>
                </a:solidFill>
              </a:rPr>
              <a:t>development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00FF"/>
                </a:solidFill>
              </a:rPr>
              <a:t>validation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rgbClr val="0000FF"/>
                </a:solidFill>
              </a:rPr>
              <a:t>evolution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10176</TotalTime>
  <Words>714</Words>
  <Application>Microsoft Office PowerPoint</Application>
  <PresentationFormat>화면 슬라이드 쇼(4:3)</PresentationFormat>
  <Paragraphs>205</Paragraphs>
  <Slides>25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굴림</vt:lpstr>
      <vt:lpstr>굴림체</vt:lpstr>
      <vt:lpstr>돋움</vt:lpstr>
      <vt:lpstr>Malgun Gothic</vt:lpstr>
      <vt:lpstr>Arial</vt:lpstr>
      <vt:lpstr>Times New Roman</vt:lpstr>
      <vt:lpstr>Webdings</vt:lpstr>
      <vt:lpstr>Wingdings</vt:lpstr>
      <vt:lpstr>Office 테마</vt:lpstr>
      <vt:lpstr>클립</vt:lpstr>
      <vt:lpstr>소프트웨어공학 소개</vt:lpstr>
      <vt:lpstr>목 차</vt:lpstr>
      <vt:lpstr>PowerPoint 프레젠테이션</vt:lpstr>
      <vt:lpstr>Do you want to build a dog hutch?</vt:lpstr>
      <vt:lpstr>Do you want to build a small house?</vt:lpstr>
      <vt:lpstr>Do you want to build a huge building?</vt:lpstr>
      <vt:lpstr>Can you everyone build such a building?</vt:lpstr>
      <vt:lpstr>Unmanned Combat Air Vehicle, X-45</vt:lpstr>
      <vt:lpstr>소프트웨어, 소프트웨어공학 그리고 소프트웨어 비용</vt:lpstr>
      <vt:lpstr>소프트웨어 공학과 컴퓨터 과학의 차이</vt:lpstr>
      <vt:lpstr>시스템 공학과 소프트웨어 공학의 차이</vt:lpstr>
      <vt:lpstr>소프트웨어 엔지니어와 프로그래머의 차이</vt:lpstr>
      <vt:lpstr>CASE (Computer-Aided Software Engineering)는 무엇인가?</vt:lpstr>
      <vt:lpstr>좋은 소프트웨어의 특징</vt:lpstr>
      <vt:lpstr>소프트웨어공학이 직면한 주요 도전 과제</vt:lpstr>
      <vt:lpstr>직업적 책임과 윤리</vt:lpstr>
      <vt:lpstr>PowerPoint 프레젠테이션</vt:lpstr>
      <vt:lpstr>SW 개발 프로세스란?</vt:lpstr>
      <vt:lpstr>대표적인 세가지 SW 개발 프로세스</vt:lpstr>
      <vt:lpstr>폭포수 모델 (Waterfall Model)</vt:lpstr>
      <vt:lpstr>진화 모델 (Evolution Model)</vt:lpstr>
      <vt:lpstr>컴포넌트 기반 모델 (Component-based Model)</vt:lpstr>
      <vt:lpstr>Activity cost distribution</vt:lpstr>
      <vt:lpstr>Product development costs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R.XeNoz</dc:creator>
  <cp:lastModifiedBy>박정민(A0256)</cp:lastModifiedBy>
  <cp:revision>388</cp:revision>
  <dcterms:created xsi:type="dcterms:W3CDTF">2009-09-09T07:37:10Z</dcterms:created>
  <dcterms:modified xsi:type="dcterms:W3CDTF">2025-09-16T02:36:43Z</dcterms:modified>
</cp:coreProperties>
</file>