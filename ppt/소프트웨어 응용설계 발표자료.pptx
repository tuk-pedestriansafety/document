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83" r:id="rId7"/>
    <p:sldId id="285" r:id="rId8"/>
    <p:sldId id="286" r:id="rId9"/>
    <p:sldId id="287" r:id="rId10"/>
    <p:sldId id="288" r:id="rId11"/>
    <p:sldId id="289" r:id="rId12"/>
    <p:sldId id="261" r:id="rId13"/>
    <p:sldId id="260" r:id="rId14"/>
    <p:sldId id="290" r:id="rId15"/>
    <p:sldId id="291" r:id="rId16"/>
    <p:sldId id="262" r:id="rId17"/>
    <p:sldId id="295" r:id="rId18"/>
    <p:sldId id="263" r:id="rId19"/>
    <p:sldId id="292" r:id="rId20"/>
    <p:sldId id="293" r:id="rId21"/>
    <p:sldId id="294" r:id="rId22"/>
    <p:sldId id="264" r:id="rId23"/>
    <p:sldId id="26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5" r:id="rId32"/>
    <p:sldId id="303" r:id="rId33"/>
    <p:sldId id="304" r:id="rId34"/>
    <p:sldId id="306" r:id="rId35"/>
    <p:sldId id="307" r:id="rId36"/>
    <p:sldId id="308" r:id="rId37"/>
    <p:sldId id="266" r:id="rId38"/>
    <p:sldId id="309" r:id="rId39"/>
    <p:sldId id="267" r:id="rId40"/>
    <p:sldId id="310" r:id="rId41"/>
    <p:sldId id="311" r:id="rId42"/>
    <p:sldId id="312" r:id="rId43"/>
    <p:sldId id="313" r:id="rId44"/>
    <p:sldId id="268" r:id="rId45"/>
    <p:sldId id="269" r:id="rId46"/>
    <p:sldId id="270" r:id="rId47"/>
    <p:sldId id="276" r:id="rId48"/>
    <p:sldId id="277" r:id="rId49"/>
    <p:sldId id="271" r:id="rId50"/>
    <p:sldId id="272" r:id="rId51"/>
    <p:sldId id="278" r:id="rId52"/>
    <p:sldId id="279" r:id="rId53"/>
    <p:sldId id="280" r:id="rId54"/>
    <p:sldId id="273" r:id="rId55"/>
    <p:sldId id="275" r:id="rId56"/>
    <p:sldId id="281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F8D88D6A-5F01-457D-8EC9-7B5F63248C40}" styleName="Normal Style 1 - Body/Background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6EB75EC-ACF4-43F1-940C-6C9C5489C1DE}" styleName="Normal Style 4 - Body/Background 4">
    <a:wholeTbl>
      <a:tcTxStyle>
        <a:fontRef idx="minor">
          <a:scrgbClr r="0" g="0" b="0"/>
        </a:fontRef>
        <a:schemeClr val="dk1"/>
      </a:tcTxStyle>
      <a:tcStyle>
        <a:tcBdr>
          <a:left>
            <a:ln w="40000" cmpd="sng">
              <a:solidFill>
                <a:schemeClr val="dk1"/>
              </a:solidFill>
            </a:ln>
          </a:left>
          <a:right>
            <a:ln w="40000" cmpd="sng">
              <a:solidFill>
                <a:schemeClr val="dk1"/>
              </a:solidFill>
            </a:ln>
          </a:right>
          <a:top>
            <a:ln w="40000" cmpd="sng">
              <a:solidFill>
                <a:schemeClr val="dk1"/>
              </a:solidFill>
            </a:ln>
          </a:top>
          <a:bottom>
            <a:ln w="400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5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5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dk1">
          <a:shade val="80000"/>
        </a:schemeClr>
      </a:tcTxStyle>
      <a:tcStyle>
        <a:tcBdr>
          <a:bottom>
            <a:ln w="35400" cmpd="sng">
              <a:solidFill>
                <a:schemeClr val="dk1">
                  <a:shade val="80000"/>
                </a:schemeClr>
              </a:solidFill>
            </a:ln>
          </a:bottom>
        </a:tcBdr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00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24" y="7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slide" Target="slides/slide35.xml"  /><Relationship Id="rId38" Type="http://schemas.openxmlformats.org/officeDocument/2006/relationships/slide" Target="slides/slide36.xml"  /><Relationship Id="rId39" Type="http://schemas.openxmlformats.org/officeDocument/2006/relationships/slide" Target="slides/slide37.xml"  /><Relationship Id="rId4" Type="http://schemas.openxmlformats.org/officeDocument/2006/relationships/slide" Target="slides/slide2.xml"  /><Relationship Id="rId40" Type="http://schemas.openxmlformats.org/officeDocument/2006/relationships/slide" Target="slides/slide38.xml"  /><Relationship Id="rId41" Type="http://schemas.openxmlformats.org/officeDocument/2006/relationships/slide" Target="slides/slide39.xml"  /><Relationship Id="rId42" Type="http://schemas.openxmlformats.org/officeDocument/2006/relationships/slide" Target="slides/slide40.xml"  /><Relationship Id="rId43" Type="http://schemas.openxmlformats.org/officeDocument/2006/relationships/slide" Target="slides/slide41.xml"  /><Relationship Id="rId44" Type="http://schemas.openxmlformats.org/officeDocument/2006/relationships/slide" Target="slides/slide42.xml"  /><Relationship Id="rId45" Type="http://schemas.openxmlformats.org/officeDocument/2006/relationships/slide" Target="slides/slide43.xml"  /><Relationship Id="rId46" Type="http://schemas.openxmlformats.org/officeDocument/2006/relationships/slide" Target="slides/slide44.xml"  /><Relationship Id="rId47" Type="http://schemas.openxmlformats.org/officeDocument/2006/relationships/slide" Target="slides/slide45.xml"  /><Relationship Id="rId48" Type="http://schemas.openxmlformats.org/officeDocument/2006/relationships/slide" Target="slides/slide46.xml"  /><Relationship Id="rId49" Type="http://schemas.openxmlformats.org/officeDocument/2006/relationships/slide" Target="slides/slide47.xml"  /><Relationship Id="rId5" Type="http://schemas.openxmlformats.org/officeDocument/2006/relationships/slide" Target="slides/slide3.xml"  /><Relationship Id="rId50" Type="http://schemas.openxmlformats.org/officeDocument/2006/relationships/slide" Target="slides/slide48.xml"  /><Relationship Id="rId51" Type="http://schemas.openxmlformats.org/officeDocument/2006/relationships/slide" Target="slides/slide49.xml"  /><Relationship Id="rId52" Type="http://schemas.openxmlformats.org/officeDocument/2006/relationships/slide" Target="slides/slide50.xml"  /><Relationship Id="rId53" Type="http://schemas.openxmlformats.org/officeDocument/2006/relationships/slide" Target="slides/slide51.xml"  /><Relationship Id="rId54" Type="http://schemas.openxmlformats.org/officeDocument/2006/relationships/slide" Target="slides/slide52.xml"  /><Relationship Id="rId55" Type="http://schemas.openxmlformats.org/officeDocument/2006/relationships/slide" Target="slides/slide53.xml"  /><Relationship Id="rId56" Type="http://schemas.openxmlformats.org/officeDocument/2006/relationships/slide" Target="slides/slide54.xml"  /><Relationship Id="rId57" Type="http://schemas.openxmlformats.org/officeDocument/2006/relationships/slide" Target="slides/slide55.xml"  /><Relationship Id="rId58" Type="http://schemas.openxmlformats.org/officeDocument/2006/relationships/presProps" Target="presProps.xml"  /><Relationship Id="rId59" Type="http://schemas.openxmlformats.org/officeDocument/2006/relationships/viewProps" Target="viewProps.xml"  /><Relationship Id="rId6" Type="http://schemas.openxmlformats.org/officeDocument/2006/relationships/slide" Target="slides/slide4.xml"  /><Relationship Id="rId60" Type="http://schemas.openxmlformats.org/officeDocument/2006/relationships/theme" Target="theme/theme1.xml"  /><Relationship Id="rId61" Type="http://schemas.openxmlformats.org/officeDocument/2006/relationships/tableStyles" Target="tableStyles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16668465-D334-4657-879C-DD8741229252}" type="datetime1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 altLang="ko-KR"/>
              <a:t>Click to edit Master text styles</a:t>
            </a:r>
            <a:endParaRPr lang="en-US" altLang="ko-KR"/>
          </a:p>
          <a:p>
            <a:pPr lvl="1">
              <a:defRPr/>
            </a:pPr>
            <a:r>
              <a:rPr lang="en-US" altLang="ko-KR"/>
              <a:t>Second level</a:t>
            </a:r>
            <a:endParaRPr lang="en-US" altLang="ko-KR"/>
          </a:p>
          <a:p>
            <a:pPr lvl="2">
              <a:defRPr/>
            </a:pPr>
            <a:r>
              <a:rPr lang="en-US" altLang="ko-KR"/>
              <a:t>Third level</a:t>
            </a:r>
            <a:endParaRPr lang="en-US" altLang="ko-KR"/>
          </a:p>
          <a:p>
            <a:pPr lvl="3">
              <a:defRPr/>
            </a:pPr>
            <a:r>
              <a:rPr lang="en-US" altLang="ko-KR"/>
              <a:t>Fourth level</a:t>
            </a:r>
            <a:endParaRPr lang="en-US" altLang="ko-KR"/>
          </a:p>
          <a:p>
            <a:pPr lvl="4">
              <a:defRPr/>
            </a:pPr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9A4BA605-15B5-4CAD-807D-CD3DB072E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295675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A605-15B5-4CAD-807D-CD3DB072E04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63631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FE66-ACD3-963D-BA68-3E6F89C19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29E2B-5896-0874-FF2B-DA4277861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3A390-0BDC-B1B6-396C-BAFCDA52C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05C4D-3CF4-0EB1-2AFD-FC787FCD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81B63-7E49-7454-0DCB-6A1D5A705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808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7F211-7257-6E47-AAA9-56701A8E8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06EBD-3534-5D58-A452-22A532714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50316-B835-3324-3D6D-7A5580367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4A430-AAD7-E3CC-65CF-B1A22420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9E807-36C3-075B-6A39-327DFD63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27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1DA13-242E-2762-ACAE-E9136805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CB62C-D64D-C21E-384F-E2DC55427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D294F-6D3F-27FB-6DB4-1E471DF5D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CD277-F29D-FEDD-937F-1FFAAEEF5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F556D-4AA8-FD95-076E-7B873E30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F21E-E861-2404-45B7-CE99284D5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D6A5-E59B-C23C-4AF7-50D03E56E5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8BFA46-0C2D-099E-76BE-5904F4C75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726CA-7362-2A40-FCA6-45AE1B71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0A70E-D6D8-B3DE-8C4A-D61CDB40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7D4EE-8203-A76E-7054-F3D3D4DE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341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B9F6C-58B0-0AA8-0098-7E16422C1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E5552-DAAA-39FF-4F40-EA3A73EDC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74E52-58A3-80A6-BFD6-4A1248715A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77357F-352C-0691-7A53-2E2DB4A26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E2E32-E4CE-60BB-001B-924995F46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DBCAD-73EA-EE39-2689-F03340B29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9029E0-DE30-96ED-977C-62BBF47B3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8734CD-8A27-EE9B-51C6-8B1916B5C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19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13CC-BBAD-B513-211A-242D22C7E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81747-AFE4-7061-7BFD-74A77653D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28259-39AF-FD41-EDB1-37F42AE9F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B063E-B9EA-5F5F-EDFF-B60720AFB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32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3D6908-AFC5-9798-4F44-E87B1CDC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0FC89B-A1EB-1A55-5DF8-8622E8C6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7478F-8B50-BB4A-DF1B-69C3679D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2168-6CE9-47D0-C968-A67A9C986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4A151-2DB8-25B4-C36A-628839044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E8512-D96E-CFC4-27E0-38B4D1D7A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E75EC-ABBC-89C0-5768-7F92B1DF5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E4F50-84B6-55A7-24C0-0077E3F5D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9ABDB-C0F0-A0DC-D337-69CAC576C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2CDC-BFCC-6C34-605D-A5D59D58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0889-1858-05A7-1DD0-F83AFD0A8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D218F9-D604-4C5E-A5E6-B72ACAA14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68D85-F2ED-C4B5-2550-F5EC3212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4D9B7-6EC0-9A5C-D320-8F5679E0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2BA83-55B0-EF50-D15C-2F794AEF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78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14327-C68C-A8FB-4F3F-F616324D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EB54A7-A704-F138-FBD8-BFC5E747E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23EBE-F0DD-CC84-F550-2FA34990D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36D24-890A-5999-2AD5-5CF71A55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D1EFD-5D45-86D7-1E76-B9C26E568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6421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F02FB4-A746-388B-71E3-22F668AAE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A24505-1C62-B9BF-B5EF-CBB9C7069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F13C1-F554-F254-40F1-32F4E2770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2C533-DFF5-17A5-58B0-EF3D3934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E8FEF-0795-E09C-86D4-7C3BEB48F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612014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54455-04CA-CB30-0D88-BD91484BB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8AA7B-B686-5489-A8BF-BAB41D251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E191B-D645-C229-188C-ADCE11616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A11A3-0B59-F601-0194-CD556D7C6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A11ABC-DDA8-E634-C519-3F205F1F5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126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6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7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8.png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Relationship Id="rId5" Type="http://schemas.openxmlformats.org/officeDocument/2006/relationships/image" Target="../media/image11.png"  /><Relationship Id="rId6" Type="http://schemas.openxmlformats.org/officeDocument/2006/relationships/image" Target="../media/image12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3.png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b="1"/>
              <a:t>소프트웨어 응용설계</a:t>
            </a:r>
            <a:endParaRPr lang="ko-KR" altLang="en-US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3733B-44EE-2DAD-4C3E-9A0B9EE017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조 </a:t>
            </a:r>
            <a:r>
              <a:rPr lang="en-US" altLang="ko-KR" dirty="0"/>
              <a:t>(</a:t>
            </a:r>
            <a:r>
              <a:rPr lang="ko-KR" altLang="en-US" dirty="0"/>
              <a:t>이현직</a:t>
            </a:r>
            <a:r>
              <a:rPr lang="en-US" altLang="ko-KR" dirty="0"/>
              <a:t>, </a:t>
            </a:r>
            <a:r>
              <a:rPr lang="ko-KR" altLang="en-US" dirty="0"/>
              <a:t>송정우</a:t>
            </a:r>
            <a:r>
              <a:rPr lang="en-US" altLang="ko-KR" dirty="0"/>
              <a:t>, </a:t>
            </a:r>
            <a:r>
              <a:rPr lang="ko-KR" altLang="en-US" dirty="0"/>
              <a:t>정승호</a:t>
            </a:r>
            <a:r>
              <a:rPr lang="en-US" altLang="ko-KR" dirty="0"/>
              <a:t>, </a:t>
            </a:r>
            <a:r>
              <a:rPr lang="ko-KR" altLang="en-US" dirty="0"/>
              <a:t>편종윤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059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b="1"/>
              <a:t>목차</a:t>
            </a:r>
            <a:endParaRPr lang="ko-KR" alt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1 - </a:t>
            </a:r>
            <a:r>
              <a:rPr lang="en-US" altLang="ko-KR" b="1"/>
              <a:t>Autonomic Computing Evaluation</a:t>
            </a:r>
            <a:endParaRPr lang="en-US" altLang="ko-KR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2 - </a:t>
            </a:r>
            <a:r>
              <a:rPr lang="en-US" altLang="ko-KR" b="1"/>
              <a:t>System</a:t>
            </a:r>
            <a:r>
              <a:rPr lang="ko-KR" altLang="en-US" b="1"/>
              <a:t> </a:t>
            </a:r>
            <a:r>
              <a:rPr lang="en-US" altLang="ko-KR" b="1"/>
              <a:t>Design</a:t>
            </a:r>
            <a:endParaRPr lang="en-US" altLang="ko-KR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3 - </a:t>
            </a:r>
            <a:r>
              <a:rPr lang="en-US" altLang="ko-KR" b="1"/>
              <a:t>System Status Analysis</a:t>
            </a:r>
            <a:endParaRPr lang="en-US" altLang="ko-KR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4 - </a:t>
            </a:r>
            <a:r>
              <a:rPr lang="en-US" altLang="ko-KR" b="1"/>
              <a:t>Critical System</a:t>
            </a:r>
            <a:endParaRPr lang="en-US" altLang="ko-KR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5 - </a:t>
            </a:r>
            <a:r>
              <a:rPr lang="en-US" altLang="ko-KR" b="1"/>
              <a:t>Critical System for Risk Management</a:t>
            </a:r>
            <a:endParaRPr lang="en-US" altLang="ko-KR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6 - </a:t>
            </a:r>
            <a:r>
              <a:rPr lang="en-US" altLang="ko-KR" b="1"/>
              <a:t>Final Presentation and Demo</a:t>
            </a:r>
            <a:endParaRPr lang="en-US" altLang="ko-KR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/>
              <a:t>마무리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316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>
          <a:xfrm>
            <a:off x="449679" y="365125"/>
            <a:ext cx="7958890" cy="100327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ko-KR" altLang="en-US" sz="3000"/>
              <a:t>과제 </a:t>
            </a:r>
            <a:r>
              <a:rPr lang="en-US" altLang="ko-KR" sz="3000"/>
              <a:t>1 - </a:t>
            </a:r>
            <a:r>
              <a:rPr lang="en-US" altLang="ko-KR" sz="3000" b="1"/>
              <a:t>Autonomic Computing Evaluation</a:t>
            </a:r>
            <a:endParaRPr lang="en-US" altLang="ko-KR" sz="3000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1525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b="1"/>
              <a:t>Reliability</a:t>
            </a:r>
            <a:r>
              <a:rPr lang="ko-KR" altLang="en-US" b="1"/>
              <a:t> </a:t>
            </a:r>
            <a:r>
              <a:rPr lang="en-US" altLang="ko-KR" b="1"/>
              <a:t>(</a:t>
            </a:r>
            <a:r>
              <a:rPr lang="ko-KR" altLang="en-US" b="1"/>
              <a:t>신뢰성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구성 요소</a:t>
            </a:r>
            <a:r>
              <a:rPr lang="en-US" altLang="ko-KR"/>
              <a:t>, </a:t>
            </a:r>
            <a:r>
              <a:rPr lang="ko-KR" altLang="en-US"/>
              <a:t>통신</a:t>
            </a:r>
            <a:r>
              <a:rPr lang="en-US" altLang="ko-KR"/>
              <a:t>, </a:t>
            </a:r>
            <a:r>
              <a:rPr lang="ko-KR" altLang="en-US"/>
              <a:t>서비스 또는 시스템이 목적을 성공적으로 달성할 </a:t>
            </a:r>
            <a:r>
              <a:rPr lang="ko-KR" altLang="en-US" b="1">
                <a:solidFill>
                  <a:srgbClr val="ff0000"/>
                </a:solidFill>
              </a:rPr>
              <a:t>확률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endParaRPr lang="en-US" altLang="ko-KR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Autonomic</a:t>
            </a:r>
            <a:r>
              <a:rPr lang="ko-KR" altLang="en-US" b="1"/>
              <a:t> </a:t>
            </a:r>
            <a:r>
              <a:rPr lang="en-US" altLang="ko-KR" b="1"/>
              <a:t>Computing</a:t>
            </a:r>
            <a:r>
              <a:rPr lang="ko-KR" altLang="en-US" b="1"/>
              <a:t> </a:t>
            </a:r>
            <a:r>
              <a:rPr lang="en-US" altLang="ko-KR" b="1"/>
              <a:t>(</a:t>
            </a:r>
            <a:r>
              <a:rPr lang="ko-KR" altLang="en-US" b="1"/>
              <a:t>자율 컴퓨팅</a:t>
            </a:r>
            <a:r>
              <a:rPr lang="en-US" altLang="ko-KR" b="1"/>
              <a:t>)</a:t>
            </a:r>
            <a:r>
              <a:rPr lang="ko-KR" altLang="en-US"/>
              <a:t>의 필요성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인간의 개입만으로 관리되는 시스템의 복잡성이 급격히 증가함 </a:t>
            </a:r>
            <a:endParaRPr lang="ko-KR" altLang="en-US"/>
          </a:p>
          <a:p>
            <a:pPr lvl="2">
              <a:lnSpc>
                <a:spcPct val="130000"/>
              </a:lnSpc>
              <a:buFont typeface="Wingdings"/>
              <a:buChar char="è"/>
              <a:defRPr/>
            </a:pPr>
            <a:r>
              <a:rPr lang="ko-KR" altLang="en-US" b="1"/>
              <a:t>신뢰성 저하 추세</a:t>
            </a:r>
            <a:r>
              <a:rPr lang="ko-KR" altLang="en-US"/>
              <a:t>가 가속화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 b="1"/>
              <a:t>신뢰성 향상을 위해 </a:t>
            </a:r>
            <a:r>
              <a:rPr lang="ko-KR" altLang="en-US" b="1">
                <a:solidFill>
                  <a:srgbClr val="ff0000"/>
                </a:solidFill>
              </a:rPr>
              <a:t>인간의 개입을 줄이고</a:t>
            </a:r>
            <a:r>
              <a:rPr lang="ko-KR" altLang="en-US" b="1"/>
              <a:t> 자율 시스템으로 전환</a:t>
            </a:r>
            <a:endParaRPr lang="en-US" altLang="ko-KR" b="1"/>
          </a:p>
        </p:txBody>
      </p:sp>
    </p:spTree>
    <p:extLst>
      <p:ext uri="{BB962C8B-B14F-4D97-AF65-F5344CB8AC3E}">
        <p14:creationId xmlns:p14="http://schemas.microsoft.com/office/powerpoint/2010/main" val="3131922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575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b="1"/>
              <a:t>Autonomic Computing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자율 신경계가 우리 몸을 조절하고 보호하는 것과 같은 방식으로 스스로를 조절할 수 있는 컴퓨터 시스템 </a:t>
            </a:r>
            <a:r>
              <a:rPr lang="en-US" altLang="ko-KR"/>
              <a:t>(by</a:t>
            </a:r>
            <a:r>
              <a:rPr lang="ko-KR" altLang="en-US"/>
              <a:t> </a:t>
            </a:r>
            <a:r>
              <a:rPr lang="en-US" altLang="ko-KR"/>
              <a:t>Paul Horn, IBM)</a:t>
            </a:r>
            <a:endParaRPr lang="en-US" altLang="ko-KR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Principle Characteristics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자기 인식 </a:t>
            </a:r>
            <a:r>
              <a:rPr lang="en-US" altLang="ko-KR"/>
              <a:t>-</a:t>
            </a:r>
            <a:r>
              <a:rPr lang="ko-KR" altLang="en-US"/>
              <a:t> 감각을 갖추고 성능을 향상시키기 위해 노력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자율 규제 </a:t>
            </a:r>
            <a:r>
              <a:rPr lang="en-US" altLang="ko-KR"/>
              <a:t>-</a:t>
            </a:r>
            <a:r>
              <a:rPr lang="ko-KR" altLang="en-US"/>
              <a:t> 규율 의식을 가지고 있으며 환경 변화에 따라 행동을 조절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개방성 </a:t>
            </a:r>
            <a:r>
              <a:rPr lang="en-US" altLang="ko-KR"/>
              <a:t>-</a:t>
            </a:r>
            <a:r>
              <a:rPr lang="ko-KR" altLang="en-US"/>
              <a:t> 개방형 표준을 통해 소통하고 이기종 시스템과 리소스를 교환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문맥 인식 </a:t>
            </a:r>
            <a:r>
              <a:rPr lang="en-US" altLang="ko-KR"/>
              <a:t>-</a:t>
            </a:r>
            <a:r>
              <a:rPr lang="ko-KR" altLang="en-US"/>
              <a:t> 환경과 사용자의 행동을 포함한 활동의 주변 맥락을 고려</a:t>
            </a:r>
            <a:endParaRPr lang="ko-KR" altLang="en-US"/>
          </a:p>
          <a:p>
            <a:pPr>
              <a:lnSpc>
                <a:spcPct val="130000"/>
              </a:lnSpc>
              <a:defRPr/>
            </a:pPr>
            <a:endParaRPr lang="en-US" altLang="ko-KR"/>
          </a:p>
          <a:p>
            <a:pPr>
              <a:lnSpc>
                <a:spcPct val="130000"/>
              </a:lnSpc>
              <a:defRPr/>
            </a:pP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1 -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69546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30000"/>
              </a:lnSpc>
              <a:defRPr/>
            </a:pPr>
            <a:r>
              <a:rPr lang="en-US" altLang="ko-KR" b="1"/>
              <a:t>Self-Protecting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어디서나 무단 액세스로부터 스스로를 보호하도록 설계된 시스템</a:t>
            </a:r>
            <a:endParaRPr lang="ko-KR" altLang="en-US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Self-Optimizing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서버가 기업의 요구를 가장 효율적으로 충족할 수 있도록 리소스를 자동으로 관리하도록 설계된 시스템</a:t>
            </a:r>
            <a:endParaRPr lang="ko-KR" altLang="en-US"/>
          </a:p>
          <a:p>
            <a:pPr lvl="0">
              <a:lnSpc>
                <a:spcPct val="100000"/>
              </a:lnSpc>
              <a:defRPr/>
            </a:pPr>
            <a:r>
              <a:rPr lang="en-US" altLang="ko-KR" b="1"/>
              <a:t>Self-Configuring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즉석에서 스스로를 정의하도록 설계된 시스템</a:t>
            </a:r>
            <a:endParaRPr lang="ko-KR" altLang="en-US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Self-Healing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자율적으로 문제를 결정하고 해결하는 시스템</a:t>
            </a:r>
            <a:endParaRPr lang="en-US" altLang="ko-KR"/>
          </a:p>
        </p:txBody>
      </p:sp>
      <p:pic>
        <p:nvPicPr>
          <p:cNvPr id="4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536426" y="4273128"/>
            <a:ext cx="4492645" cy="2377828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1 -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1887145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171" y="2503283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 lvl="0">
              <a:lnSpc>
                <a:spcPct val="130000"/>
              </a:lnSpc>
              <a:defRPr/>
            </a:pPr>
            <a:r>
              <a:rPr lang="ko-KR" altLang="en-US" b="1"/>
              <a:t>혼동행렬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어떤 개인이나 모델, 검사도구, 알고리즘의 진단·분류·판별·예측 능력을 평가하기 위하여 고안된 표</a:t>
            </a:r>
            <a:endParaRPr lang="ko-KR" altLang="en-US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Accuracy(</a:t>
            </a:r>
            <a:r>
              <a:rPr lang="ko-KR" altLang="en-US" b="1"/>
              <a:t>정확도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/>
              <a:t>예측이 현실에 부합할 확률</a:t>
            </a:r>
            <a:endParaRPr lang="en-US" altLang="ko-KR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Precision(</a:t>
            </a:r>
            <a:r>
              <a:rPr lang="ko-KR" altLang="en-US" b="1"/>
              <a:t>정밀도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/>
              <a:t>예측 결과가 긍정적일 때 현실도 실제로 긍정일 확률</a:t>
            </a:r>
            <a:endParaRPr lang="en-US" altLang="ko-KR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Recall(</a:t>
            </a:r>
            <a:r>
              <a:rPr lang="ko-KR" altLang="en-US" b="1"/>
              <a:t>재현율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/>
              <a:t>현실이 실제로 긍정</a:t>
            </a:r>
            <a:r>
              <a:rPr lang="ko-KR" altLang="en-US"/>
              <a:t>일</a:t>
            </a:r>
            <a:r>
              <a:rPr lang="en-US" altLang="ko-KR"/>
              <a:t> 때 예측 결과도 긍정적일 확률</a:t>
            </a:r>
            <a:endParaRPr lang="en-US" altLang="ko-KR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F1-score(</a:t>
            </a:r>
            <a:r>
              <a:rPr lang="ko-KR" altLang="en-US" b="1"/>
              <a:t>조화평균</a:t>
            </a:r>
            <a:r>
              <a:rPr lang="en-US" altLang="ko-KR" b="1"/>
              <a:t>)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정밀도와 재현율 사이에 하나가 높아지면 다른 하나가 낮아지는 상황이 자주 발생하기에</a:t>
            </a:r>
            <a:endParaRPr lang="ko-KR" altLang="en-US"/>
          </a:p>
          <a:p>
            <a:pPr marL="457200" lvl="1" indent="0">
              <a:lnSpc>
                <a:spcPct val="130000"/>
              </a:lnSpc>
              <a:buNone/>
              <a:defRPr/>
            </a:pPr>
            <a:r>
              <a:rPr lang="en-US" altLang="ko-KR"/>
              <a:t>   </a:t>
            </a:r>
            <a:r>
              <a:rPr lang="ko-KR" altLang="en-US"/>
              <a:t>이를 보정하기 위해 개발된 평가용 지수</a:t>
            </a:r>
            <a:endParaRPr lang="ko-KR" altLang="en-US"/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1 -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"/>
              <p:cNvSpPr/>
              <p:nvPr/>
            </p:nvSpPr>
            <p:spPr>
              <a:xfrm>
                <a:off x="3676649" y="3278290"/>
                <a:ext cx="2419350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6" name=""/>
              <p:cNvSpPr txBox="1"/>
              <p:nvPr/>
            </p:nvSpPr>
            <p:spPr>
              <a:xfrm>
                <a:off x="3676649" y="3278290"/>
                <a:ext cx="2419350" cy="69532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"/>
              <p:cNvSpPr/>
              <p:nvPr/>
            </p:nvSpPr>
            <p:spPr>
              <a:xfrm>
                <a:off x="5940592" y="4118334"/>
                <a:ext cx="1295400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7" name=""/>
              <p:cNvSpPr txBox="1"/>
              <p:nvPr/>
            </p:nvSpPr>
            <p:spPr>
              <a:xfrm>
                <a:off x="5940592" y="4118334"/>
                <a:ext cx="1295400" cy="69532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"/>
              <p:cNvSpPr/>
              <p:nvPr/>
            </p:nvSpPr>
            <p:spPr>
              <a:xfrm>
                <a:off x="5963903" y="4918038"/>
                <a:ext cx="1323975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8" name=""/>
              <p:cNvSpPr txBox="1"/>
              <p:nvPr/>
            </p:nvSpPr>
            <p:spPr>
              <a:xfrm>
                <a:off x="5963903" y="4918038"/>
                <a:ext cx="1323975" cy="69532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"/>
              <p:cNvSpPr/>
              <p:nvPr/>
            </p:nvSpPr>
            <p:spPr>
              <a:xfrm>
                <a:off x="9002708" y="5727824"/>
                <a:ext cx="2209800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2*정밀도*재현율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정밀도+재현율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" name=""/>
              <p:cNvSpPr txBox="1"/>
              <p:nvPr/>
            </p:nvSpPr>
            <p:spPr>
              <a:xfrm>
                <a:off x="9002708" y="5727824"/>
                <a:ext cx="2209800" cy="69532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</p:sp>
        </mc:Fallback>
      </mc:AlternateContent>
      <p:graphicFrame>
        <p:nvGraphicFramePr>
          <p:cNvPr id="12" name=""/>
          <p:cNvGraphicFramePr>
            <a:graphicFrameLocks noGrp="1"/>
          </p:cNvGraphicFramePr>
          <p:nvPr/>
        </p:nvGraphicFramePr>
        <p:xfrm>
          <a:off x="4290161" y="1254909"/>
          <a:ext cx="3611678" cy="1403985"/>
        </p:xfrm>
        <a:graphic>
          <a:graphicData uri="http://schemas.openxmlformats.org/drawingml/2006/table">
            <a:tbl>
              <a:tblPr firstRow="1" bandRow="1">
                <a:tableStyle styleId="{26EB75EC-ACF4-43F1-940C-6C9C5489C1DE}" styleName="Normal Style 4 - Body/Background 4">
                  <a:wholeTbl>
                    <a:tcTxStyle>
                      <a:fontRef idx="minor">
                        <a:scrgbClr r="0" g="0" b="0"/>
                      </a:fontRef>
                      <a:schemeClr val="dk1"/>
                    </a:tcTxStyle>
                    <a:tcStyle>
                      <a:tcBdr>
                        <a:left>
                          <a:ln w="40000" cmpd="sng">
                            <a:solidFill>
                              <a:schemeClr val="dk1"/>
                            </a:solidFill>
                          </a:ln>
                        </a:left>
                        <a:right>
                          <a:ln w="40000" cmpd="sng">
                            <a:solidFill>
                              <a:schemeClr val="dk1"/>
                            </a:solidFill>
                          </a:ln>
                        </a:right>
                        <a:top>
                          <a:ln w="40000" cmpd="sng">
                            <a:solidFill>
                              <a:schemeClr val="dk1"/>
                            </a:solidFill>
                          </a:ln>
                        </a:top>
                        <a:bottom>
                          <a:ln w="40000" cmpd="sng">
                            <a:solidFill>
                              <a:schemeClr val="dk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dk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dk1"/>
                            </a:solidFill>
                          </a:ln>
                        </a:insideV>
                      </a:tcBdr>
                      <a:fill>
                        <a:solidFill>
                          <a:schemeClr val="dk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H>
                  <a:band1V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V>
                  <a:lastCol>
                    <a:tcTxStyle b="on"/>
                    <a:tcStyle>
                      <a:tcBdr/>
                    </a:tcStyle>
                  </a:lastCol>
                  <a:firstCol>
                    <a:tcTxStyle b="on"/>
                    <a:tcStyle>
                      <a:tcBdr/>
                    </a:tcStyle>
                  </a:firstCol>
                  <a:lastRow>
                    <a:tcTxStyle b="on"/>
                    <a:tcStyle>
                      <a:tcBdr>
                        <a:top>
                          <a:ln w="25400" cmpd="sng">
                            <a:solidFill>
                              <a:schemeClr val="dk1"/>
                            </a:solidFill>
                          </a:ln>
                        </a:top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scrgbClr r="0" g="0" b="0"/>
                      </a:fontRef>
                      <a:schemeClr val="dk1">
                        <a:shade val="80000"/>
                      </a:schemeClr>
                    </a:tcTxStyle>
                    <a:tcStyle>
                      <a:tcBdr>
                        <a:bottom>
                          <a:ln w="35400" cmpd="sng">
                            <a:solidFill>
                              <a:schemeClr val="dk1">
                                <a:shade val="80000"/>
                              </a:schemeClr>
                            </a:solidFill>
                          </a:ln>
                        </a:bottom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firstRow>
                </a:tableStyle>
              </a:tblPr>
              <a:tblGrid>
                <a:gridCol w="662738"/>
                <a:gridCol w="982980"/>
                <a:gridCol w="992505"/>
                <a:gridCol w="973455"/>
              </a:tblGrid>
              <a:tr h="292105">
                <a:tc rowSpan="2"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808080"/>
                    </a:solidFill>
                  </a:tcPr>
                </a:tc>
                <a:tc rowSpan="2"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/>
                        <a:t>Knowledge</a:t>
                      </a: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</a:tr>
              <a:tr h="292105">
                <a:tc gridSpan="2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hMerge="1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</a:tr>
              <a:tr h="292105">
                <a:tc row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MA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TP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FP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</a:tr>
              <a:tr h="292105"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FN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TN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07263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933" y="3681899"/>
            <a:ext cx="4658049" cy="3295165"/>
          </a:xfrm>
        </p:spPr>
        <p:txBody>
          <a:bodyPr>
            <a:normAutofit lnSpcReduction="10000"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1. Accuracy(</a:t>
            </a:r>
            <a:r>
              <a:rPr lang="ko-KR" altLang="en-US" sz="1900" b="1"/>
              <a:t>정확도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lvl="1">
              <a:lnSpc>
                <a:spcPct val="130000"/>
              </a:lnSpc>
              <a:defRPr/>
            </a:pPr>
            <a:r>
              <a:rPr lang="ko-KR" altLang="en-US" sz="1500"/>
              <a:t>해당 시스템의 예측성공 비율</a:t>
            </a:r>
            <a:endParaRPr lang="en-US" altLang="ko-KR" sz="1500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(130 + 600) / 800 * 100(%) = 91.25(%)</a:t>
            </a:r>
            <a:endParaRPr lang="en-US" altLang="ko-KR" sz="1500"/>
          </a:p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2. Precision(</a:t>
            </a:r>
            <a:r>
              <a:rPr lang="ko-KR" altLang="en-US" sz="1900" b="1"/>
              <a:t>정밀도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API </a:t>
            </a:r>
            <a:r>
              <a:rPr lang="ko-KR" altLang="en-US" sz="1500"/>
              <a:t>호출이 비정상이라고 예측했을 때</a:t>
            </a:r>
            <a:r>
              <a:rPr lang="en-US" altLang="ko-KR" sz="1500"/>
              <a:t>, </a:t>
            </a:r>
            <a:r>
              <a:rPr lang="ko-KR" altLang="en-US" sz="1500"/>
              <a:t>실제 비정상인 비율</a:t>
            </a:r>
            <a:endParaRPr lang="en-US" altLang="ko-KR" sz="1500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130/180 * 100(%) = 72.22(%)</a:t>
            </a:r>
            <a:endParaRPr lang="en-US" altLang="ko-KR" sz="1500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1 -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7374444" y="1488174"/>
          <a:ext cx="3611677" cy="1403985"/>
        </p:xfrm>
        <a:graphic>
          <a:graphicData uri="http://schemas.openxmlformats.org/drawingml/2006/table">
            <a:tbl>
              <a:tblPr firstRow="1" bandRow="1">
                <a:tableStyle styleId="{26EB75EC-ACF4-43F1-940C-6C9C5489C1DE}" styleName="Normal Style 4 - Body/Background 4">
                  <a:wholeTbl>
                    <a:tcTxStyle>
                      <a:fontRef idx="minor">
                        <a:scrgbClr r="0" g="0" b="0"/>
                      </a:fontRef>
                      <a:schemeClr val="dk1"/>
                    </a:tcTxStyle>
                    <a:tcStyle>
                      <a:tcBdr>
                        <a:left>
                          <a:ln w="40000" cmpd="sng">
                            <a:solidFill>
                              <a:schemeClr val="dk1"/>
                            </a:solidFill>
                          </a:ln>
                        </a:left>
                        <a:right>
                          <a:ln w="40000" cmpd="sng">
                            <a:solidFill>
                              <a:schemeClr val="dk1"/>
                            </a:solidFill>
                          </a:ln>
                        </a:right>
                        <a:top>
                          <a:ln w="40000" cmpd="sng">
                            <a:solidFill>
                              <a:schemeClr val="dk1"/>
                            </a:solidFill>
                          </a:ln>
                        </a:top>
                        <a:bottom>
                          <a:ln w="40000" cmpd="sng">
                            <a:solidFill>
                              <a:schemeClr val="dk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dk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dk1"/>
                            </a:solidFill>
                          </a:ln>
                        </a:insideV>
                      </a:tcBdr>
                      <a:fill>
                        <a:solidFill>
                          <a:schemeClr val="dk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H>
                  <a:band1V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V>
                  <a:lastCol>
                    <a:tcTxStyle b="on"/>
                    <a:tcStyle>
                      <a:tcBdr/>
                    </a:tcStyle>
                  </a:lastCol>
                  <a:firstCol>
                    <a:tcTxStyle b="on"/>
                    <a:tcStyle>
                      <a:tcBdr/>
                    </a:tcStyle>
                  </a:firstCol>
                  <a:lastRow>
                    <a:tcTxStyle b="on"/>
                    <a:tcStyle>
                      <a:tcBdr>
                        <a:top>
                          <a:ln w="25400" cmpd="sng">
                            <a:solidFill>
                              <a:schemeClr val="dk1"/>
                            </a:solidFill>
                          </a:ln>
                        </a:top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scrgbClr r="0" g="0" b="0"/>
                      </a:fontRef>
                      <a:schemeClr val="dk1">
                        <a:shade val="80000"/>
                      </a:schemeClr>
                    </a:tcTxStyle>
                    <a:tcStyle>
                      <a:tcBdr>
                        <a:bottom>
                          <a:ln w="35400" cmpd="sng">
                            <a:solidFill>
                              <a:schemeClr val="dk1">
                                <a:shade val="80000"/>
                              </a:schemeClr>
                            </a:solidFill>
                          </a:ln>
                        </a:bottom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firstRow>
                </a:tableStyle>
              </a:tblPr>
              <a:tblGrid>
                <a:gridCol w="662738"/>
                <a:gridCol w="982980"/>
                <a:gridCol w="992505"/>
                <a:gridCol w="973454"/>
              </a:tblGrid>
              <a:tr h="292105">
                <a:tc rowSpan="2"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808080"/>
                    </a:solidFill>
                  </a:tcPr>
                </a:tc>
                <a:tc rowSpan="2"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/>
                        <a:t>Knowledge</a:t>
                      </a: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</a:tr>
              <a:tr h="292105">
                <a:tc gridSpan="2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hMerge="1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</a:tr>
              <a:tr h="292105">
                <a:tc row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MA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TP(130)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FP(50)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</a:tr>
              <a:tr h="292105"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FN(20)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 b="1"/>
                        <a:t>TN(600)</a:t>
                      </a:r>
                      <a:endParaRPr lang="en-US" altLang="ko-KR" sz="15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"/>
          <p:cNvSpPr txBox="1"/>
          <p:nvPr/>
        </p:nvSpPr>
        <p:spPr>
          <a:xfrm>
            <a:off x="438610" y="1301236"/>
            <a:ext cx="7134840" cy="2363984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30000"/>
              </a:lnSpc>
              <a:defRPr/>
            </a:pPr>
            <a:r>
              <a:rPr lang="ko-KR" altLang="en-US" sz="1500"/>
              <a:t>예제</a:t>
            </a:r>
            <a:r>
              <a:rPr lang="en-US" altLang="ko-KR" sz="1500"/>
              <a:t>)</a:t>
            </a:r>
            <a:r>
              <a:rPr lang="ko-KR" altLang="en-US" sz="1500"/>
              <a:t> </a:t>
            </a:r>
            <a:r>
              <a:rPr lang="en-US" altLang="ko-KR" b="1"/>
              <a:t>API</a:t>
            </a:r>
            <a:r>
              <a:rPr lang="ko-KR" altLang="en-US" b="1"/>
              <a:t> 호출의 경우</a:t>
            </a:r>
            <a:endParaRPr lang="ko-KR" altLang="en-US" b="1"/>
          </a:p>
          <a:p>
            <a:pPr>
              <a:lnSpc>
                <a:spcPct val="50000"/>
              </a:lnSpc>
              <a:defRPr/>
            </a:pPr>
            <a:endParaRPr lang="ko-KR" altLang="en-US" b="1"/>
          </a:p>
          <a:p>
            <a:pPr lvl="0">
              <a:lnSpc>
                <a:spcPct val="130000"/>
              </a:lnSpc>
              <a:defRPr/>
            </a:pPr>
            <a:r>
              <a:rPr lang="ko-KR" altLang="en-US" sz="1500" b="1"/>
              <a:t>총 </a:t>
            </a:r>
            <a:r>
              <a:rPr lang="en-US" altLang="ko-KR" sz="1500" b="1"/>
              <a:t>800</a:t>
            </a:r>
            <a:r>
              <a:rPr lang="ko-KR" altLang="en-US" sz="1500" b="1"/>
              <a:t>건</a:t>
            </a:r>
            <a:r>
              <a:rPr lang="ko-KR" altLang="en-US" sz="1500"/>
              <a:t>의 </a:t>
            </a:r>
            <a:r>
              <a:rPr lang="en-US" altLang="ko-KR" sz="1500"/>
              <a:t>API </a:t>
            </a:r>
            <a:r>
              <a:rPr lang="ko-KR" altLang="en-US" sz="1500"/>
              <a:t>호출 중 </a:t>
            </a:r>
            <a:endParaRPr lang="ko-KR" altLang="en-US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 b="1"/>
              <a:t>실제 비정상 호출</a:t>
            </a:r>
            <a:r>
              <a:rPr lang="en-US" altLang="ko-KR" sz="1500" b="1"/>
              <a:t>(</a:t>
            </a:r>
            <a:r>
              <a:rPr lang="ko-KR" altLang="en-US" sz="1500" b="1"/>
              <a:t>봇</a:t>
            </a:r>
            <a:r>
              <a:rPr lang="en-US" altLang="ko-KR" sz="1500" b="1"/>
              <a:t>, DoS </a:t>
            </a:r>
            <a:r>
              <a:rPr lang="ko-KR" altLang="en-US" sz="1500" b="1"/>
              <a:t>등</a:t>
            </a:r>
            <a:r>
              <a:rPr lang="en-US" altLang="ko-KR" sz="1500" b="1"/>
              <a:t>)</a:t>
            </a:r>
            <a:r>
              <a:rPr lang="ko-KR" altLang="en-US" sz="1500" b="1"/>
              <a:t>은 </a:t>
            </a:r>
            <a:r>
              <a:rPr lang="en-US" altLang="ko-KR" sz="1500" b="1"/>
              <a:t>150</a:t>
            </a:r>
            <a:r>
              <a:rPr lang="ko-KR" altLang="en-US" sz="1500" b="1"/>
              <a:t>건</a:t>
            </a:r>
            <a:r>
              <a:rPr lang="en-US" altLang="ko-KR" sz="1500"/>
              <a:t>, </a:t>
            </a:r>
            <a:r>
              <a:rPr lang="ko-KR" altLang="en-US" sz="1500" b="1"/>
              <a:t>정상 호출은 </a:t>
            </a:r>
            <a:r>
              <a:rPr lang="en-US" altLang="ko-KR" sz="1500" b="1"/>
              <a:t>650</a:t>
            </a:r>
            <a:r>
              <a:rPr lang="ko-KR" altLang="en-US" sz="1500" b="1"/>
              <a:t>건</a:t>
            </a:r>
            <a:r>
              <a:rPr lang="ko-KR" altLang="en-US" sz="1500"/>
              <a:t>이었다</a:t>
            </a:r>
            <a:r>
              <a:rPr lang="en-US" altLang="ko-KR" sz="1500"/>
              <a:t>. </a:t>
            </a:r>
            <a:endParaRPr lang="en-US" altLang="ko-KR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/>
              <a:t>시스템은 </a:t>
            </a:r>
            <a:r>
              <a:rPr lang="en-US" altLang="ko-KR" sz="1500" b="1"/>
              <a:t>180</a:t>
            </a:r>
            <a:r>
              <a:rPr lang="ko-KR" altLang="en-US" sz="1500" b="1"/>
              <a:t>건을 비정상 호출로 판정</a:t>
            </a:r>
            <a:r>
              <a:rPr lang="ko-KR" altLang="en-US" sz="1500"/>
              <a:t>했는데</a:t>
            </a:r>
            <a:r>
              <a:rPr lang="en-US" altLang="ko-KR" sz="1500"/>
              <a:t>, </a:t>
            </a:r>
            <a:endParaRPr lang="ko-KR" altLang="en-US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/>
              <a:t>이 중 </a:t>
            </a:r>
            <a:r>
              <a:rPr lang="en-US" altLang="ko-KR" sz="1500" b="1"/>
              <a:t>130</a:t>
            </a:r>
            <a:r>
              <a:rPr lang="ko-KR" altLang="en-US" sz="1500" b="1"/>
              <a:t>건은 실제 비정상</a:t>
            </a:r>
            <a:r>
              <a:rPr lang="ko-KR" altLang="en-US" sz="1500"/>
              <a:t>이었고 </a:t>
            </a:r>
            <a:r>
              <a:rPr lang="en-US" altLang="ko-KR" sz="1500" b="1"/>
              <a:t>50</a:t>
            </a:r>
            <a:r>
              <a:rPr lang="ko-KR" altLang="en-US" sz="1500" b="1"/>
              <a:t>건은 정상 요청을 잘못 탐지</a:t>
            </a:r>
            <a:r>
              <a:rPr lang="ko-KR" altLang="en-US" sz="1500"/>
              <a:t>했다</a:t>
            </a:r>
            <a:r>
              <a:rPr lang="en-US" altLang="ko-KR" sz="1500"/>
              <a:t>. </a:t>
            </a:r>
            <a:endParaRPr lang="ko-KR" altLang="en-US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/>
              <a:t>또 </a:t>
            </a:r>
            <a:r>
              <a:rPr lang="en-US" altLang="ko-KR" sz="1500" b="1"/>
              <a:t>20</a:t>
            </a:r>
            <a:r>
              <a:rPr lang="ko-KR" altLang="en-US" sz="1500" b="1"/>
              <a:t>건의 비정상 호출은 정상으로 놓쳤다</a:t>
            </a:r>
            <a:r>
              <a:rPr lang="en-US" altLang="ko-KR" sz="1500" b="1"/>
              <a:t>.</a:t>
            </a:r>
            <a:endParaRPr lang="ko-KR" altLang="en-US" sz="1500"/>
          </a:p>
          <a:p>
            <a:pPr>
              <a:lnSpc>
                <a:spcPct val="130000"/>
              </a:lnSpc>
              <a:defRPr/>
            </a:pPr>
            <a:endParaRPr lang="ko-KR" altLang="en-US" sz="1500"/>
          </a:p>
        </p:txBody>
      </p:sp>
      <p:sp>
        <p:nvSpPr>
          <p:cNvPr id="10" name="Content Placeholder 2"/>
          <p:cNvSpPr>
            <a:spLocks noGrp="1"/>
          </p:cNvSpPr>
          <p:nvPr/>
        </p:nvSpPr>
        <p:spPr>
          <a:xfrm>
            <a:off x="6593632" y="3655137"/>
            <a:ext cx="4658049" cy="3295165"/>
          </a:xfrm>
          <a:prstGeom prst="rect">
            <a:avLst/>
          </a:prstGeom>
        </p:spPr>
        <p:txBody>
          <a:bodyPr vert="horz" lIns="91440" tIns="45720" rIns="91440" bIns="45720">
            <a:normAutofit lnSpcReduction="10000"/>
          </a:bodyPr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3. Recall(</a:t>
            </a:r>
            <a:r>
              <a:rPr lang="ko-KR" altLang="en-US" sz="1900" b="1"/>
              <a:t>재현율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marL="728520" lvl="1" indent="-271320">
              <a:lnSpc>
                <a:spcPct val="130000"/>
              </a:lnSpc>
              <a:buFont typeface="Arial"/>
              <a:buChar char="•"/>
              <a:defRPr/>
            </a:pPr>
            <a:r>
              <a:rPr lang="ko-KR" altLang="en-US" sz="1500"/>
              <a:t>실제 호출이 비정상일 때</a:t>
            </a:r>
            <a:r>
              <a:rPr lang="en-US" altLang="ko-KR" sz="1500"/>
              <a:t>, </a:t>
            </a:r>
            <a:r>
              <a:rPr lang="ko-KR" altLang="en-US" sz="1500"/>
              <a:t>그것을 시스템이 비정상이라고 예측한 비율</a:t>
            </a:r>
            <a:r>
              <a:rPr lang="en-US" altLang="ko-KR" sz="1500"/>
              <a:t> </a:t>
            </a:r>
            <a:endParaRPr lang="en-US" altLang="ko-KR" sz="1500"/>
          </a:p>
          <a:p>
            <a:pPr marL="728520" lvl="1" indent="-271320">
              <a:lnSpc>
                <a:spcPct val="130000"/>
              </a:lnSpc>
              <a:buFont typeface="Arial"/>
              <a:buChar char="•"/>
              <a:defRPr/>
            </a:pPr>
            <a:r>
              <a:rPr lang="en-US" altLang="ko-KR" sz="1500"/>
              <a:t>130 / 150 * 100(%) = 86.67(%)</a:t>
            </a:r>
            <a:endParaRPr lang="en-US" altLang="ko-KR" sz="1900"/>
          </a:p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4. F1-SCORE(</a:t>
            </a:r>
            <a:r>
              <a:rPr lang="ko-KR" altLang="en-US" sz="1900" b="1"/>
              <a:t>조화평균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marL="728520" lvl="1" indent="-271320">
              <a:lnSpc>
                <a:spcPct val="130000"/>
              </a:lnSpc>
              <a:buFont typeface="Arial"/>
              <a:buChar char="•"/>
              <a:defRPr/>
            </a:pPr>
            <a:r>
              <a:rPr lang="en-US" altLang="ko-KR" sz="1500"/>
              <a:t>2 * (0.7222 * 0.8667) / (0.7222 + 0.8667) * 100(%) = 78.78(%)</a:t>
            </a:r>
            <a:endParaRPr xmlns:mc="http://schemas.openxmlformats.org/markup-compatibility/2006" xmlns:hp="http://schemas.haansoft.com/office/presentation/8.0" kumimoji="0" lang="en-US" altLang="ko-KR" sz="1500" b="0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129400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  <a:defRPr/>
            </a:pPr>
            <a:r>
              <a:rPr lang="en-US" altLang="ko-KR" sz="3500" b="1">
                <a:solidFill>
                  <a:srgbClr val="ff0000"/>
                </a:solidFill>
              </a:rPr>
              <a:t>?</a:t>
            </a:r>
            <a:r>
              <a:rPr lang="ko-KR" altLang="en-US" sz="3500" b="1"/>
              <a:t> </a:t>
            </a:r>
            <a:r>
              <a:rPr lang="en-US" altLang="ko-KR"/>
              <a:t>Autonomic Computing</a:t>
            </a:r>
            <a:r>
              <a:rPr lang="ko-KR" altLang="en-US"/>
              <a:t>에서 중요한 점</a:t>
            </a:r>
            <a:endParaRPr lang="ko-KR" altLang="en-US" b="1"/>
          </a:p>
          <a:p>
            <a:pPr marL="0" indent="0">
              <a:lnSpc>
                <a:spcPct val="100000"/>
              </a:lnSpc>
              <a:buNone/>
              <a:defRPr/>
            </a:pPr>
            <a:endParaRPr lang="ko-KR" altLang="en-US" b="1"/>
          </a:p>
          <a:p>
            <a:pPr marL="518000" indent="-518000">
              <a:lnSpc>
                <a:spcPct val="150000"/>
              </a:lnSpc>
              <a:buAutoNum type="romanUcPeriod"/>
              <a:defRPr/>
            </a:pPr>
            <a:r>
              <a:rPr lang="ko-KR" altLang="en-US" b="1"/>
              <a:t>목표</a:t>
            </a:r>
            <a:r>
              <a:rPr lang="en-US" altLang="ko-KR" b="1"/>
              <a:t>(</a:t>
            </a:r>
            <a:r>
              <a:rPr lang="en-US" altLang="ko-KR" b="1">
                <a:solidFill>
                  <a:srgbClr val="ff0000"/>
                </a:solidFill>
              </a:rPr>
              <a:t>Goal</a:t>
            </a:r>
            <a:r>
              <a:rPr lang="en-US" altLang="ko-KR" b="1"/>
              <a:t>)</a:t>
            </a:r>
            <a:r>
              <a:rPr lang="ko-KR" altLang="en-US"/>
              <a:t>와 그것을 달성하기 위한 </a:t>
            </a:r>
            <a:r>
              <a:rPr lang="en-US" altLang="ko-KR" b="1">
                <a:solidFill>
                  <a:srgbClr val="ff0000"/>
                </a:solidFill>
              </a:rPr>
              <a:t>MAPE</a:t>
            </a:r>
            <a:r>
              <a:rPr lang="ko-KR" altLang="en-US"/>
              <a:t> 과정</a:t>
            </a:r>
            <a:endParaRPr lang="ko-KR" altLang="en-US"/>
          </a:p>
          <a:p>
            <a:pPr marL="518000" indent="-518000">
              <a:lnSpc>
                <a:spcPct val="150000"/>
              </a:lnSpc>
              <a:buAutoNum type="romanUcPeriod"/>
              <a:defRPr/>
            </a:pPr>
            <a:r>
              <a:rPr lang="ko-KR" altLang="en-US" b="1"/>
              <a:t>신뢰성</a:t>
            </a:r>
            <a:r>
              <a:rPr lang="ko-KR" altLang="en-US"/>
              <a:t>과 </a:t>
            </a:r>
            <a:r>
              <a:rPr lang="ko-KR" altLang="en-US" b="1"/>
              <a:t>성능</a:t>
            </a:r>
            <a:r>
              <a:rPr lang="ko-KR" altLang="en-US"/>
              <a:t> 측면에서 </a:t>
            </a:r>
            <a:r>
              <a:rPr lang="en-US" altLang="ko-KR" b="1">
                <a:solidFill>
                  <a:srgbClr val="ff0000"/>
                </a:solidFill>
              </a:rPr>
              <a:t>Self-Optimizing</a:t>
            </a:r>
            <a:r>
              <a:rPr lang="ko-KR" altLang="en-US"/>
              <a:t>이 중요</a:t>
            </a:r>
            <a:endParaRPr lang="ko-KR" altLang="en-US"/>
          </a:p>
          <a:p>
            <a:pPr marL="518000" indent="-518000">
              <a:lnSpc>
                <a:spcPct val="150000"/>
              </a:lnSpc>
              <a:buAutoNum type="romanUcPeriod"/>
              <a:defRPr/>
            </a:pPr>
            <a:r>
              <a:rPr lang="en-US" altLang="ko-KR" b="1"/>
              <a:t>Self-Optimizing</a:t>
            </a:r>
            <a:r>
              <a:rPr lang="ko-KR" altLang="en-US"/>
              <a:t>이 잘 되면 </a:t>
            </a:r>
            <a:r>
              <a:rPr lang="ko-KR" altLang="en-US" b="1"/>
              <a:t>성능</a:t>
            </a:r>
            <a:r>
              <a:rPr lang="ko-KR" altLang="en-US"/>
              <a:t>이 일정하게 </a:t>
            </a:r>
            <a:r>
              <a:rPr lang="ko-KR" altLang="en-US" b="1"/>
              <a:t>유지</a:t>
            </a:r>
            <a:r>
              <a:rPr lang="ko-KR" altLang="en-US"/>
              <a:t>되기 쉽고</a:t>
            </a:r>
            <a:r>
              <a:rPr lang="en-US" altLang="ko-KR"/>
              <a:t>, </a:t>
            </a:r>
            <a:r>
              <a:rPr lang="ko-KR" altLang="en-US" b="1"/>
              <a:t>비용</a:t>
            </a:r>
            <a:r>
              <a:rPr lang="ko-KR" altLang="en-US"/>
              <a:t>을 줄일 수 있으며</a:t>
            </a:r>
            <a:r>
              <a:rPr lang="en-US" altLang="ko-KR"/>
              <a:t>, </a:t>
            </a:r>
            <a:r>
              <a:rPr lang="ko-KR" altLang="en-US"/>
              <a:t>관리자가 </a:t>
            </a:r>
            <a:r>
              <a:rPr lang="ko-KR" altLang="en-US" b="1"/>
              <a:t>임계값</a:t>
            </a:r>
            <a:r>
              <a:rPr lang="ko-KR" altLang="en-US"/>
              <a:t>을 일일이 맞추는 부담이 줄어들기 때문</a:t>
            </a:r>
            <a:endParaRPr lang="ko-KR" altLang="en-US"/>
          </a:p>
          <a:p>
            <a:pPr lvl="0">
              <a:lnSpc>
                <a:spcPct val="150000"/>
              </a:lnSpc>
              <a:defRPr/>
            </a:pPr>
            <a:endParaRPr lang="en-US" altLang="ko-KR"/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1 -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962448" y="5832359"/>
            <a:ext cx="3999715" cy="794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3211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altLang="ko-KR" sz="3500" b="1"/>
              <a:t>?</a:t>
            </a:r>
            <a:r>
              <a:rPr lang="en-US" altLang="ko-KR" b="1"/>
              <a:t> </a:t>
            </a:r>
            <a:r>
              <a:rPr lang="ko-KR" altLang="en-US" sz="2600"/>
              <a:t>어떤 </a:t>
            </a:r>
            <a:r>
              <a:rPr lang="en-US" altLang="ko-KR" sz="2600"/>
              <a:t>SW</a:t>
            </a:r>
            <a:r>
              <a:rPr lang="ko-KR" altLang="en-US" sz="2600"/>
              <a:t>응용 시스템을 제안할 것인지 작성</a:t>
            </a:r>
            <a:endParaRPr lang="ko-KR" altLang="en-US" sz="2600"/>
          </a:p>
          <a:p>
            <a:pPr marL="0" indent="0">
              <a:buNone/>
              <a:defRPr/>
            </a:pPr>
            <a:r>
              <a:rPr lang="en-US" altLang="ko-KR" sz="3500" b="1"/>
              <a:t>?</a:t>
            </a:r>
            <a:r>
              <a:rPr lang="en-US" altLang="ko-KR"/>
              <a:t> </a:t>
            </a:r>
            <a:r>
              <a:rPr lang="ko-KR" altLang="en-US" sz="2600"/>
              <a:t>목표</a:t>
            </a:r>
            <a:r>
              <a:rPr lang="en-US" altLang="ko-KR" sz="2600"/>
              <a:t>(Goal)</a:t>
            </a:r>
            <a:r>
              <a:rPr lang="ko-KR" altLang="en-US" sz="2600"/>
              <a:t>가 무엇인지를 작성</a:t>
            </a:r>
            <a:r>
              <a:rPr lang="en-US" altLang="ko-KR" sz="2600"/>
              <a:t> </a:t>
            </a:r>
            <a:endParaRPr lang="en-US" altLang="ko-KR" sz="2600"/>
          </a:p>
          <a:p>
            <a:pPr marL="0" indent="0">
              <a:buNone/>
              <a:defRPr/>
            </a:pPr>
            <a:endParaRPr lang="ko-KR" altLang="en-US"/>
          </a:p>
          <a:p>
            <a:pPr marL="0" indent="0">
              <a:buNone/>
              <a:defRPr/>
            </a:pPr>
            <a:r>
              <a:rPr lang="en-US" altLang="ko-KR" sz="3500" b="1"/>
              <a:t>A. </a:t>
            </a:r>
            <a:r>
              <a:rPr lang="ko-KR" altLang="en-US" sz="2600" b="1"/>
              <a:t>가계부 기반 자율 예산 관리 시스템</a:t>
            </a:r>
            <a:endParaRPr lang="ko-KR" altLang="en-US"/>
          </a:p>
          <a:p>
            <a:pPr marL="0" indent="0">
              <a:lnSpc>
                <a:spcPct val="0"/>
              </a:lnSpc>
              <a:buNone/>
              <a:defRPr/>
            </a:pPr>
            <a:endParaRPr lang="ko-KR" altLang="en-US" sz="20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altLang="ko-KR"/>
              <a:t>	</a:t>
            </a:r>
            <a:r>
              <a:rPr lang="ko-KR" altLang="en-US" sz="2000"/>
              <a:t>사용자의 </a:t>
            </a:r>
            <a:r>
              <a:rPr lang="ko-KR" altLang="en-US" sz="2000" b="1"/>
              <a:t>수입</a:t>
            </a:r>
            <a:r>
              <a:rPr lang="en-US" altLang="ko-KR" sz="2000" b="1"/>
              <a:t>, </a:t>
            </a:r>
            <a:r>
              <a:rPr lang="ko-KR" altLang="en-US" sz="2000" b="1"/>
              <a:t>소비 패턴을 기반</a:t>
            </a:r>
            <a:r>
              <a:rPr lang="ko-KR" altLang="en-US" sz="2000"/>
              <a:t>으로 </a:t>
            </a:r>
            <a:endParaRPr lang="ko-KR" altLang="en-US" sz="20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altLang="ko-KR" sz="2000"/>
              <a:t>	</a:t>
            </a:r>
            <a:r>
              <a:rPr lang="ko-KR" altLang="en-US" sz="2000"/>
              <a:t>한 달의 예산과 하루의 </a:t>
            </a:r>
            <a:r>
              <a:rPr lang="ko-KR" altLang="en-US" sz="2000" b="1"/>
              <a:t>권장 지출액을 제안</a:t>
            </a:r>
            <a:r>
              <a:rPr lang="ko-KR" altLang="en-US" sz="2000"/>
              <a:t>해준다</a:t>
            </a:r>
            <a:r>
              <a:rPr lang="en-US" altLang="ko-KR" sz="2000"/>
              <a:t>. </a:t>
            </a:r>
            <a:endParaRPr lang="ko-KR" altLang="en-US" sz="20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altLang="ko-KR" sz="2000"/>
              <a:t>	</a:t>
            </a:r>
            <a:r>
              <a:rPr lang="ko-KR" altLang="en-US" sz="2000"/>
              <a:t>예상 금액 초과 시 </a:t>
            </a:r>
            <a:r>
              <a:rPr lang="ko-KR" altLang="en-US" sz="2000" b="1"/>
              <a:t>자동으로 예산과 권장 지출액을 조정</a:t>
            </a:r>
            <a:r>
              <a:rPr lang="ko-KR" altLang="en-US" sz="2000"/>
              <a:t>해준다</a:t>
            </a:r>
            <a:r>
              <a:rPr lang="en-US" altLang="ko-KR" sz="2000"/>
              <a:t>.</a:t>
            </a:r>
            <a:endParaRPr lang="en-US" altLang="ko-KR" sz="2000"/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1 -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023357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9F39-4208-9F53-C639-FD030606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8423D-6E8B-C397-AB65-6C676F425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  <a:endParaRPr lang="ko-KR" alt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A353-CB48-879A-6FFF-D59FCA10F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fontAlgn="base"/>
            <a:r>
              <a:rPr lang="en-US" altLang="ko-KR" b="1" dirty="0"/>
              <a:t>8. </a:t>
            </a:r>
            <a:r>
              <a:rPr lang="ko-KR" altLang="en-US" b="1" dirty="0"/>
              <a:t>목표시스템의 신뢰성을 위해서 자율제어 시스템은 목표시스템의 내부에 있어야 하는지</a:t>
            </a:r>
            <a:r>
              <a:rPr lang="en-US" altLang="ko-KR" b="1" dirty="0"/>
              <a:t>, </a:t>
            </a:r>
            <a:r>
              <a:rPr lang="ko-KR" altLang="en-US" b="1" dirty="0"/>
              <a:t>외부에 있어야 하는지 서술하고</a:t>
            </a:r>
            <a:r>
              <a:rPr lang="en-US" altLang="ko-KR" b="1" dirty="0"/>
              <a:t>, </a:t>
            </a:r>
            <a:r>
              <a:rPr lang="ko-KR" altLang="en-US" b="1" dirty="0"/>
              <a:t>그 이유를 작성하세요</a:t>
            </a:r>
            <a:r>
              <a:rPr lang="en-US" altLang="ko-KR" b="1" dirty="0"/>
              <a:t>. </a:t>
            </a:r>
            <a:endParaRPr lang="ko-KR" altLang="en-US" dirty="0"/>
          </a:p>
          <a:p>
            <a:pPr fontAlgn="base"/>
            <a:r>
              <a:rPr lang="ko-KR" altLang="en-US" dirty="0"/>
              <a:t>의견</a:t>
            </a:r>
            <a:r>
              <a:rPr lang="en-US" altLang="ko-KR" dirty="0"/>
              <a:t>: </a:t>
            </a:r>
            <a:r>
              <a:rPr lang="ko-KR" altLang="en-US" dirty="0"/>
              <a:t>가계부 기반 자율 예산 관리 시스템의 자율제어 시스템은 외부에 있어야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pPr fontAlgn="base"/>
            <a:r>
              <a:rPr lang="ko-KR" altLang="en-US" dirty="0"/>
              <a:t>이유</a:t>
            </a:r>
            <a:r>
              <a:rPr lang="en-US" altLang="ko-KR" dirty="0"/>
              <a:t>: </a:t>
            </a:r>
            <a:r>
              <a:rPr lang="ko-KR" altLang="en-US" dirty="0"/>
              <a:t>기본적으로 사용자의 지출 데이터는 외부 결제 시스템으로부터 받아오게 됩니다</a:t>
            </a:r>
            <a:r>
              <a:rPr lang="en-US" altLang="ko-KR" dirty="0"/>
              <a:t>. </a:t>
            </a:r>
            <a:r>
              <a:rPr lang="ko-KR" altLang="en-US" dirty="0"/>
              <a:t>해당 데이터를 분석</a:t>
            </a:r>
            <a:r>
              <a:rPr lang="en-US" altLang="ko-KR" dirty="0"/>
              <a:t>, </a:t>
            </a:r>
            <a:r>
              <a:rPr lang="ko-KR" altLang="en-US" dirty="0"/>
              <a:t>판단</a:t>
            </a:r>
            <a:r>
              <a:rPr lang="en-US" altLang="ko-KR" dirty="0"/>
              <a:t>, </a:t>
            </a:r>
            <a:r>
              <a:rPr lang="ko-KR" altLang="en-US" dirty="0"/>
              <a:t>제안해주는 별도의 시스템은 목표시스템</a:t>
            </a:r>
            <a:r>
              <a:rPr lang="en-US" altLang="ko-KR" dirty="0"/>
              <a:t>(</a:t>
            </a:r>
            <a:r>
              <a:rPr lang="ko-KR" altLang="en-US" dirty="0"/>
              <a:t>사용자의 기기</a:t>
            </a:r>
            <a:r>
              <a:rPr lang="en-US" altLang="ko-KR" dirty="0"/>
              <a:t>)</a:t>
            </a:r>
            <a:r>
              <a:rPr lang="ko-KR" altLang="en-US" dirty="0"/>
              <a:t>와 분리되어 있어야 유지보수나 안정성 측면에서 유리합니다</a:t>
            </a:r>
            <a:r>
              <a:rPr lang="en-US" altLang="ko-KR" dirty="0"/>
              <a:t>. </a:t>
            </a:r>
            <a:r>
              <a:rPr lang="ko-KR" altLang="en-US" dirty="0"/>
              <a:t>내부에 두게 된다면 결제 시스템 서버에 대한 의존성이 높아지고 사용자 기기에서의 리소스가 무거워지게 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68552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Monitor</a:t>
            </a:r>
          </a:p>
          <a:p>
            <a:pPr lvl="1"/>
            <a:r>
              <a:rPr lang="ko-KR" altLang="en-US" dirty="0"/>
              <a:t>요소</a:t>
            </a:r>
            <a:r>
              <a:rPr lang="en-US" altLang="ko-KR" dirty="0"/>
              <a:t>(</a:t>
            </a:r>
            <a:r>
              <a:rPr lang="ko-KR" altLang="en-US" dirty="0"/>
              <a:t>목표 시스템</a:t>
            </a:r>
            <a:r>
              <a:rPr lang="en-US" altLang="ko-KR" dirty="0"/>
              <a:t>)</a:t>
            </a:r>
            <a:r>
              <a:rPr lang="ko-KR" altLang="en-US" dirty="0"/>
              <a:t>에서 수집한 세부 정보를 수집</a:t>
            </a:r>
            <a:r>
              <a:rPr lang="en-US" altLang="ko-KR" dirty="0"/>
              <a:t>, </a:t>
            </a:r>
            <a:r>
              <a:rPr lang="ko-KR" altLang="en-US" dirty="0"/>
              <a:t>집계</a:t>
            </a:r>
            <a:r>
              <a:rPr lang="en-US" altLang="ko-KR" dirty="0"/>
              <a:t>, </a:t>
            </a:r>
            <a:r>
              <a:rPr lang="ko-KR" altLang="en-US" dirty="0"/>
              <a:t>필터링</a:t>
            </a:r>
            <a:r>
              <a:rPr lang="en-US" altLang="ko-KR" dirty="0"/>
              <a:t>, </a:t>
            </a:r>
            <a:r>
              <a:rPr lang="ko-KR" altLang="en-US" dirty="0"/>
              <a:t>관리 및 보고하는 메커니즘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Analyze</a:t>
            </a:r>
          </a:p>
          <a:p>
            <a:pPr lvl="1"/>
            <a:r>
              <a:rPr lang="ko-KR" altLang="en-US" dirty="0"/>
              <a:t>복잡한 상황을 연관시키고 모델링하는 메커니즘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Plan</a:t>
            </a:r>
          </a:p>
          <a:p>
            <a:pPr lvl="1"/>
            <a:r>
              <a:rPr lang="ko-KR" altLang="en-US" dirty="0"/>
              <a:t>목표 달성에 필요한 행동을 구조화하는 메커니즘</a:t>
            </a:r>
            <a:endParaRPr lang="en-US" altLang="ko-KR" dirty="0"/>
          </a:p>
          <a:p>
            <a:r>
              <a:rPr lang="en-US" altLang="ko-KR" dirty="0"/>
              <a:t>Execute</a:t>
            </a:r>
          </a:p>
          <a:p>
            <a:pPr lvl="1"/>
            <a:r>
              <a:rPr lang="ko-KR" altLang="en-US" dirty="0"/>
              <a:t>고려 사항을 포함한 계획 실행을 제어하는 메커니즘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ACFCDF8-9C88-1293-E4D7-901B0EAC13B2}"/>
              </a:ext>
            </a:extLst>
          </p:cNvPr>
          <p:cNvGrpSpPr/>
          <p:nvPr/>
        </p:nvGrpSpPr>
        <p:grpSpPr>
          <a:xfrm>
            <a:off x="8339435" y="3134519"/>
            <a:ext cx="3908425" cy="1733550"/>
            <a:chOff x="4141787" y="1837532"/>
            <a:chExt cx="3908425" cy="1733550"/>
          </a:xfrm>
        </p:grpSpPr>
        <p:sp>
          <p:nvSpPr>
            <p:cNvPr id="7" name="AutoShape 10">
              <a:extLst>
                <a:ext uri="{FF2B5EF4-FFF2-40B4-BE49-F238E27FC236}">
                  <a16:creationId xmlns:a16="http://schemas.microsoft.com/office/drawing/2014/main" id="{73FCDC3C-2F67-E14A-4F98-BDD8DF6220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0525" y="1943894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8" name="AutoShape 11">
              <a:extLst>
                <a:ext uri="{FF2B5EF4-FFF2-40B4-BE49-F238E27FC236}">
                  <a16:creationId xmlns:a16="http://schemas.microsoft.com/office/drawing/2014/main" id="{03FC1759-8D29-ABE6-DE89-799AF16465F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216400" y="1870869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9" name="AutoShape 12">
              <a:extLst>
                <a:ext uri="{FF2B5EF4-FFF2-40B4-BE49-F238E27FC236}">
                  <a16:creationId xmlns:a16="http://schemas.microsoft.com/office/drawing/2014/main" id="{0BED5F8A-D539-EF17-8F9B-A27D791CBC2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6076156" y="1900238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10" name="AutoShape 13">
              <a:extLst>
                <a:ext uri="{FF2B5EF4-FFF2-40B4-BE49-F238E27FC236}">
                  <a16:creationId xmlns:a16="http://schemas.microsoft.com/office/drawing/2014/main" id="{8D01706C-A056-6D61-7AF0-0167BCC14B2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169819" y="1893888"/>
              <a:ext cx="1727200" cy="1614487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11" name="AutoShape 14">
              <a:extLst>
                <a:ext uri="{FF2B5EF4-FFF2-40B4-BE49-F238E27FC236}">
                  <a16:creationId xmlns:a16="http://schemas.microsoft.com/office/drawing/2014/main" id="{C531FF96-3DA0-2529-862C-115EE90F7C5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5019675" y="2931319"/>
              <a:ext cx="2098675" cy="633413"/>
            </a:xfrm>
            <a:custGeom>
              <a:avLst/>
              <a:gdLst>
                <a:gd name="T0" fmla="*/ 2147483646 w 21600"/>
                <a:gd name="T1" fmla="*/ 272346652 h 21600"/>
                <a:gd name="T2" fmla="*/ 2147483646 w 21600"/>
                <a:gd name="T3" fmla="*/ 544693304 h 21600"/>
                <a:gd name="T4" fmla="*/ 2147483646 w 21600"/>
                <a:gd name="T5" fmla="*/ 272346652 h 21600"/>
                <a:gd name="T6" fmla="*/ 214748364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CC0099"/>
                </a:gs>
                <a:gs pos="100000">
                  <a:srgbClr val="E375C8"/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endParaRPr lang="ko-KR" altLang="en-US"/>
            </a:p>
          </p:txBody>
        </p:sp>
        <p:sp>
          <p:nvSpPr>
            <p:cNvPr id="14" name="Text Box 19">
              <a:extLst>
                <a:ext uri="{FF2B5EF4-FFF2-40B4-BE49-F238E27FC236}">
                  <a16:creationId xmlns:a16="http://schemas.microsoft.com/office/drawing/2014/main" id="{4C84CEE4-F1A8-BE61-2362-338F759328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8050" y="1977232"/>
              <a:ext cx="114458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Analyze</a:t>
              </a:r>
            </a:p>
          </p:txBody>
        </p:sp>
        <p:sp>
          <p:nvSpPr>
            <p:cNvPr id="15" name="Text Box 20">
              <a:extLst>
                <a:ext uri="{FF2B5EF4-FFF2-40B4-BE49-F238E27FC236}">
                  <a16:creationId xmlns:a16="http://schemas.microsoft.com/office/drawing/2014/main" id="{A6294F8C-8CDA-887A-7961-AE69134BC3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41787" y="2826544"/>
              <a:ext cx="111442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Monitor</a:t>
              </a:r>
            </a:p>
          </p:txBody>
        </p:sp>
        <p:sp>
          <p:nvSpPr>
            <p:cNvPr id="16" name="Text Box 21">
              <a:extLst>
                <a:ext uri="{FF2B5EF4-FFF2-40B4-BE49-F238E27FC236}">
                  <a16:creationId xmlns:a16="http://schemas.microsoft.com/office/drawing/2014/main" id="{39290A8D-7D12-2F35-4AD5-0B8123A8C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86512" y="2005807"/>
              <a:ext cx="72072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Plan</a:t>
              </a:r>
            </a:p>
          </p:txBody>
        </p:sp>
        <p:sp>
          <p:nvSpPr>
            <p:cNvPr id="17" name="Text Box 22">
              <a:extLst>
                <a:ext uri="{FF2B5EF4-FFF2-40B4-BE49-F238E27FC236}">
                  <a16:creationId xmlns:a16="http://schemas.microsoft.com/office/drawing/2014/main" id="{DFDB1B3A-4EB5-DB42-3BA5-01E341BE4B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1337" y="2891632"/>
              <a:ext cx="115887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Execute</a:t>
              </a:r>
            </a:p>
          </p:txBody>
        </p:sp>
        <p:sp>
          <p:nvSpPr>
            <p:cNvPr id="18" name="Text Box 23">
              <a:extLst>
                <a:ext uri="{FF2B5EF4-FFF2-40B4-BE49-F238E27FC236}">
                  <a16:creationId xmlns:a16="http://schemas.microsoft.com/office/drawing/2014/main" id="{11A71F4A-1838-939A-55D6-7FEF12255D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6700" y="3058319"/>
              <a:ext cx="153987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 dirty="0">
                  <a:solidFill>
                    <a:schemeClr val="bg1"/>
                  </a:solidFill>
                </a:rPr>
                <a:t>Knowledge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5315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CASE</a:t>
            </a:r>
            <a:r>
              <a:rPr lang="ko-KR" altLang="en-US" dirty="0"/>
              <a:t> 도구</a:t>
            </a:r>
            <a:endParaRPr lang="en-US" altLang="ko-KR" dirty="0"/>
          </a:p>
          <a:p>
            <a:pPr>
              <a:defRPr/>
            </a:pPr>
            <a:r>
              <a:rPr lang="en-US" altLang="ko-KR" dirty="0"/>
              <a:t>Computer-Aided Software Engineering</a:t>
            </a:r>
          </a:p>
          <a:p>
            <a:pPr>
              <a:defRPr/>
            </a:pPr>
            <a:r>
              <a:rPr lang="en-US" altLang="ko-KR" dirty="0"/>
              <a:t>Upper-Case</a:t>
            </a:r>
          </a:p>
          <a:p>
            <a:pPr>
              <a:defRPr/>
            </a:pPr>
            <a:r>
              <a:rPr lang="ko-KR" altLang="en-US" dirty="0"/>
              <a:t>요구분석</a:t>
            </a:r>
            <a:r>
              <a:rPr lang="en-US" altLang="ko-KR" dirty="0"/>
              <a:t>, </a:t>
            </a:r>
            <a:r>
              <a:rPr lang="ko-KR" altLang="en-US" dirty="0"/>
              <a:t>설계지원</a:t>
            </a:r>
            <a:endParaRPr lang="en-US" altLang="ko-KR" dirty="0"/>
          </a:p>
          <a:p>
            <a:pPr>
              <a:defRPr/>
            </a:pPr>
            <a:r>
              <a:rPr lang="en-US" altLang="ko-KR" dirty="0"/>
              <a:t>Lower-Case</a:t>
            </a:r>
          </a:p>
          <a:p>
            <a:pPr>
              <a:defRPr/>
            </a:pPr>
            <a:r>
              <a:rPr lang="ko-KR" altLang="en-US" dirty="0"/>
              <a:t>프로그래밍</a:t>
            </a:r>
            <a:r>
              <a:rPr lang="en-US" altLang="ko-KR" dirty="0"/>
              <a:t>, </a:t>
            </a:r>
            <a:r>
              <a:rPr lang="ko-KR" altLang="en-US" dirty="0"/>
              <a:t>디버깅</a:t>
            </a:r>
            <a:r>
              <a:rPr lang="en-US" altLang="ko-KR" dirty="0"/>
              <a:t>, </a:t>
            </a:r>
            <a:r>
              <a:rPr lang="ko-KR" altLang="en-US" dirty="0"/>
              <a:t>테스트</a:t>
            </a:r>
          </a:p>
        </p:txBody>
      </p:sp>
    </p:spTree>
    <p:extLst>
      <p:ext uri="{BB962C8B-B14F-4D97-AF65-F5344CB8AC3E}">
        <p14:creationId xmlns:p14="http://schemas.microsoft.com/office/powerpoint/2010/main" val="1289967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2689C-F04C-1890-4394-95EAF5D10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332C9-3EA8-743A-B514-7FF0B5AE6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필드와 레코드과제 </a:t>
            </a:r>
          </a:p>
        </p:txBody>
      </p:sp>
    </p:spTree>
    <p:extLst>
      <p:ext uri="{BB962C8B-B14F-4D97-AF65-F5344CB8AC3E}">
        <p14:creationId xmlns:p14="http://schemas.microsoft.com/office/powerpoint/2010/main" val="2662874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7F845-9669-2E87-FDC5-69C53AFF5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13020-2A19-F0C9-F47E-CE024D814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25C86-CE2A-6F1E-DA5F-2B8FEA59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입출금내역 기반 자율 예산 관리 시스템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FE5BE4-A20D-0D16-D6B5-B1DD3CE9C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182" y="-4999"/>
            <a:ext cx="840222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0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Unified Modeling Language</a:t>
            </a:r>
            <a:r>
              <a:rPr lang="ko-KR" altLang="en-US" dirty="0"/>
              <a:t>은 객체지향 분석</a:t>
            </a:r>
            <a:r>
              <a:rPr lang="en-US" altLang="ko-KR" dirty="0"/>
              <a:t>(Analysis)</a:t>
            </a:r>
            <a:r>
              <a:rPr lang="ko-KR" altLang="en-US" dirty="0"/>
              <a:t>과 설계</a:t>
            </a:r>
            <a:r>
              <a:rPr lang="en-US" altLang="ko-KR" dirty="0"/>
              <a:t>(Design)</a:t>
            </a:r>
            <a:r>
              <a:rPr lang="ko-KR" altLang="en-US" dirty="0"/>
              <a:t>를 위한 모델링 언어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시퀀스 다이어그램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시스템의 동적구조, 즉 객체와 객체그룹사이, 객체와 객체사이</a:t>
            </a:r>
            <a:r>
              <a:rPr lang="en-US" altLang="ko-KR" dirty="0"/>
              <a:t>, </a:t>
            </a:r>
            <a:r>
              <a:rPr lang="ko-KR" altLang="en-US" dirty="0"/>
              <a:t>객체그룹과 객체그룹사이의 동적인 행위를</a:t>
            </a:r>
            <a:r>
              <a:rPr lang="en-US" altLang="ko-KR" dirty="0"/>
              <a:t> </a:t>
            </a:r>
            <a:r>
              <a:rPr lang="ko-KR" altLang="en-US" dirty="0"/>
              <a:t>기술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시간(</a:t>
            </a:r>
            <a:r>
              <a:rPr lang="en-US" altLang="ko-KR" dirty="0"/>
              <a:t>Time),</a:t>
            </a:r>
            <a:r>
              <a:rPr lang="ko-KR" altLang="en-US" dirty="0"/>
              <a:t>객체(</a:t>
            </a:r>
            <a:r>
              <a:rPr lang="en-US" altLang="ko-KR" dirty="0"/>
              <a:t>Object),</a:t>
            </a:r>
            <a:r>
              <a:rPr lang="ko-KR" altLang="en-US" dirty="0"/>
              <a:t>메시지(</a:t>
            </a:r>
            <a:r>
              <a:rPr lang="en-US" altLang="ko-KR" dirty="0"/>
              <a:t>Message)</a:t>
            </a:r>
            <a:r>
              <a:rPr lang="ko-KR" altLang="en-US" dirty="0"/>
              <a:t>로 구성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상태 다이어그램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한 객체의 상태를 나타냄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사건에 반응하여 일으키는 상태변화를 시간을 축으로 표현</a:t>
            </a:r>
          </a:p>
        </p:txBody>
      </p:sp>
    </p:spTree>
    <p:extLst>
      <p:ext uri="{BB962C8B-B14F-4D97-AF65-F5344CB8AC3E}">
        <p14:creationId xmlns:p14="http://schemas.microsoft.com/office/powerpoint/2010/main" val="72068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A4EF7-3DE7-A07E-4240-46B24F6D4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D3C32-8E91-83C3-F7E3-EAB598FF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9BBF8-6E2C-969A-2C58-ABD4753BB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인덱스 색인</a:t>
            </a:r>
          </a:p>
        </p:txBody>
      </p:sp>
    </p:spTree>
    <p:extLst>
      <p:ext uri="{BB962C8B-B14F-4D97-AF65-F5344CB8AC3E}">
        <p14:creationId xmlns:p14="http://schemas.microsoft.com/office/powerpoint/2010/main" val="256659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22318AB-3455-1DB7-04EB-ABCBCC7C9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662" y="10616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49" name="_x257278976">
            <a:extLst>
              <a:ext uri="{FF2B5EF4-FFF2-40B4-BE49-F238E27FC236}">
                <a16:creationId xmlns:a16="http://schemas.microsoft.com/office/drawing/2014/main" id="{928F4EE0-C5B9-6D6B-8F90-0B332B6D4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8385" y="924607"/>
            <a:ext cx="5481638" cy="36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F382B20-4761-F465-0B14-C3F2A671EE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11" y="69600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51" name="_x564983592">
            <a:extLst>
              <a:ext uri="{FF2B5EF4-FFF2-40B4-BE49-F238E27FC236}">
                <a16:creationId xmlns:a16="http://schemas.microsoft.com/office/drawing/2014/main" id="{162AC5F1-9C47-9583-3B01-89831B74F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11" y="1153207"/>
            <a:ext cx="4386263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291D41-5305-E0F8-2970-EF273C5DB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84" y="3333991"/>
            <a:ext cx="4171315" cy="360870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978F13-6A97-32DE-F806-AD69DFDDAB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53" name="_x565002456">
            <a:extLst>
              <a:ext uri="{FF2B5EF4-FFF2-40B4-BE49-F238E27FC236}">
                <a16:creationId xmlns:a16="http://schemas.microsoft.com/office/drawing/2014/main" id="{9BF93998-A8E2-46FB-770A-69DE66948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317" y="3157713"/>
            <a:ext cx="4370388" cy="3825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4C7B2D-FB98-44CB-FE39-2117FF1CAC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5557" y="2080300"/>
            <a:ext cx="4370705" cy="3825748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26881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46C-4A8A-FC6B-61CF-723EB96A4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EE60B-76E6-FC23-B9D9-B2CDAA3E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509C6DB-23EF-35E7-CD84-A0CE4EFEC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662" y="10616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8F76-D8BB-E1C3-0D78-20ADE73BF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11" y="69600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F60593-9433-219A-5BA2-32D205F6E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1E4374-8F37-AFE5-40BE-FA20C4C9D3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11" y="115320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6145" name="_x564999864">
            <a:extLst>
              <a:ext uri="{FF2B5EF4-FFF2-40B4-BE49-F238E27FC236}">
                <a16:creationId xmlns:a16="http://schemas.microsoft.com/office/drawing/2014/main" id="{47E04238-5288-9891-E42F-C6D4A5B67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11" y="1610407"/>
            <a:ext cx="4592638" cy="3803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23C30E-6473-C56D-E7F1-F6C4DDB22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192" y="457200"/>
            <a:ext cx="5265420" cy="286702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7AFEDCBB-EFC3-E528-5007-A6D08103E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6147" name="_x565811912">
            <a:extLst>
              <a:ext uri="{FF2B5EF4-FFF2-40B4-BE49-F238E27FC236}">
                <a16:creationId xmlns:a16="http://schemas.microsoft.com/office/drawing/2014/main" id="{9F3D4E55-04DD-3500-20EE-1A4518E7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/>
          <a:stretch>
            <a:fillRect/>
          </a:stretch>
        </p:blipFill>
        <p:spPr bwMode="auto">
          <a:xfrm>
            <a:off x="7277079" y="1153207"/>
            <a:ext cx="2263775" cy="423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840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4A817-492A-CA9F-C813-4765CE69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66329-6AE4-BBAC-B406-1F48FD144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A0468-5E10-E70E-C566-8267BFF4E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ko-KR" altLang="en-US" dirty="0"/>
              <a:t>상태 분석</a:t>
            </a:r>
            <a:endParaRPr lang="en-US" altLang="ko-KR" dirty="0"/>
          </a:p>
          <a:p>
            <a:pPr fontAlgn="base"/>
            <a:r>
              <a:rPr lang="en-US" altLang="ko-KR" dirty="0"/>
              <a:t>- 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주민번호</a:t>
            </a:r>
            <a:r>
              <a:rPr lang="en-US" altLang="ko-KR" dirty="0"/>
              <a:t>, </a:t>
            </a:r>
            <a:r>
              <a:rPr lang="ko-KR" altLang="en-US" dirty="0"/>
              <a:t>전화번호</a:t>
            </a:r>
          </a:p>
          <a:p>
            <a:pPr fontAlgn="base"/>
            <a:r>
              <a:rPr lang="ko-KR" altLang="en-US" dirty="0"/>
              <a:t>	</a:t>
            </a:r>
            <a:r>
              <a:rPr lang="en-US" altLang="ko-KR" dirty="0"/>
              <a:t>1. </a:t>
            </a:r>
            <a:r>
              <a:rPr lang="ko-KR" altLang="en-US" dirty="0"/>
              <a:t>입력 포맷 오류</a:t>
            </a:r>
          </a:p>
          <a:p>
            <a:pPr fontAlgn="base"/>
            <a:r>
              <a:rPr lang="ko-KR" altLang="en-US" dirty="0"/>
              <a:t>	</a:t>
            </a:r>
            <a:r>
              <a:rPr lang="en-US" altLang="ko-KR" dirty="0"/>
              <a:t>2. </a:t>
            </a:r>
            <a:r>
              <a:rPr lang="ko-KR" altLang="en-US" dirty="0"/>
              <a:t>사용자 인증 오류</a:t>
            </a:r>
          </a:p>
          <a:p>
            <a:pPr fontAlgn="base"/>
            <a:r>
              <a:rPr lang="ko-KR" altLang="en-US" dirty="0"/>
              <a:t>	</a:t>
            </a:r>
            <a:r>
              <a:rPr lang="en-US" altLang="ko-KR" dirty="0"/>
              <a:t>3. </a:t>
            </a:r>
            <a:r>
              <a:rPr lang="ko-KR" altLang="en-US" dirty="0"/>
              <a:t>사용자 인증 성공</a:t>
            </a:r>
          </a:p>
          <a:p>
            <a:pPr lvl="0" fontAlgn="base"/>
            <a:r>
              <a:rPr lang="ko-KR" altLang="en-US" dirty="0"/>
              <a:t>사용자 식별 번호</a:t>
            </a:r>
            <a:r>
              <a:rPr lang="en-US" altLang="ko-KR" dirty="0"/>
              <a:t>, </a:t>
            </a:r>
            <a:r>
              <a:rPr lang="ko-KR" altLang="en-US" dirty="0"/>
              <a:t>계좌 잔액</a:t>
            </a:r>
            <a:r>
              <a:rPr lang="en-US" altLang="ko-KR" dirty="0"/>
              <a:t>, </a:t>
            </a:r>
            <a:r>
              <a:rPr lang="ko-KR" altLang="en-US" dirty="0"/>
              <a:t>입출금액</a:t>
            </a:r>
            <a:r>
              <a:rPr lang="en-US" altLang="ko-KR" dirty="0"/>
              <a:t>, </a:t>
            </a:r>
            <a:r>
              <a:rPr lang="ko-KR" altLang="en-US" dirty="0"/>
              <a:t>입출금일</a:t>
            </a:r>
            <a:r>
              <a:rPr lang="en-US" altLang="ko-KR" dirty="0"/>
              <a:t>, </a:t>
            </a:r>
            <a:r>
              <a:rPr lang="ko-KR" altLang="en-US" dirty="0"/>
              <a:t>전월 일평균 지출액</a:t>
            </a:r>
          </a:p>
          <a:p>
            <a:pPr fontAlgn="base"/>
            <a:r>
              <a:rPr lang="en-US" altLang="ko-KR" dirty="0"/>
              <a:t>1. </a:t>
            </a:r>
            <a:r>
              <a:rPr lang="ko-KR" altLang="en-US" dirty="0"/>
              <a:t>일일 소비량 높음</a:t>
            </a:r>
          </a:p>
          <a:p>
            <a:pPr fontAlgn="base"/>
            <a:r>
              <a:rPr lang="en-US" altLang="ko-KR" dirty="0"/>
              <a:t>2. </a:t>
            </a:r>
            <a:r>
              <a:rPr lang="ko-KR" altLang="en-US" dirty="0"/>
              <a:t>일일 소비량 보통</a:t>
            </a:r>
          </a:p>
          <a:p>
            <a:pPr fontAlgn="base"/>
            <a:r>
              <a:rPr lang="en-US" altLang="ko-KR" dirty="0"/>
              <a:t>3. </a:t>
            </a:r>
            <a:r>
              <a:rPr lang="ko-KR" altLang="en-US" dirty="0"/>
              <a:t>일일 소비량 낮음</a:t>
            </a:r>
          </a:p>
        </p:txBody>
      </p:sp>
    </p:spTree>
    <p:extLst>
      <p:ext uri="{BB962C8B-B14F-4D97-AF65-F5344CB8AC3E}">
        <p14:creationId xmlns:p14="http://schemas.microsoft.com/office/powerpoint/2010/main" val="998701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C977-A92B-B8ED-B8A0-006119B68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8AEB9-4945-9CFA-2F93-8A5C50BB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AFE02-3F6E-CBD3-D2EF-D8456953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fontAlgn="base"/>
            <a:r>
              <a:rPr lang="ko-KR" altLang="en-US" dirty="0"/>
              <a:t>전략 생성</a:t>
            </a:r>
            <a:endParaRPr lang="en-US" altLang="ko-KR" dirty="0"/>
          </a:p>
          <a:p>
            <a:pPr lvl="0" fontAlgn="base"/>
            <a:r>
              <a:rPr lang="ko-KR" altLang="en-US" dirty="0"/>
              <a:t>입력 포맷 오류 </a:t>
            </a:r>
            <a:r>
              <a:rPr lang="en-US" altLang="ko-KR" dirty="0"/>
              <a:t>-&gt; </a:t>
            </a:r>
            <a:r>
              <a:rPr lang="ko-KR" altLang="en-US" dirty="0"/>
              <a:t>입력칸 재입력 요구</a:t>
            </a:r>
          </a:p>
          <a:p>
            <a:pPr lvl="0" fontAlgn="base"/>
            <a:r>
              <a:rPr lang="ko-KR" altLang="en-US" dirty="0"/>
              <a:t>사용자 인증 오류 </a:t>
            </a:r>
            <a:r>
              <a:rPr lang="en-US" altLang="ko-KR" dirty="0"/>
              <a:t>-&gt; </a:t>
            </a:r>
            <a:r>
              <a:rPr lang="ko-KR" altLang="en-US" dirty="0"/>
              <a:t>존재하지 않는 사용자임을 알림</a:t>
            </a:r>
          </a:p>
          <a:p>
            <a:pPr lvl="0" fontAlgn="base"/>
            <a:r>
              <a:rPr lang="ko-KR" altLang="en-US" dirty="0"/>
              <a:t>사용자 인증 성공 </a:t>
            </a:r>
            <a:r>
              <a:rPr lang="en-US" altLang="ko-KR" dirty="0"/>
              <a:t>-&gt; </a:t>
            </a:r>
            <a:r>
              <a:rPr lang="ko-KR" altLang="en-US" dirty="0"/>
              <a:t>인증 완료를 알리고 다음 프로세스 진행</a:t>
            </a:r>
          </a:p>
          <a:p>
            <a:pPr lvl="0" fontAlgn="base"/>
            <a:r>
              <a:rPr lang="ko-KR" altLang="en-US" dirty="0"/>
              <a:t>일일 소비량 높음 </a:t>
            </a:r>
            <a:r>
              <a:rPr lang="en-US" altLang="ko-KR" dirty="0"/>
              <a:t>-&gt; </a:t>
            </a:r>
            <a:r>
              <a:rPr lang="ko-KR" altLang="en-US" dirty="0"/>
              <a:t>과소비 상태 알림 및 권장 지출액 조정</a:t>
            </a:r>
          </a:p>
          <a:p>
            <a:pPr lvl="0" fontAlgn="base"/>
            <a:r>
              <a:rPr lang="ko-KR" altLang="en-US" dirty="0"/>
              <a:t>일일 소비량 보통 </a:t>
            </a:r>
            <a:r>
              <a:rPr lang="en-US" altLang="ko-KR" dirty="0"/>
              <a:t>-&gt; </a:t>
            </a:r>
            <a:r>
              <a:rPr lang="ko-KR" altLang="en-US" dirty="0"/>
              <a:t>전월 일평균 지출액 대비 차이 없음 알림</a:t>
            </a:r>
          </a:p>
          <a:p>
            <a:pPr lvl="0" fontAlgn="base"/>
            <a:r>
              <a:rPr lang="ko-KR" altLang="en-US" dirty="0"/>
              <a:t>일일 소비량 낮음 </a:t>
            </a:r>
            <a:r>
              <a:rPr lang="en-US" altLang="ko-KR" dirty="0"/>
              <a:t>-&gt;</a:t>
            </a:r>
            <a:r>
              <a:rPr lang="ko-KR" altLang="en-US" dirty="0"/>
              <a:t> 전월 일평균 지출액 대비 차이 없음 알림 및 권장 지출액 조정</a:t>
            </a:r>
          </a:p>
        </p:txBody>
      </p:sp>
    </p:spTree>
    <p:extLst>
      <p:ext uri="{BB962C8B-B14F-4D97-AF65-F5344CB8AC3E}">
        <p14:creationId xmlns:p14="http://schemas.microsoft.com/office/powerpoint/2010/main" val="3595227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/>
            </a:pPr>
            <a:r>
              <a:rPr lang="en-US" altLang="ko-KR" dirty="0"/>
              <a:t>Critical System</a:t>
            </a:r>
          </a:p>
          <a:p>
            <a:pPr>
              <a:defRPr/>
            </a:pPr>
            <a:r>
              <a:rPr lang="ko-KR" altLang="en-US" dirty="0"/>
              <a:t>“어떤 시스템 고장은 중요한 경제적 손실과</a:t>
            </a:r>
            <a:r>
              <a:rPr lang="en-US" altLang="ko-KR" dirty="0"/>
              <a:t>, </a:t>
            </a:r>
            <a:r>
              <a:rPr lang="ko-KR" altLang="en-US" dirty="0"/>
              <a:t>물질적 피해</a:t>
            </a:r>
            <a:r>
              <a:rPr lang="en-US" altLang="ko-KR" dirty="0"/>
              <a:t>, </a:t>
            </a:r>
            <a:r>
              <a:rPr lang="ko-KR" altLang="en-US" dirty="0"/>
              <a:t>혹은 사람의 생명에 위협이 될 수 있다</a:t>
            </a:r>
            <a:r>
              <a:rPr lang="en-US" altLang="ko-KR" dirty="0"/>
              <a:t>.”</a:t>
            </a:r>
          </a:p>
          <a:p>
            <a:pPr>
              <a:defRPr/>
            </a:pPr>
            <a:r>
              <a:rPr lang="en-US" altLang="ko-KR" dirty="0"/>
              <a:t>Critical system</a:t>
            </a:r>
            <a:r>
              <a:rPr lang="ko-KR" altLang="en-US" dirty="0"/>
              <a:t>의 중요한 특징</a:t>
            </a:r>
          </a:p>
          <a:p>
            <a:pPr>
              <a:defRPr/>
            </a:pPr>
            <a:r>
              <a:rPr lang="en-US" altLang="ko-KR" dirty="0"/>
              <a:t>Dependability (</a:t>
            </a:r>
            <a:r>
              <a:rPr lang="ko-KR" altLang="en-US" dirty="0"/>
              <a:t>신뢰성 </a:t>
            </a:r>
            <a:r>
              <a:rPr lang="en-US" altLang="ko-KR" dirty="0"/>
              <a:t>/ </a:t>
            </a:r>
            <a:r>
              <a:rPr lang="ko-KR" altLang="en-US" dirty="0"/>
              <a:t>확실성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Availability(</a:t>
            </a:r>
            <a:r>
              <a:rPr lang="ko-KR" altLang="en-US" dirty="0"/>
              <a:t>가용성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Reliability(</a:t>
            </a:r>
            <a:r>
              <a:rPr lang="ko-KR" altLang="en-US" dirty="0"/>
              <a:t>신뢰성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Safety(</a:t>
            </a:r>
            <a:r>
              <a:rPr lang="ko-KR" altLang="en-US" dirty="0"/>
              <a:t>안정성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Security(</a:t>
            </a:r>
            <a:r>
              <a:rPr lang="ko-KR" altLang="en-US" dirty="0"/>
              <a:t>보안성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Repairability (</a:t>
            </a:r>
            <a:r>
              <a:rPr lang="ko-KR" altLang="en-US" dirty="0"/>
              <a:t>수리가능성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Maintainability (</a:t>
            </a:r>
            <a:r>
              <a:rPr lang="ko-KR" altLang="en-US" dirty="0"/>
              <a:t>유지보수성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Survivability (</a:t>
            </a:r>
            <a:r>
              <a:rPr lang="ko-KR" altLang="en-US" dirty="0"/>
              <a:t>생존가능성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Error tolerance (</a:t>
            </a:r>
            <a:r>
              <a:rPr lang="ko-KR" altLang="en-US" dirty="0"/>
              <a:t>오류내성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3622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ko-KR" altLang="en-US" dirty="0"/>
              <a:t>신뢰성을 이루기 위한 기술</a:t>
            </a:r>
          </a:p>
          <a:p>
            <a:pPr>
              <a:defRPr/>
            </a:pPr>
            <a:r>
              <a:rPr lang="en-US" altLang="ko-KR" dirty="0"/>
              <a:t>Fault avoidance (</a:t>
            </a:r>
            <a:r>
              <a:rPr lang="ko-KR" altLang="en-US" dirty="0"/>
              <a:t>결함 회피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 결함 발생 전에</a:t>
            </a:r>
            <a:r>
              <a:rPr lang="en-US" altLang="ko-KR" dirty="0"/>
              <a:t>, </a:t>
            </a:r>
            <a:r>
              <a:rPr lang="ko-KR" altLang="en-US" dirty="0"/>
              <a:t>실수를 할 가능성을 최소화</a:t>
            </a:r>
          </a:p>
          <a:p>
            <a:pPr>
              <a:defRPr/>
            </a:pPr>
            <a:r>
              <a:rPr lang="en-US" altLang="ko-KR" dirty="0"/>
              <a:t>Fault detection and removal (</a:t>
            </a:r>
            <a:r>
              <a:rPr lang="ko-KR" altLang="en-US" dirty="0"/>
              <a:t>결함 탐지와 제거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 사용 전</a:t>
            </a:r>
            <a:r>
              <a:rPr lang="en-US" altLang="ko-KR" dirty="0"/>
              <a:t>, </a:t>
            </a:r>
            <a:r>
              <a:rPr lang="ko-KR" altLang="en-US" dirty="0"/>
              <a:t>시스템의 결함을 제거하는 확인과 검증 기술 사용</a:t>
            </a:r>
          </a:p>
          <a:p>
            <a:pPr>
              <a:defRPr/>
            </a:pPr>
            <a:r>
              <a:rPr lang="en-US" altLang="ko-KR" dirty="0"/>
              <a:t>Fault tolerance (</a:t>
            </a:r>
            <a:r>
              <a:rPr lang="ko-KR" altLang="en-US" dirty="0"/>
              <a:t>결함 내성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시스템에 존재하는 결함이 시스템 오류를 일으키지 않도록 함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시스템의 오류가 시스템 고장이 되지 않도록 하는 것</a:t>
            </a:r>
          </a:p>
        </p:txBody>
      </p:sp>
    </p:spTree>
    <p:extLst>
      <p:ext uri="{BB962C8B-B14F-4D97-AF65-F5344CB8AC3E}">
        <p14:creationId xmlns:p14="http://schemas.microsoft.com/office/powerpoint/2010/main" val="122141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DF997-212C-B196-3EEF-96E7E1EE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83427-A35B-D589-0965-E8C088CC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C1ED4-0DEC-67E7-BE88-EE95FB8B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defRPr/>
            </a:pPr>
            <a:r>
              <a:rPr lang="en-US" altLang="ko-KR" dirty="0"/>
              <a:t>Hazard avoidance (</a:t>
            </a:r>
            <a:r>
              <a:rPr lang="ko-KR" altLang="en-US" dirty="0"/>
              <a:t>위험 회피 기술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ü The system is designed so that some hazard cannot arise</a:t>
            </a:r>
          </a:p>
          <a:p>
            <a:pPr>
              <a:defRPr/>
            </a:pPr>
            <a:r>
              <a:rPr lang="en-US" altLang="ko-KR" dirty="0"/>
              <a:t>• Ex) Cutting system with two separate button</a:t>
            </a:r>
          </a:p>
          <a:p>
            <a:pPr>
              <a:defRPr/>
            </a:pPr>
            <a:r>
              <a:rPr lang="en-US" altLang="ko-KR" dirty="0"/>
              <a:t>► Hazard detection and removal (</a:t>
            </a:r>
            <a:r>
              <a:rPr lang="ko-KR" altLang="en-US" dirty="0"/>
              <a:t>위험 탐지 및 제거 기술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ü The system is designed so that hazards are detected and removed </a:t>
            </a:r>
          </a:p>
          <a:p>
            <a:pPr>
              <a:defRPr/>
            </a:pPr>
            <a:r>
              <a:rPr lang="en-US" altLang="ko-KR" dirty="0"/>
              <a:t>before they result in an accident</a:t>
            </a:r>
          </a:p>
          <a:p>
            <a:pPr>
              <a:defRPr/>
            </a:pPr>
            <a:r>
              <a:rPr lang="en-US" altLang="ko-KR" dirty="0"/>
              <a:t>• Ex) Chemical plant system detects excessive pressure and opens a relief </a:t>
            </a:r>
          </a:p>
          <a:p>
            <a:pPr>
              <a:defRPr/>
            </a:pPr>
            <a:r>
              <a:rPr lang="en-US" altLang="ko-KR" dirty="0"/>
              <a:t>valve</a:t>
            </a:r>
          </a:p>
          <a:p>
            <a:pPr>
              <a:defRPr/>
            </a:pPr>
            <a:r>
              <a:rPr lang="en-US" altLang="ko-KR" dirty="0"/>
              <a:t>► Damage limitation (</a:t>
            </a:r>
            <a:r>
              <a:rPr lang="ko-KR" altLang="en-US" dirty="0"/>
              <a:t>피해 최소화 기술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ü The system includes protection features that minimize the damage </a:t>
            </a:r>
          </a:p>
          <a:p>
            <a:pPr>
              <a:defRPr/>
            </a:pPr>
            <a:r>
              <a:rPr lang="en-US" altLang="ko-KR" dirty="0"/>
              <a:t>that may result from an accident</a:t>
            </a:r>
          </a:p>
          <a:p>
            <a:pPr>
              <a:defRPr/>
            </a:pPr>
            <a:r>
              <a:rPr lang="en-US" altLang="ko-KR" dirty="0"/>
              <a:t>• Ex) Aircraft engine including automatic fire extinguishers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07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57467-97A3-E13E-75EA-6944BB41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06C58-9B2C-04DF-D6C1-EADD32A0F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16371-0713-3A37-0C52-71E6EE147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</a:t>
            </a:r>
            <a:r>
              <a:rPr lang="en-US" altLang="ko-KR" dirty="0"/>
              <a:t>MAPE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7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33307-EBF5-9A81-5EAB-810C582B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1A789-7AC6-8384-A0D1-EA686EBC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3043-6218-B1A6-8BF5-7C4A0308D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필드</a:t>
            </a:r>
          </a:p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4303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3048-D6FC-0747-7950-E8079D7DC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F8D1F-C47C-69FF-D452-347C410B0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AABB6-5CF5-6187-1F21-F0BBFAC04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함수 추상화</a:t>
            </a:r>
          </a:p>
        </p:txBody>
      </p:sp>
    </p:spTree>
    <p:extLst>
      <p:ext uri="{BB962C8B-B14F-4D97-AF65-F5344CB8AC3E}">
        <p14:creationId xmlns:p14="http://schemas.microsoft.com/office/powerpoint/2010/main" val="1212503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9CA23-4A56-22C2-2547-CACCDE059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4DE2E-8F4C-D04E-E227-EE2AA815A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09A90-F591-C4BE-79E2-178743DB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평가 방법</a:t>
            </a:r>
          </a:p>
        </p:txBody>
      </p:sp>
    </p:spTree>
    <p:extLst>
      <p:ext uri="{BB962C8B-B14F-4D97-AF65-F5344CB8AC3E}">
        <p14:creationId xmlns:p14="http://schemas.microsoft.com/office/powerpoint/2010/main" val="1775104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62059-11FC-A0FC-97F0-2762536DA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41363-8F0D-2FD7-BE5A-E67B77C09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61901-9F64-C87B-8030-6BDBC8FB6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임계값 설정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방사능 물질의 위험도 측정 시스템 난수 필드 설정</a:t>
            </a:r>
          </a:p>
        </p:txBody>
      </p:sp>
    </p:spTree>
    <p:extLst>
      <p:ext uri="{BB962C8B-B14F-4D97-AF65-F5344CB8AC3E}">
        <p14:creationId xmlns:p14="http://schemas.microsoft.com/office/powerpoint/2010/main" val="3818282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8CE5A-60DB-DE6A-7287-E38E7C18E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05746-91CA-19A7-0E89-85309B67C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A8BFB-F80A-B036-E176-39EAB67B0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시퀀스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227133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20C0-F6C8-D7F0-24D8-8089C3D3B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100E1-82FC-222D-DDC9-9365C421B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80E8C-E572-BF08-0A94-5647CF23E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시퀀스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505053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3E5AF-D0A6-9AF7-0D17-ECFD97164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01148-CE52-6A4D-A07C-694104794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69086-A82D-307A-0C37-79A8BF402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상태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1032757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FBC45-E4D9-2662-FD5A-AA8DB32BD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1A050-31E7-E098-39D6-21D4718E7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6D800-975E-2883-E77A-495E588F0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</a:t>
            </a:r>
            <a:r>
              <a:rPr lang="en-US" altLang="ko-KR" dirty="0"/>
              <a:t>MAPE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8116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658E7-35AA-5BF4-8038-833ECB8F6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22179-9799-ED3F-31DC-C2DBA555D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26657-8CF4-5C37-CB2A-6CD2C7C36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필드 설정</a:t>
            </a:r>
          </a:p>
        </p:txBody>
      </p:sp>
    </p:spTree>
    <p:extLst>
      <p:ext uri="{BB962C8B-B14F-4D97-AF65-F5344CB8AC3E}">
        <p14:creationId xmlns:p14="http://schemas.microsoft.com/office/powerpoint/2010/main" val="1105672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5BCF-F2A0-C481-1C3E-F76B1A237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A4A8-2FA3-1DC2-42D5-6CFF1CBA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98C5-6F8C-DC60-6381-427711D61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함수 추상화</a:t>
            </a:r>
          </a:p>
        </p:txBody>
      </p:sp>
    </p:spTree>
    <p:extLst>
      <p:ext uri="{BB962C8B-B14F-4D97-AF65-F5344CB8AC3E}">
        <p14:creationId xmlns:p14="http://schemas.microsoft.com/office/powerpoint/2010/main" val="3922831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5E5FF-197B-F27A-6F32-66EA8DE9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FE4C-47D8-7CA5-E45C-401424B6F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86622-B415-C6AB-FB0B-FD948DFA9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함수 추상화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교내 보행자 안전 시스템 평가 방법</a:t>
            </a:r>
            <a:endParaRPr lang="en-US" altLang="ko-KR" dirty="0"/>
          </a:p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9467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Risk Management</a:t>
            </a:r>
          </a:p>
          <a:p>
            <a:pPr>
              <a:defRPr/>
            </a:pPr>
            <a:r>
              <a:rPr lang="ko-KR" altLang="en-US" dirty="0"/>
              <a:t>소프트웨어 품질 혹은 프로젝트 일정에 영향을 미치는 위험 예측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프로젝트 위험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제품 위험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비즈니스 위험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0259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0F0D2-9772-5FA5-925C-DF41A798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1C82-3DCC-20D9-3D67-9F0F3532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117F-D338-97E4-5B1D-2C6B9A255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ko-KR" altLang="en-US" dirty="0"/>
              <a:t>위험 관리 프로세스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식별</a:t>
            </a:r>
            <a:r>
              <a:rPr lang="en-US" altLang="ko-KR" dirty="0"/>
              <a:t>(Risk identification)</a:t>
            </a:r>
          </a:p>
          <a:p>
            <a:pPr>
              <a:defRPr/>
            </a:pPr>
            <a:r>
              <a:rPr lang="ko-KR" altLang="en-US" dirty="0"/>
              <a:t>위험 분석</a:t>
            </a:r>
            <a:r>
              <a:rPr lang="en-US" altLang="ko-KR" dirty="0"/>
              <a:t>(Risk analysis)</a:t>
            </a:r>
          </a:p>
          <a:p>
            <a:pPr>
              <a:defRPr/>
            </a:pPr>
            <a:r>
              <a:rPr lang="ko-KR" altLang="en-US" dirty="0"/>
              <a:t>위험 가능성 평가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결과 평가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계획</a:t>
            </a:r>
            <a:r>
              <a:rPr lang="en-US" altLang="ko-KR" dirty="0"/>
              <a:t>(Risk planning)</a:t>
            </a:r>
          </a:p>
          <a:p>
            <a:pPr>
              <a:defRPr/>
            </a:pPr>
            <a:r>
              <a:rPr lang="ko-KR" altLang="en-US" dirty="0"/>
              <a:t>회피전략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최소화전략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비상계획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감시</a:t>
            </a:r>
            <a:r>
              <a:rPr lang="en-US" altLang="ko-KR" dirty="0"/>
              <a:t>(Risk monitoring)</a:t>
            </a:r>
          </a:p>
        </p:txBody>
      </p:sp>
    </p:spTree>
    <p:extLst>
      <p:ext uri="{BB962C8B-B14F-4D97-AF65-F5344CB8AC3E}">
        <p14:creationId xmlns:p14="http://schemas.microsoft.com/office/powerpoint/2010/main" val="4120945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유형</a:t>
            </a:r>
          </a:p>
        </p:txBody>
      </p:sp>
    </p:spTree>
    <p:extLst>
      <p:ext uri="{BB962C8B-B14F-4D97-AF65-F5344CB8AC3E}">
        <p14:creationId xmlns:p14="http://schemas.microsoft.com/office/powerpoint/2010/main" val="112558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682D5-57F9-F424-9316-0568BC01E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BA82-573D-E3F9-50EB-8F6448DB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4BA9C-6870-37B2-E90F-78859227F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식별</a:t>
            </a:r>
          </a:p>
        </p:txBody>
      </p:sp>
    </p:spTree>
    <p:extLst>
      <p:ext uri="{BB962C8B-B14F-4D97-AF65-F5344CB8AC3E}">
        <p14:creationId xmlns:p14="http://schemas.microsoft.com/office/powerpoint/2010/main" val="156584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FA2E5-9769-509C-2CFB-B7184441E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A5D74-707D-9CF4-3627-F3B8D079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D7264-AC71-735A-5010-C0EC99FF7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분석</a:t>
            </a:r>
          </a:p>
        </p:txBody>
      </p:sp>
    </p:spTree>
    <p:extLst>
      <p:ext uri="{BB962C8B-B14F-4D97-AF65-F5344CB8AC3E}">
        <p14:creationId xmlns:p14="http://schemas.microsoft.com/office/powerpoint/2010/main" val="1844860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658C-9793-A133-E609-0E121FB8C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EE2E-D453-C508-C267-FB5BC13FD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8A9D7-2FA1-8EAA-B7B2-D28D71FDC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전략</a:t>
            </a:r>
          </a:p>
        </p:txBody>
      </p:sp>
    </p:spTree>
    <p:extLst>
      <p:ext uri="{BB962C8B-B14F-4D97-AF65-F5344CB8AC3E}">
        <p14:creationId xmlns:p14="http://schemas.microsoft.com/office/powerpoint/2010/main" val="2732897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2052-5A49-BBCE-FE09-FAD6C64F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1FFD6-818E-854E-F478-15EE408E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506DA-511A-7044-082A-BDA66FAAE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감시</a:t>
            </a:r>
          </a:p>
        </p:txBody>
      </p:sp>
    </p:spTree>
    <p:extLst>
      <p:ext uri="{BB962C8B-B14F-4D97-AF65-F5344CB8AC3E}">
        <p14:creationId xmlns:p14="http://schemas.microsoft.com/office/powerpoint/2010/main" val="75025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최종 주제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교내 보행자 안전 시스템에 대한 간단한 설명</a:t>
            </a:r>
          </a:p>
        </p:txBody>
      </p:sp>
    </p:spTree>
    <p:extLst>
      <p:ext uri="{BB962C8B-B14F-4D97-AF65-F5344CB8AC3E}">
        <p14:creationId xmlns:p14="http://schemas.microsoft.com/office/powerpoint/2010/main" val="3766277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설계 단계에서 논의 된 내용을 간략히 설명</a:t>
            </a:r>
          </a:p>
        </p:txBody>
      </p:sp>
    </p:spTree>
    <p:extLst>
      <p:ext uri="{BB962C8B-B14F-4D97-AF65-F5344CB8AC3E}">
        <p14:creationId xmlns:p14="http://schemas.microsoft.com/office/powerpoint/2010/main" val="3617708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47789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528041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51644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개발과정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업무분담</a:t>
            </a:r>
          </a:p>
        </p:txBody>
      </p:sp>
    </p:spTree>
    <p:extLst>
      <p:ext uri="{BB962C8B-B14F-4D97-AF65-F5344CB8AC3E}">
        <p14:creationId xmlns:p14="http://schemas.microsoft.com/office/powerpoint/2010/main" val="772644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72285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405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0212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37611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749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한 학기 마무리 감상</a:t>
            </a:r>
          </a:p>
        </p:txBody>
      </p:sp>
    </p:spTree>
    <p:extLst>
      <p:ext uri="{BB962C8B-B14F-4D97-AF65-F5344CB8AC3E}">
        <p14:creationId xmlns:p14="http://schemas.microsoft.com/office/powerpoint/2010/main" val="160603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216268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1528</ep:Words>
  <ep:PresentationFormat>Widescreen</ep:PresentationFormat>
  <ep:Paragraphs>264</ep:Paragraphs>
  <ep:Slides>55</ep:Slides>
  <ep:Notes>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ep:HeadingPairs>
  <ep:TitlesOfParts>
    <vt:vector size="56" baseType="lpstr">
      <vt:lpstr>Office Theme</vt:lpstr>
      <vt:lpstr>소프트웨어 응용설계</vt:lpstr>
      <vt:lpstr>목차</vt:lpstr>
      <vt:lpstr>과제 1 - Autonomic Computing Evaluation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2025-11-16T08:43:41.000</dcterms:created>
  <dc:creator>Jongyoun Pyeon</dc:creator>
  <cp:lastModifiedBy>owXD0</cp:lastModifiedBy>
  <dcterms:modified xsi:type="dcterms:W3CDTF">2025-11-25T06:15:17.808</dcterms:modified>
  <cp:revision>14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