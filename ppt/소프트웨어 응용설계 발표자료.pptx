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ldMasterIdLst>
    <p:sldMasterId id="2147483648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83" r:id="rId7"/>
    <p:sldId id="285" r:id="rId8"/>
    <p:sldId id="286" r:id="rId9"/>
    <p:sldId id="287" r:id="rId10"/>
    <p:sldId id="288" r:id="rId11"/>
    <p:sldId id="289" r:id="rId12"/>
    <p:sldId id="261" r:id="rId13"/>
    <p:sldId id="290" r:id="rId14"/>
    <p:sldId id="260" r:id="rId15"/>
    <p:sldId id="291" r:id="rId16"/>
    <p:sldId id="314" r:id="rId17"/>
    <p:sldId id="315" r:id="rId18"/>
    <p:sldId id="295" r:id="rId19"/>
    <p:sldId id="317" r:id="rId20"/>
    <p:sldId id="321" r:id="rId21"/>
    <p:sldId id="322" r:id="rId22"/>
    <p:sldId id="264" r:id="rId23"/>
    <p:sldId id="265" r:id="rId24"/>
    <p:sldId id="297" r:id="rId25"/>
    <p:sldId id="324" r:id="rId26"/>
    <p:sldId id="325" r:id="rId27"/>
    <p:sldId id="326" r:id="rId28"/>
    <p:sldId id="327" r:id="rId29"/>
    <p:sldId id="328" r:id="rId30"/>
    <p:sldId id="329" r:id="rId31"/>
    <p:sldId id="330" r:id="rId32"/>
    <p:sldId id="302" r:id="rId33"/>
    <p:sldId id="305" r:id="rId34"/>
    <p:sldId id="303" r:id="rId35"/>
    <p:sldId id="304" r:id="rId36"/>
    <p:sldId id="306" r:id="rId37"/>
    <p:sldId id="307" r:id="rId38"/>
    <p:sldId id="308" r:id="rId39"/>
    <p:sldId id="266" r:id="rId40"/>
    <p:sldId id="309" r:id="rId41"/>
    <p:sldId id="267" r:id="rId42"/>
    <p:sldId id="310" r:id="rId43"/>
    <p:sldId id="311" r:id="rId44"/>
    <p:sldId id="312" r:id="rId45"/>
    <p:sldId id="313" r:id="rId46"/>
    <p:sldId id="268" r:id="rId47"/>
    <p:sldId id="269" r:id="rId48"/>
    <p:sldId id="270" r:id="rId49"/>
    <p:sldId id="276" r:id="rId50"/>
    <p:sldId id="277" r:id="rId51"/>
    <p:sldId id="271" r:id="rId52"/>
    <p:sldId id="272" r:id="rId53"/>
    <p:sldId id="278" r:id="rId54"/>
    <p:sldId id="279" r:id="rId55"/>
    <p:sldId id="280" r:id="rId56"/>
    <p:sldId id="273" r:id="rId57"/>
    <p:sldId id="275" r:id="rId58"/>
    <p:sldId id="281" r:id="rId5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howPr showNarration="1">
    <p:sldAll/>
    <p:penClr>
      <a:srgbClr val="ff0000"/>
    </p:penClr>
    <p:extLst>
      <p:ext uri="{2FDB2607-1784-4EEB-B798-7EB5836EED8A}">
        <p14:showMediaCtrls xmlns:p14="http://schemas.microsoft.com/office/powerpoint/2010/main" val="1"/>
      </p:ext>
    </p:extLst>
  </p:showPr>
  <p:extLst>
    <p:ext uri="ACF4677E-8BD2-47ae-8A1F-98590045965D">
      <hp:hncThemeShow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>
  <a:tblStyle styleId="{F8D88D6A-5F01-457D-8EC9-7B5F63248C40}" styleName="Normal Style 1 - Body/Background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lum val="90000"/>
            </a:schemeClr>
          </a:solidFill>
        </a:fill>
      </a:tcStyle>
    </a:wholeTbl>
    <a:band1H>
      <a:tcTxStyle/>
      <a:tcStyle>
        <a:tcBdr/>
        <a:fill>
          <a:solidFill>
            <a:schemeClr val="dk1">
              <a:lum val="8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dk1">
              <a:lum val="8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1A66EDD-3DAB-4C5B-A090-DC80EC1FD486}" styleName="Normal Style 1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lum val="9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lum val="8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lum val="8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6EB75EC-ACF4-43F1-940C-6C9C5489C1DE}" styleName="Normal Style 4 - Body/Background 4">
    <a:wholeTbl>
      <a:tcTxStyle>
        <a:fontRef idx="minor">
          <a:scrgbClr r="0" g="0" b="0"/>
        </a:fontRef>
        <a:schemeClr val="dk1"/>
      </a:tcTxStyle>
      <a:tcStyle>
        <a:tcBdr>
          <a:left>
            <a:ln w="40000" cmpd="sng">
              <a:solidFill>
                <a:schemeClr val="dk1"/>
              </a:solidFill>
            </a:ln>
          </a:left>
          <a:right>
            <a:ln w="40000" cmpd="sng">
              <a:solidFill>
                <a:schemeClr val="dk1"/>
              </a:solidFill>
            </a:ln>
          </a:right>
          <a:top>
            <a:ln w="40000" cmpd="sng">
              <a:solidFill>
                <a:schemeClr val="dk1"/>
              </a:solidFill>
            </a:ln>
          </a:top>
          <a:bottom>
            <a:ln w="400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lum val="90000"/>
            </a:schemeClr>
          </a:solidFill>
        </a:fill>
      </a:tcStyle>
    </a:wholeTbl>
    <a:band1H>
      <a:tcTxStyle/>
      <a:tcStyle>
        <a:tcBdr/>
        <a:fill>
          <a:solidFill>
            <a:schemeClr val="dk1">
              <a:tint val="50000"/>
            </a:schemeClr>
          </a:solidFill>
        </a:fill>
      </a:tcStyle>
    </a:band1H>
    <a:band1V>
      <a:tcTxStyle/>
      <a:tcStyle>
        <a:tcBdr/>
        <a:fill>
          <a:solidFill>
            <a:schemeClr val="dk1">
              <a:tint val="5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dk1">
          <a:shade val="80000"/>
        </a:schemeClr>
      </a:tcTxStyle>
      <a:tcStyle>
        <a:tcBdr>
          <a:bottom>
            <a:ln w="35400" cmpd="sng">
              <a:solidFill>
                <a:schemeClr val="dk1">
                  <a:shade val="80000"/>
                </a:schemeClr>
              </a:solidFill>
            </a:ln>
          </a:bottom>
        </a:tcBdr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 horzBarState="maximized">
    <p:restoredLeft sz="12929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824" y="72"/>
      </p:cViewPr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8.xml"  /><Relationship Id="rId11" Type="http://schemas.openxmlformats.org/officeDocument/2006/relationships/slide" Target="slides/slide9.xml"  /><Relationship Id="rId12" Type="http://schemas.openxmlformats.org/officeDocument/2006/relationships/slide" Target="slides/slide10.xml"  /><Relationship Id="rId13" Type="http://schemas.openxmlformats.org/officeDocument/2006/relationships/slide" Target="slides/slide11.xml"  /><Relationship Id="rId14" Type="http://schemas.openxmlformats.org/officeDocument/2006/relationships/slide" Target="slides/slide12.xml"  /><Relationship Id="rId15" Type="http://schemas.openxmlformats.org/officeDocument/2006/relationships/slide" Target="slides/slide13.xml"  /><Relationship Id="rId16" Type="http://schemas.openxmlformats.org/officeDocument/2006/relationships/slide" Target="slides/slide14.xml"  /><Relationship Id="rId17" Type="http://schemas.openxmlformats.org/officeDocument/2006/relationships/slide" Target="slides/slide15.xml"  /><Relationship Id="rId18" Type="http://schemas.openxmlformats.org/officeDocument/2006/relationships/slide" Target="slides/slide16.xml"  /><Relationship Id="rId19" Type="http://schemas.openxmlformats.org/officeDocument/2006/relationships/slide" Target="slides/slide17.xml"  /><Relationship Id="rId2" Type="http://schemas.openxmlformats.org/officeDocument/2006/relationships/notesMaster" Target="notesMasters/notesMaster1.xml"  /><Relationship Id="rId20" Type="http://schemas.openxmlformats.org/officeDocument/2006/relationships/slide" Target="slides/slide18.xml"  /><Relationship Id="rId21" Type="http://schemas.openxmlformats.org/officeDocument/2006/relationships/slide" Target="slides/slide19.xml"  /><Relationship Id="rId22" Type="http://schemas.openxmlformats.org/officeDocument/2006/relationships/slide" Target="slides/slide20.xml"  /><Relationship Id="rId23" Type="http://schemas.openxmlformats.org/officeDocument/2006/relationships/slide" Target="slides/slide21.xml"  /><Relationship Id="rId24" Type="http://schemas.openxmlformats.org/officeDocument/2006/relationships/slide" Target="slides/slide22.xml"  /><Relationship Id="rId25" Type="http://schemas.openxmlformats.org/officeDocument/2006/relationships/slide" Target="slides/slide23.xml"  /><Relationship Id="rId26" Type="http://schemas.openxmlformats.org/officeDocument/2006/relationships/slide" Target="slides/slide24.xml"  /><Relationship Id="rId27" Type="http://schemas.openxmlformats.org/officeDocument/2006/relationships/slide" Target="slides/slide25.xml"  /><Relationship Id="rId28" Type="http://schemas.openxmlformats.org/officeDocument/2006/relationships/slide" Target="slides/slide26.xml"  /><Relationship Id="rId29" Type="http://schemas.openxmlformats.org/officeDocument/2006/relationships/slide" Target="slides/slide27.xml"  /><Relationship Id="rId3" Type="http://schemas.openxmlformats.org/officeDocument/2006/relationships/slide" Target="slides/slide1.xml"  /><Relationship Id="rId30" Type="http://schemas.openxmlformats.org/officeDocument/2006/relationships/slide" Target="slides/slide28.xml"  /><Relationship Id="rId31" Type="http://schemas.openxmlformats.org/officeDocument/2006/relationships/slide" Target="slides/slide29.xml"  /><Relationship Id="rId32" Type="http://schemas.openxmlformats.org/officeDocument/2006/relationships/slide" Target="slides/slide30.xml"  /><Relationship Id="rId33" Type="http://schemas.openxmlformats.org/officeDocument/2006/relationships/slide" Target="slides/slide31.xml"  /><Relationship Id="rId34" Type="http://schemas.openxmlformats.org/officeDocument/2006/relationships/slide" Target="slides/slide32.xml"  /><Relationship Id="rId35" Type="http://schemas.openxmlformats.org/officeDocument/2006/relationships/slide" Target="slides/slide33.xml"  /><Relationship Id="rId36" Type="http://schemas.openxmlformats.org/officeDocument/2006/relationships/slide" Target="slides/slide34.xml"  /><Relationship Id="rId37" Type="http://schemas.openxmlformats.org/officeDocument/2006/relationships/slide" Target="slides/slide35.xml"  /><Relationship Id="rId38" Type="http://schemas.openxmlformats.org/officeDocument/2006/relationships/slide" Target="slides/slide36.xml"  /><Relationship Id="rId39" Type="http://schemas.openxmlformats.org/officeDocument/2006/relationships/slide" Target="slides/slide37.xml"  /><Relationship Id="rId4" Type="http://schemas.openxmlformats.org/officeDocument/2006/relationships/slide" Target="slides/slide2.xml"  /><Relationship Id="rId40" Type="http://schemas.openxmlformats.org/officeDocument/2006/relationships/slide" Target="slides/slide38.xml"  /><Relationship Id="rId41" Type="http://schemas.openxmlformats.org/officeDocument/2006/relationships/slide" Target="slides/slide39.xml"  /><Relationship Id="rId42" Type="http://schemas.openxmlformats.org/officeDocument/2006/relationships/slide" Target="slides/slide40.xml"  /><Relationship Id="rId43" Type="http://schemas.openxmlformats.org/officeDocument/2006/relationships/slide" Target="slides/slide41.xml"  /><Relationship Id="rId44" Type="http://schemas.openxmlformats.org/officeDocument/2006/relationships/slide" Target="slides/slide42.xml"  /><Relationship Id="rId45" Type="http://schemas.openxmlformats.org/officeDocument/2006/relationships/slide" Target="slides/slide43.xml"  /><Relationship Id="rId46" Type="http://schemas.openxmlformats.org/officeDocument/2006/relationships/slide" Target="slides/slide44.xml"  /><Relationship Id="rId47" Type="http://schemas.openxmlformats.org/officeDocument/2006/relationships/slide" Target="slides/slide45.xml"  /><Relationship Id="rId48" Type="http://schemas.openxmlformats.org/officeDocument/2006/relationships/slide" Target="slides/slide46.xml"  /><Relationship Id="rId49" Type="http://schemas.openxmlformats.org/officeDocument/2006/relationships/slide" Target="slides/slide47.xml"  /><Relationship Id="rId5" Type="http://schemas.openxmlformats.org/officeDocument/2006/relationships/slide" Target="slides/slide3.xml"  /><Relationship Id="rId50" Type="http://schemas.openxmlformats.org/officeDocument/2006/relationships/slide" Target="slides/slide48.xml"  /><Relationship Id="rId51" Type="http://schemas.openxmlformats.org/officeDocument/2006/relationships/slide" Target="slides/slide49.xml"  /><Relationship Id="rId52" Type="http://schemas.openxmlformats.org/officeDocument/2006/relationships/slide" Target="slides/slide50.xml"  /><Relationship Id="rId53" Type="http://schemas.openxmlformats.org/officeDocument/2006/relationships/slide" Target="slides/slide51.xml"  /><Relationship Id="rId54" Type="http://schemas.openxmlformats.org/officeDocument/2006/relationships/slide" Target="slides/slide52.xml"  /><Relationship Id="rId55" Type="http://schemas.openxmlformats.org/officeDocument/2006/relationships/slide" Target="slides/slide53.xml"  /><Relationship Id="rId56" Type="http://schemas.openxmlformats.org/officeDocument/2006/relationships/slide" Target="slides/slide54.xml"  /><Relationship Id="rId57" Type="http://schemas.openxmlformats.org/officeDocument/2006/relationships/slide" Target="slides/slide55.xml"  /><Relationship Id="rId58" Type="http://schemas.openxmlformats.org/officeDocument/2006/relationships/slide" Target="slides/slide56.xml"  /><Relationship Id="rId59" Type="http://schemas.openxmlformats.org/officeDocument/2006/relationships/slide" Target="slides/slide57.xml"  /><Relationship Id="rId6" Type="http://schemas.openxmlformats.org/officeDocument/2006/relationships/slide" Target="slides/slide4.xml"  /><Relationship Id="rId60" Type="http://schemas.openxmlformats.org/officeDocument/2006/relationships/presProps" Target="presProps.xml"  /><Relationship Id="rId61" Type="http://schemas.openxmlformats.org/officeDocument/2006/relationships/viewProps" Target="viewProps.xml"  /><Relationship Id="rId62" Type="http://schemas.openxmlformats.org/officeDocument/2006/relationships/theme" Target="theme/theme1.xml"  /><Relationship Id="rId63" Type="http://schemas.openxmlformats.org/officeDocument/2006/relationships/tableStyles" Target="tableStyles.xml"  /><Relationship Id="rId7" Type="http://schemas.openxmlformats.org/officeDocument/2006/relationships/slide" Target="slides/slide5.xml"  /><Relationship Id="rId8" Type="http://schemas.openxmlformats.org/officeDocument/2006/relationships/slide" Target="slides/slide6.xml"  /><Relationship Id="rId9" Type="http://schemas.openxmlformats.org/officeDocument/2006/relationships/slide" Target="slides/slide7.xml"  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2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 idx="0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lvl="0"/>
            <a:endParaRPr lang="ko-KR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lvl="0"/>
            <a:fld id="{16668465-D334-4657-879C-DD8741229252}" type="datetime1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4" name="Slide Image Placeholder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ko-KR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/>
            </a:pPr>
            <a:r>
              <a:rPr lang="en-US" altLang="ko-KR"/>
              <a:t>Click to edit Master text styles</a:t>
            </a:r>
            <a:endParaRPr lang="en-US" altLang="ko-KR"/>
          </a:p>
          <a:p>
            <a:pPr lvl="1">
              <a:defRPr/>
            </a:pPr>
            <a:r>
              <a:rPr lang="en-US" altLang="ko-KR"/>
              <a:t>Second level</a:t>
            </a:r>
            <a:endParaRPr lang="en-US" altLang="ko-KR"/>
          </a:p>
          <a:p>
            <a:pPr lvl="2">
              <a:defRPr/>
            </a:pPr>
            <a:r>
              <a:rPr lang="en-US" altLang="ko-KR"/>
              <a:t>Third level</a:t>
            </a:r>
            <a:endParaRPr lang="en-US" altLang="ko-KR"/>
          </a:p>
          <a:p>
            <a:pPr lvl="3">
              <a:defRPr/>
            </a:pPr>
            <a:r>
              <a:rPr lang="en-US" altLang="ko-KR"/>
              <a:t>Fourth level</a:t>
            </a:r>
            <a:endParaRPr lang="en-US" altLang="ko-KR"/>
          </a:p>
          <a:p>
            <a:pPr lvl="4">
              <a:defRPr/>
            </a:pPr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lvl="0"/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lvl="0"/>
            <a:fld id="{9A4BA605-15B5-4CAD-807D-CD3DB072E0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2956752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22.xml" 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4BA605-15B5-4CAD-807D-CD3DB072E041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3636315"/>
      </p:ext>
    </p:extLst>
  </p:cSld>
  <p:clrMapOvr>
    <a:masterClrMapping/>
  </p:clrMapOvr>
</p:note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EFE66-ACD3-963D-BA68-3E6F89C19A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B129E2B-5896-0874-FF2B-DA42778614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ko-KR"/>
              <a:t>Click to edit Master subtitle style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C3A390-0BDC-B1B6-396C-BAFCDA52C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A4D9A-9094-449E-894D-14A4E9ED5F44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405C4D-3CF4-0EB1-2AFD-FC787FCDF0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681B63-7E49-7454-0DCB-6A1D5A7052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67ED6-1E03-4DC5-B1E1-D451A17D04A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18086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87F211-7257-6E47-AAA9-56701A8E8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E06EBD-3534-5D58-A452-22A532714E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F50316-B835-3324-3D6D-7A5580367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A4D9A-9094-449E-894D-14A4E9ED5F44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04A430-AAD7-E3CC-65CF-B1A224207E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39E807-36C3-075B-6A39-327DFD63F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67ED6-1E03-4DC5-B1E1-D451A17D04A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82766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F1DA13-242E-2762-ACAE-E9136805F6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FCB62C-D64D-C21E-384F-E2DC55427C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1D294F-6D3F-27FB-6DB4-1E471DF5D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A4D9A-9094-449E-894D-14A4E9ED5F44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ECD277-F29D-FEDD-937F-1FFAAEEF51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1F556D-4AA8-FD95-076E-7B873E30A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67ED6-1E03-4DC5-B1E1-D451A17D04A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8929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EBF21E-E861-2404-45B7-CE99284D56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7AD6A5-E59B-C23C-4AF7-50D03E56E5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78BFA46-0C2D-099E-76BE-5904F4C756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8726CA-7362-2A40-FCA6-45AE1B719E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A4D9A-9094-449E-894D-14A4E9ED5F44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D0A70E-D6D8-B3DE-8C4A-D61CDB40AD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C7D4EE-8203-A76E-7054-F3D3D4DED5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67ED6-1E03-4DC5-B1E1-D451A17D04A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53411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4B9F6C-58B0-0AA8-0098-7E16422C1A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9E5552-DAAA-39FF-4F40-EA3A73EDCA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874E52-58A3-80A6-BFD6-4A1248715A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77357F-352C-0691-7A53-2E2DB4A264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D8E2E32-E4CE-60BB-001B-924995F4645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D3DBCAD-73EA-EE39-2689-F03340B29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A4D9A-9094-449E-894D-14A4E9ED5F44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B9029E0-DE30-96ED-977C-62BBF47B3A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E8734CD-8A27-EE9B-51C6-8B1916B5C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67ED6-1E03-4DC5-B1E1-D451A17D04A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61969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713CC-BBAD-B513-211A-242D22C7EE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2481747-AFE4-7061-7BFD-74A77653D7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A4D9A-9094-449E-894D-14A4E9ED5F44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F828259-39AF-FD41-EDB1-37F42AE9FC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AB063E-B9EA-5F5F-EDFF-B60720AFB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67ED6-1E03-4DC5-B1E1-D451A17D04A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6327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53D6908-AFC5-9798-4F44-E87B1CDC39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A4D9A-9094-449E-894D-14A4E9ED5F44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80FC89B-A1EB-1A55-5DF8-8622E8C6B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67478F-8B50-BB4A-DF1B-69C3679D4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67ED6-1E03-4DC5-B1E1-D451A17D04A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05531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52168-6CE9-47D0-C968-A67A9C9862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44A151-2DB8-25B4-C36A-628839044A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6E8512-D96E-CFC4-27E0-38B4D1D7A0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2E75EC-ABBC-89C0-5768-7F92B1DF5F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A4D9A-9094-449E-894D-14A4E9ED5F44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5E4F50-84B6-55A7-24C0-0077E3F5D9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39ABDB-C0F0-A0DC-D337-69CAC576C8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67ED6-1E03-4DC5-B1E1-D451A17D04A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064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2CDC-BFCC-6C34-605D-A5D59D58C2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1DB0889-1858-05A7-1DD0-F83AFD0A8B6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D218F9-D604-4C5E-A5E6-B72ACAA145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C68D85-F2ED-C4B5-2550-F5EC32122E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A4D9A-9094-449E-894D-14A4E9ED5F44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14D9B7-6EC0-9A5C-D320-8F5679E0A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B2BA83-55B0-EF50-D15C-2F794AEF4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67ED6-1E03-4DC5-B1E1-D451A17D04A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8787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14327-C68C-A8FB-4F3F-F616324D83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EB54A7-A704-F138-FBD8-BFC5E747E3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C23EBE-F0DD-CC84-F550-2FA34990D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A4D9A-9094-449E-894D-14A4E9ED5F44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736D24-890A-5999-2AD5-5CF71A552C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5D1EFD-5D45-86D7-1E76-B9C26E5689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67ED6-1E03-4DC5-B1E1-D451A17D04A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6421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1F02FB4-A746-388B-71E3-22F668AAEF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CA24505-1C62-B9BF-B5EF-CBB9C70697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EF13C1-F554-F254-40F1-32F4E2770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A4D9A-9094-449E-894D-14A4E9ED5F44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C2C533-DFF5-17A5-58B0-EF3D39345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8E8FEF-0795-E09C-86D4-7C3BEB48F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C67ED6-1E03-4DC5-B1E1-D451A17D04A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7612014"/>
      </p:ext>
    </p:extLst>
  </p:cSld>
  <p:clrMapOvr>
    <a:masterClrMapping/>
  </p:clrMapOvr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1354455-04CA-CB30-0D88-BD91484BB6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28AA7B-B686-5489-A8BF-BAB41D2510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CE191B-D645-C229-188C-ADCE116167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6A4D9A-9094-449E-894D-14A4E9ED5F44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2A11A3-0B59-F601-0194-CD556D7C67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A11ABC-DDA8-E634-C519-3F205F1F51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5C67ED6-1E03-4DC5-B1E1-D451A17D04A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91263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1.png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2.png"  /><Relationship Id="rId3" Type="http://schemas.openxmlformats.org/officeDocument/2006/relationships/image" Target="../media/image3.png"  /><Relationship Id="rId4" Type="http://schemas.openxmlformats.org/officeDocument/2006/relationships/image" Target="../media/image4.png"  /><Relationship Id="rId5" Type="http://schemas.openxmlformats.org/officeDocument/2006/relationships/image" Target="../media/image5.png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6.png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7.png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8.png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1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9.png"  /><Relationship Id="rId3" Type="http://schemas.openxmlformats.org/officeDocument/2006/relationships/image" Target="../media/image10.png"  /><Relationship Id="rId4" Type="http://schemas.openxmlformats.org/officeDocument/2006/relationships/image" Target="../media/image11.png"  /></Relationships>
</file>

<file path=ppt/slides/_rels/slide1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1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12.png"  /><Relationship Id="rId3" Type="http://schemas.openxmlformats.org/officeDocument/2006/relationships/image" Target="../media/image13.png"  /></Relationships>
</file>

<file path=ppt/slides/_rels/slide1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14.png"  /></Relationships>
</file>

<file path=ppt/slides/_rels/slide1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15.png"  /></Relationships>
</file>

<file path=ppt/slides/_rels/slide1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16.png"  /></Relationships>
</file>

<file path=ppt/slides/_rels/slide1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17.png"  /><Relationship Id="rId3" Type="http://schemas.openxmlformats.org/officeDocument/2006/relationships/image" Target="../media/image18.png"  /></Relationships>
</file>

<file path=ppt/slides/_rels/slide1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19.png"  /><Relationship Id="rId3" Type="http://schemas.openxmlformats.org/officeDocument/2006/relationships/image" Target="../media/image20.png"  /></Relationships>
</file>

<file path=ppt/slides/_rels/slide2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21.png"  /><Relationship Id="rId3" Type="http://schemas.openxmlformats.org/officeDocument/2006/relationships/image" Target="../media/image22.png"  /></Relationships>
</file>

<file path=ppt/slides/_rels/slide2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23.png"  /></Relationships>
</file>

<file path=ppt/slides/_rels/slide2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.xml"  /><Relationship Id="rId2" Type="http://schemas.openxmlformats.org/officeDocument/2006/relationships/slideLayout" Target="../slideLayouts/slideLayout2.xml"  /></Relationships>
</file>

<file path=ppt/slides/_rels/slide2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24.png"  /><Relationship Id="rId3" Type="http://schemas.openxmlformats.org/officeDocument/2006/relationships/image" Target="../media/image25.png"  /></Relationships>
</file>

<file path=ppt/slides/_rels/slide2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26.png"  /><Relationship Id="rId3" Type="http://schemas.openxmlformats.org/officeDocument/2006/relationships/image" Target="../media/image27.png"  /><Relationship Id="rId4" Type="http://schemas.openxmlformats.org/officeDocument/2006/relationships/image" Target="../media/image28.png"  /></Relationships>
</file>

<file path=ppt/slides/_rels/slide2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29.png"  /></Relationships>
</file>

<file path=ppt/slides/_rels/slide2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30.png"  /></Relationships>
</file>

<file path=ppt/slides/_rels/slide2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30.png"  /></Relationships>
</file>

<file path=ppt/slides/_rels/slide2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31.png"  /><Relationship Id="rId3" Type="http://schemas.openxmlformats.org/officeDocument/2006/relationships/image" Target="../media/image32.png"  /></Relationships>
</file>

<file path=ppt/slides/_rels/slide2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33.png"  /><Relationship Id="rId3" Type="http://schemas.openxmlformats.org/officeDocument/2006/relationships/image" Target="../media/image34.png"  /></Relationships>
</file>

<file path=ppt/slides/_rels/slide3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3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3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3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3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3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3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3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3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3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4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4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4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4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4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4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4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4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4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4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5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5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5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5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5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5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5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5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idx="0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 b="1"/>
              <a:t>소프트웨어 응용설계</a:t>
            </a:r>
            <a:endParaRPr lang="ko-KR" altLang="en-US" b="1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3733B-44EE-2DAD-4C3E-9A0B9EE0179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조 </a:t>
            </a:r>
            <a:r>
              <a:rPr lang="en-US" altLang="ko-KR" dirty="0"/>
              <a:t>(</a:t>
            </a:r>
            <a:r>
              <a:rPr lang="ko-KR" altLang="en-US" dirty="0"/>
              <a:t>이현직</a:t>
            </a:r>
            <a:r>
              <a:rPr lang="en-US" altLang="ko-KR" dirty="0"/>
              <a:t>, </a:t>
            </a:r>
            <a:r>
              <a:rPr lang="ko-KR" altLang="en-US" dirty="0"/>
              <a:t>송정우</a:t>
            </a:r>
            <a:r>
              <a:rPr lang="en-US" altLang="ko-KR" dirty="0"/>
              <a:t>, </a:t>
            </a:r>
            <a:r>
              <a:rPr lang="ko-KR" altLang="en-US" dirty="0"/>
              <a:t>정승호</a:t>
            </a:r>
            <a:r>
              <a:rPr lang="en-US" altLang="ko-KR" dirty="0"/>
              <a:t>, </a:t>
            </a:r>
            <a:r>
              <a:rPr lang="ko-KR" altLang="en-US" dirty="0"/>
              <a:t>편종윤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505961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 b="1"/>
              <a:t>목차</a:t>
            </a:r>
            <a:endParaRPr lang="ko-KR" altLang="en-US" b="1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399840" lvl="0" indent="-399840">
              <a:lnSpc>
                <a:spcPct val="130000"/>
              </a:lnSpc>
              <a:buFont typeface="Wingdings"/>
              <a:buChar char="§"/>
              <a:defRPr/>
            </a:pPr>
            <a:r>
              <a:rPr lang="en-US" altLang="ko-KR" b="1"/>
              <a:t>Autonomic Computing Evaluation</a:t>
            </a:r>
            <a:endParaRPr lang="en-US" altLang="ko-KR" b="1"/>
          </a:p>
          <a:p>
            <a:pPr marL="399840" lvl="0" indent="-399840">
              <a:lnSpc>
                <a:spcPct val="130000"/>
              </a:lnSpc>
              <a:buFont typeface="Wingdings"/>
              <a:buChar char="§"/>
              <a:defRPr/>
            </a:pPr>
            <a:r>
              <a:rPr lang="en-US" altLang="ko-KR" b="1"/>
              <a:t>System</a:t>
            </a:r>
            <a:r>
              <a:rPr lang="ko-KR" altLang="en-US" b="1"/>
              <a:t> </a:t>
            </a:r>
            <a:r>
              <a:rPr lang="en-US" altLang="ko-KR" b="1"/>
              <a:t>Design</a:t>
            </a:r>
            <a:endParaRPr lang="en-US" altLang="ko-KR" b="1"/>
          </a:p>
          <a:p>
            <a:pPr marL="399840" lvl="0" indent="-399840">
              <a:lnSpc>
                <a:spcPct val="130000"/>
              </a:lnSpc>
              <a:buFont typeface="Wingdings"/>
              <a:buChar char="§"/>
              <a:defRPr/>
            </a:pPr>
            <a:r>
              <a:rPr lang="en-US" altLang="ko-KR" b="1"/>
              <a:t>System Status Analysis</a:t>
            </a:r>
            <a:endParaRPr lang="en-US" altLang="ko-KR" b="1"/>
          </a:p>
          <a:p>
            <a:pPr marL="399840" lvl="0" indent="-399840">
              <a:lnSpc>
                <a:spcPct val="130000"/>
              </a:lnSpc>
              <a:buFont typeface="Wingdings"/>
              <a:buChar char="§"/>
              <a:defRPr/>
            </a:pPr>
            <a:r>
              <a:rPr lang="en-US" altLang="ko-KR" b="1"/>
              <a:t>Critical System</a:t>
            </a:r>
            <a:endParaRPr lang="en-US" altLang="ko-KR" b="1"/>
          </a:p>
          <a:p>
            <a:pPr marL="399840" lvl="0" indent="-399840">
              <a:lnSpc>
                <a:spcPct val="130000"/>
              </a:lnSpc>
              <a:buFont typeface="Wingdings"/>
              <a:buChar char="§"/>
              <a:defRPr/>
            </a:pPr>
            <a:r>
              <a:rPr lang="en-US" altLang="ko-KR" b="1"/>
              <a:t>Critical System for Risk Management</a:t>
            </a:r>
            <a:endParaRPr lang="en-US" altLang="ko-KR" b="1"/>
          </a:p>
          <a:p>
            <a:pPr marL="399840" lvl="0" indent="-399840">
              <a:lnSpc>
                <a:spcPct val="130000"/>
              </a:lnSpc>
              <a:buFont typeface="Wingdings"/>
              <a:buChar char="§"/>
              <a:defRPr/>
            </a:pPr>
            <a:r>
              <a:rPr lang="en-US" altLang="ko-KR" b="1"/>
              <a:t>Final Presentation and Demo</a:t>
            </a:r>
            <a:endParaRPr lang="en-US" altLang="ko-KR" b="1"/>
          </a:p>
          <a:p>
            <a:pPr marL="399840" lvl="0" indent="-399840">
              <a:lnSpc>
                <a:spcPct val="130000"/>
              </a:lnSpc>
              <a:buFont typeface="Wingdings"/>
              <a:buChar char="§"/>
              <a:defRPr/>
            </a:pPr>
            <a:r>
              <a:rPr lang="ko-KR" altLang="en-US" b="1"/>
              <a:t>마무리</a:t>
            </a:r>
            <a:endParaRPr lang="ko-KR" altLang="en-US" b="1"/>
          </a:p>
        </p:txBody>
      </p:sp>
    </p:spTree>
    <p:extLst>
      <p:ext uri="{BB962C8B-B14F-4D97-AF65-F5344CB8AC3E}">
        <p14:creationId xmlns:p14="http://schemas.microsoft.com/office/powerpoint/2010/main" val="41703166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0"/>
          </p:nvPr>
        </p:nvSpPr>
        <p:spPr>
          <a:xfrm>
            <a:off x="449679" y="365125"/>
            <a:ext cx="7958890" cy="1003272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altLang="ko-KR" sz="3000" b="1"/>
              <a:t>Autonomic Computing Evaluation</a:t>
            </a:r>
            <a:endParaRPr lang="en-US" altLang="ko-KR" sz="3000" b="1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71525" y="1825625"/>
            <a:ext cx="10515600" cy="4351338"/>
          </a:xfrm>
        </p:spPr>
        <p:txBody>
          <a:bodyPr>
            <a:normAutofit/>
          </a:bodyPr>
          <a:lstStyle/>
          <a:p>
            <a:pPr>
              <a:lnSpc>
                <a:spcPct val="130000"/>
              </a:lnSpc>
              <a:defRPr/>
            </a:pPr>
            <a:r>
              <a:rPr lang="en-US" altLang="ko-KR" b="1"/>
              <a:t>Reliability</a:t>
            </a:r>
            <a:r>
              <a:rPr lang="ko-KR" altLang="en-US" b="1"/>
              <a:t> </a:t>
            </a:r>
            <a:r>
              <a:rPr lang="en-US" altLang="ko-KR" b="1"/>
              <a:t>(</a:t>
            </a:r>
            <a:r>
              <a:rPr lang="ko-KR" altLang="en-US" b="1"/>
              <a:t>신뢰성</a:t>
            </a:r>
            <a:r>
              <a:rPr lang="en-US" altLang="ko-KR" b="1"/>
              <a:t>)</a:t>
            </a:r>
            <a:endParaRPr lang="en-US" altLang="ko-KR"/>
          </a:p>
          <a:p>
            <a:pPr lvl="1">
              <a:lnSpc>
                <a:spcPct val="130000"/>
              </a:lnSpc>
              <a:defRPr/>
            </a:pPr>
            <a:r>
              <a:rPr lang="ko-KR" altLang="en-US"/>
              <a:t>구성 요소</a:t>
            </a:r>
            <a:r>
              <a:rPr lang="en-US" altLang="ko-KR"/>
              <a:t>, </a:t>
            </a:r>
            <a:r>
              <a:rPr lang="ko-KR" altLang="en-US"/>
              <a:t>통신</a:t>
            </a:r>
            <a:r>
              <a:rPr lang="en-US" altLang="ko-KR"/>
              <a:t>, </a:t>
            </a:r>
            <a:r>
              <a:rPr lang="ko-KR" altLang="en-US"/>
              <a:t>서비스 또는 시스템이 목적을 성공적으로 달성할 </a:t>
            </a:r>
            <a:r>
              <a:rPr lang="ko-KR" altLang="en-US" b="1">
                <a:solidFill>
                  <a:srgbClr val="ff0000"/>
                </a:solidFill>
              </a:rPr>
              <a:t>확률</a:t>
            </a:r>
            <a:endParaRPr lang="ko-KR" altLang="en-US"/>
          </a:p>
          <a:p>
            <a:pPr lvl="1">
              <a:lnSpc>
                <a:spcPct val="130000"/>
              </a:lnSpc>
              <a:defRPr/>
            </a:pPr>
            <a:endParaRPr lang="en-US" altLang="ko-KR"/>
          </a:p>
          <a:p>
            <a:pPr>
              <a:lnSpc>
                <a:spcPct val="130000"/>
              </a:lnSpc>
              <a:defRPr/>
            </a:pPr>
            <a:r>
              <a:rPr lang="en-US" altLang="ko-KR" b="1"/>
              <a:t>Autonomic</a:t>
            </a:r>
            <a:r>
              <a:rPr lang="ko-KR" altLang="en-US" b="1"/>
              <a:t> </a:t>
            </a:r>
            <a:r>
              <a:rPr lang="en-US" altLang="ko-KR" b="1"/>
              <a:t>Computing</a:t>
            </a:r>
            <a:r>
              <a:rPr lang="ko-KR" altLang="en-US" b="1"/>
              <a:t> </a:t>
            </a:r>
            <a:r>
              <a:rPr lang="en-US" altLang="ko-KR" b="1"/>
              <a:t>(</a:t>
            </a:r>
            <a:r>
              <a:rPr lang="ko-KR" altLang="en-US" b="1"/>
              <a:t>자율 컴퓨팅</a:t>
            </a:r>
            <a:r>
              <a:rPr lang="en-US" altLang="ko-KR" b="1"/>
              <a:t>)</a:t>
            </a:r>
            <a:r>
              <a:rPr lang="ko-KR" altLang="en-US"/>
              <a:t>의 필요성</a:t>
            </a:r>
            <a:endParaRPr lang="ko-KR" altLang="en-US"/>
          </a:p>
          <a:p>
            <a:pPr lvl="1">
              <a:lnSpc>
                <a:spcPct val="130000"/>
              </a:lnSpc>
              <a:defRPr/>
            </a:pPr>
            <a:r>
              <a:rPr lang="ko-KR" altLang="en-US"/>
              <a:t>인간의 개입만으로 관리되는 시스템의 복잡성이 급격히 증가함 </a:t>
            </a:r>
            <a:endParaRPr lang="ko-KR" altLang="en-US"/>
          </a:p>
          <a:p>
            <a:pPr lvl="2">
              <a:lnSpc>
                <a:spcPct val="130000"/>
              </a:lnSpc>
              <a:buFont typeface="Wingdings"/>
              <a:buChar char="è"/>
              <a:defRPr/>
            </a:pPr>
            <a:r>
              <a:rPr lang="ko-KR" altLang="en-US" b="1"/>
              <a:t>신뢰성 저하 추세</a:t>
            </a:r>
            <a:r>
              <a:rPr lang="ko-KR" altLang="en-US"/>
              <a:t>가 가속화</a:t>
            </a:r>
            <a:endParaRPr lang="ko-KR" altLang="en-US"/>
          </a:p>
          <a:p>
            <a:pPr lvl="1">
              <a:lnSpc>
                <a:spcPct val="130000"/>
              </a:lnSpc>
              <a:defRPr/>
            </a:pPr>
            <a:r>
              <a:rPr lang="ko-KR" altLang="en-US" b="1"/>
              <a:t>신뢰성 향상을 위해 </a:t>
            </a:r>
            <a:r>
              <a:rPr lang="ko-KR" altLang="en-US" b="1">
                <a:solidFill>
                  <a:srgbClr val="ff0000"/>
                </a:solidFill>
              </a:rPr>
              <a:t>인간의 개입을 줄이고</a:t>
            </a:r>
            <a:r>
              <a:rPr lang="ko-KR" altLang="en-US" b="1"/>
              <a:t> 자율 시스템으로 전환</a:t>
            </a:r>
            <a:endParaRPr lang="en-US" altLang="ko-KR" b="1"/>
          </a:p>
        </p:txBody>
      </p:sp>
    </p:spTree>
    <p:extLst>
      <p:ext uri="{BB962C8B-B14F-4D97-AF65-F5344CB8AC3E}">
        <p14:creationId xmlns:p14="http://schemas.microsoft.com/office/powerpoint/2010/main" val="313192242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90575" y="1825625"/>
            <a:ext cx="10515600" cy="4351338"/>
          </a:xfrm>
        </p:spPr>
        <p:txBody>
          <a:bodyPr>
            <a:normAutofit lnSpcReduction="10000"/>
          </a:bodyPr>
          <a:lstStyle/>
          <a:p>
            <a:pPr>
              <a:lnSpc>
                <a:spcPct val="130000"/>
              </a:lnSpc>
              <a:defRPr/>
            </a:pPr>
            <a:r>
              <a:rPr lang="en-US" altLang="ko-KR" b="1"/>
              <a:t>Autonomic Computing</a:t>
            </a:r>
            <a:endParaRPr lang="en-US" altLang="ko-KR"/>
          </a:p>
          <a:p>
            <a:pPr lvl="1">
              <a:lnSpc>
                <a:spcPct val="130000"/>
              </a:lnSpc>
              <a:defRPr/>
            </a:pPr>
            <a:r>
              <a:rPr lang="ko-KR" altLang="en-US"/>
              <a:t>자율 신경계가 우리 몸을 조절하고 보호하는 것과 같은 방식으로 스스로를 조절할 수 있는 컴퓨터 시스템 </a:t>
            </a:r>
            <a:r>
              <a:rPr lang="en-US" altLang="ko-KR"/>
              <a:t>(by</a:t>
            </a:r>
            <a:r>
              <a:rPr lang="ko-KR" altLang="en-US"/>
              <a:t> </a:t>
            </a:r>
            <a:r>
              <a:rPr lang="en-US" altLang="ko-KR"/>
              <a:t>Paul Horn, IBM)</a:t>
            </a:r>
            <a:endParaRPr lang="en-US" altLang="ko-KR"/>
          </a:p>
          <a:p>
            <a:pPr>
              <a:lnSpc>
                <a:spcPct val="130000"/>
              </a:lnSpc>
              <a:defRPr/>
            </a:pPr>
            <a:r>
              <a:rPr lang="en-US" altLang="ko-KR" b="1"/>
              <a:t>Principle Characteristics</a:t>
            </a:r>
            <a:endParaRPr lang="en-US" altLang="ko-KR"/>
          </a:p>
          <a:p>
            <a:pPr lvl="1">
              <a:lnSpc>
                <a:spcPct val="130000"/>
              </a:lnSpc>
              <a:defRPr/>
            </a:pPr>
            <a:r>
              <a:rPr lang="ko-KR" altLang="en-US"/>
              <a:t>자기 인식 </a:t>
            </a:r>
            <a:r>
              <a:rPr lang="en-US" altLang="ko-KR"/>
              <a:t>-</a:t>
            </a:r>
            <a:r>
              <a:rPr lang="ko-KR" altLang="en-US"/>
              <a:t> 감각을 갖추고 성능을 향상시키기 위해 노력</a:t>
            </a:r>
            <a:endParaRPr lang="ko-KR" altLang="en-US"/>
          </a:p>
          <a:p>
            <a:pPr lvl="1">
              <a:lnSpc>
                <a:spcPct val="130000"/>
              </a:lnSpc>
              <a:defRPr/>
            </a:pPr>
            <a:r>
              <a:rPr lang="ko-KR" altLang="en-US"/>
              <a:t>자율 규제 </a:t>
            </a:r>
            <a:r>
              <a:rPr lang="en-US" altLang="ko-KR"/>
              <a:t>-</a:t>
            </a:r>
            <a:r>
              <a:rPr lang="ko-KR" altLang="en-US"/>
              <a:t> 규율 의식을 가지고 있으며 환경 변화에 따라 행동을 조절</a:t>
            </a:r>
            <a:endParaRPr lang="ko-KR" altLang="en-US"/>
          </a:p>
          <a:p>
            <a:pPr lvl="1">
              <a:lnSpc>
                <a:spcPct val="130000"/>
              </a:lnSpc>
              <a:defRPr/>
            </a:pPr>
            <a:r>
              <a:rPr lang="ko-KR" altLang="en-US"/>
              <a:t>개방성 </a:t>
            </a:r>
            <a:r>
              <a:rPr lang="en-US" altLang="ko-KR"/>
              <a:t>-</a:t>
            </a:r>
            <a:r>
              <a:rPr lang="ko-KR" altLang="en-US"/>
              <a:t> 개방형 표준을 통해 소통하고 이기종 시스템과 리소스를 교환</a:t>
            </a:r>
            <a:endParaRPr lang="ko-KR" altLang="en-US"/>
          </a:p>
          <a:p>
            <a:pPr lvl="1">
              <a:lnSpc>
                <a:spcPct val="130000"/>
              </a:lnSpc>
              <a:defRPr/>
            </a:pPr>
            <a:r>
              <a:rPr lang="ko-KR" altLang="en-US"/>
              <a:t>문맥 인식 </a:t>
            </a:r>
            <a:r>
              <a:rPr lang="en-US" altLang="ko-KR"/>
              <a:t>-</a:t>
            </a:r>
            <a:r>
              <a:rPr lang="ko-KR" altLang="en-US"/>
              <a:t> 환경과 사용자의 행동을 포함한 활동의 주변 맥락을 고려</a:t>
            </a:r>
            <a:endParaRPr lang="ko-KR" altLang="en-US"/>
          </a:p>
          <a:p>
            <a:pPr>
              <a:lnSpc>
                <a:spcPct val="130000"/>
              </a:lnSpc>
              <a:defRPr/>
            </a:pPr>
            <a:endParaRPr lang="en-US" altLang="ko-KR"/>
          </a:p>
          <a:p>
            <a:pPr>
              <a:lnSpc>
                <a:spcPct val="130000"/>
              </a:lnSpc>
              <a:defRPr/>
            </a:pPr>
            <a:endParaRPr lang="ko-KR" altLang="en-US"/>
          </a:p>
        </p:txBody>
      </p:sp>
      <p:sp>
        <p:nvSpPr>
          <p:cNvPr id="5" name="Title 1"/>
          <p:cNvSpPr>
            <a:spLocks noGrp="1"/>
          </p:cNvSpPr>
          <p:nvPr/>
        </p:nvSpPr>
        <p:spPr>
          <a:xfrm>
            <a:off x="449679" y="365125"/>
            <a:ext cx="7958890" cy="1003272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p>
            <a:pPr marL="0" indent="0" algn="l" defTabSz="914400" rtl="0" eaLnBrk="1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Autonomic Computing Evaluation</a:t>
            </a:r>
            <a:endPara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4695463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1825625"/>
            <a:ext cx="10515600" cy="4351338"/>
          </a:xfrm>
        </p:spPr>
        <p:txBody>
          <a:bodyPr>
            <a:normAutofit fontScale="92500" lnSpcReduction="20000"/>
          </a:bodyPr>
          <a:lstStyle/>
          <a:p>
            <a:pPr lvl="0">
              <a:lnSpc>
                <a:spcPct val="130000"/>
              </a:lnSpc>
              <a:defRPr/>
            </a:pPr>
            <a:r>
              <a:rPr lang="en-US" altLang="ko-KR" b="1"/>
              <a:t>Self-Protecting</a:t>
            </a:r>
            <a:endParaRPr lang="en-US" altLang="ko-KR"/>
          </a:p>
          <a:p>
            <a:pPr lvl="1">
              <a:lnSpc>
                <a:spcPct val="130000"/>
              </a:lnSpc>
              <a:defRPr/>
            </a:pPr>
            <a:r>
              <a:rPr lang="ko-KR" altLang="en-US"/>
              <a:t>어디서나 무단 액세스로부터 스스로를 보호하도록 설계된 시스템</a:t>
            </a:r>
            <a:endParaRPr lang="ko-KR" altLang="en-US"/>
          </a:p>
          <a:p>
            <a:pPr lvl="0">
              <a:lnSpc>
                <a:spcPct val="130000"/>
              </a:lnSpc>
              <a:defRPr/>
            </a:pPr>
            <a:r>
              <a:rPr lang="en-US" altLang="ko-KR" b="1"/>
              <a:t>Self-Optimizing</a:t>
            </a:r>
            <a:endParaRPr lang="en-US" altLang="ko-KR"/>
          </a:p>
          <a:p>
            <a:pPr lvl="1">
              <a:lnSpc>
                <a:spcPct val="130000"/>
              </a:lnSpc>
              <a:defRPr/>
            </a:pPr>
            <a:r>
              <a:rPr lang="ko-KR" altLang="en-US"/>
              <a:t>서버가 기업의 요구를 가장 효율적으로 충족할 수 있도록 리소스를 자동으로 관리하도록 설계된 시스템</a:t>
            </a:r>
            <a:endParaRPr lang="ko-KR" altLang="en-US"/>
          </a:p>
          <a:p>
            <a:pPr lvl="0">
              <a:lnSpc>
                <a:spcPct val="100000"/>
              </a:lnSpc>
              <a:defRPr/>
            </a:pPr>
            <a:r>
              <a:rPr lang="en-US" altLang="ko-KR" b="1"/>
              <a:t>Self-Configuring</a:t>
            </a:r>
            <a:endParaRPr lang="en-US" altLang="ko-KR" b="1"/>
          </a:p>
          <a:p>
            <a:pPr lvl="1">
              <a:lnSpc>
                <a:spcPct val="130000"/>
              </a:lnSpc>
              <a:defRPr/>
            </a:pPr>
            <a:r>
              <a:rPr lang="ko-KR" altLang="en-US"/>
              <a:t>즉석에서 스스로를 정의하도록 설계된 시스템</a:t>
            </a:r>
            <a:endParaRPr lang="ko-KR" altLang="en-US"/>
          </a:p>
          <a:p>
            <a:pPr lvl="0">
              <a:lnSpc>
                <a:spcPct val="130000"/>
              </a:lnSpc>
              <a:defRPr/>
            </a:pPr>
            <a:r>
              <a:rPr lang="en-US" altLang="ko-KR" b="1"/>
              <a:t>Self-Healing</a:t>
            </a:r>
            <a:endParaRPr lang="en-US" altLang="ko-KR"/>
          </a:p>
          <a:p>
            <a:pPr lvl="1">
              <a:lnSpc>
                <a:spcPct val="130000"/>
              </a:lnSpc>
              <a:defRPr/>
            </a:pPr>
            <a:r>
              <a:rPr lang="ko-KR" altLang="en-US"/>
              <a:t>자율적으로 문제를 결정하고 해결하는 시스템</a:t>
            </a:r>
            <a:endParaRPr lang="en-US" altLang="ko-KR"/>
          </a:p>
        </p:txBody>
      </p:sp>
      <p:pic>
        <p:nvPicPr>
          <p:cNvPr id="4" name="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536426" y="4273128"/>
            <a:ext cx="4492645" cy="2377828"/>
          </a:xfrm>
          <a:prstGeom prst="rect">
            <a:avLst/>
          </a:prstGeom>
        </p:spPr>
      </p:pic>
      <p:sp>
        <p:nvSpPr>
          <p:cNvPr id="6" name="Title 1"/>
          <p:cNvSpPr>
            <a:spLocks noGrp="1"/>
          </p:cNvSpPr>
          <p:nvPr/>
        </p:nvSpPr>
        <p:spPr>
          <a:xfrm>
            <a:off x="449679" y="365125"/>
            <a:ext cx="7958890" cy="1003272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p>
            <a:pPr marL="0" indent="0" algn="l" defTabSz="914400" rtl="0" eaLnBrk="1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Autonomic Computing Evaluation</a:t>
            </a:r>
            <a:endPara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418871451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xmlns:mc="http://schemas.openxmlformats.org/markup-compatibility/2006" xmlns:a14="http://schemas.microsoft.com/office/drawing/2010/main" mc:Ignorable="a14 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6171" y="2503283"/>
            <a:ext cx="10515600" cy="4351338"/>
          </a:xfrm>
        </p:spPr>
        <p:txBody>
          <a:bodyPr>
            <a:normAutofit fontScale="62500" lnSpcReduction="20000"/>
          </a:bodyPr>
          <a:lstStyle/>
          <a:p>
            <a:pPr lvl="0">
              <a:lnSpc>
                <a:spcPct val="130000"/>
              </a:lnSpc>
              <a:defRPr/>
            </a:pPr>
            <a:r>
              <a:rPr lang="ko-KR" altLang="en-US" b="1"/>
              <a:t>혼동행렬</a:t>
            </a:r>
            <a:endParaRPr lang="ko-KR" altLang="en-US"/>
          </a:p>
          <a:p>
            <a:pPr lvl="1">
              <a:lnSpc>
                <a:spcPct val="130000"/>
              </a:lnSpc>
              <a:defRPr/>
            </a:pPr>
            <a:r>
              <a:rPr lang="ko-KR" altLang="en-US"/>
              <a:t>어떤 개인이나 모델, 검사도구, 알고리즘의 진단·분류·판별·예측 능력을 평가하기 위하여 고안된 표</a:t>
            </a:r>
            <a:endParaRPr lang="ko-KR" altLang="en-US"/>
          </a:p>
          <a:p>
            <a:pPr lvl="0">
              <a:lnSpc>
                <a:spcPct val="130000"/>
              </a:lnSpc>
              <a:defRPr/>
            </a:pPr>
            <a:r>
              <a:rPr lang="en-US" altLang="ko-KR" b="1"/>
              <a:t>Accuracy(</a:t>
            </a:r>
            <a:r>
              <a:rPr lang="ko-KR" altLang="en-US" b="1"/>
              <a:t>정확도</a:t>
            </a:r>
            <a:r>
              <a:rPr lang="en-US" altLang="ko-KR" b="1"/>
              <a:t>)</a:t>
            </a:r>
            <a:endParaRPr lang="en-US" altLang="ko-KR"/>
          </a:p>
          <a:p>
            <a:pPr lvl="1">
              <a:lnSpc>
                <a:spcPct val="130000"/>
              </a:lnSpc>
              <a:defRPr/>
            </a:pPr>
            <a:r>
              <a:rPr lang="en-US" altLang="ko-KR"/>
              <a:t>예측이 현실에 부합할 확률</a:t>
            </a:r>
            <a:endParaRPr lang="en-US" altLang="ko-KR"/>
          </a:p>
          <a:p>
            <a:pPr lvl="0">
              <a:lnSpc>
                <a:spcPct val="130000"/>
              </a:lnSpc>
              <a:defRPr/>
            </a:pPr>
            <a:r>
              <a:rPr lang="en-US" altLang="ko-KR" b="1"/>
              <a:t>Precision(</a:t>
            </a:r>
            <a:r>
              <a:rPr lang="ko-KR" altLang="en-US" b="1"/>
              <a:t>정밀도</a:t>
            </a:r>
            <a:r>
              <a:rPr lang="en-US" altLang="ko-KR" b="1"/>
              <a:t>)</a:t>
            </a:r>
            <a:endParaRPr lang="en-US" altLang="ko-KR"/>
          </a:p>
          <a:p>
            <a:pPr lvl="1">
              <a:lnSpc>
                <a:spcPct val="130000"/>
              </a:lnSpc>
              <a:defRPr/>
            </a:pPr>
            <a:r>
              <a:rPr lang="en-US" altLang="ko-KR"/>
              <a:t>예측 결과가 긍정적일 때 현실도 실제로 긍정일 확률</a:t>
            </a:r>
            <a:endParaRPr lang="en-US" altLang="ko-KR"/>
          </a:p>
          <a:p>
            <a:pPr lvl="0">
              <a:lnSpc>
                <a:spcPct val="130000"/>
              </a:lnSpc>
              <a:defRPr/>
            </a:pPr>
            <a:r>
              <a:rPr lang="en-US" altLang="ko-KR" b="1"/>
              <a:t>Recall(</a:t>
            </a:r>
            <a:r>
              <a:rPr lang="ko-KR" altLang="en-US" b="1"/>
              <a:t>재현율</a:t>
            </a:r>
            <a:r>
              <a:rPr lang="en-US" altLang="ko-KR" b="1"/>
              <a:t>)</a:t>
            </a:r>
            <a:endParaRPr lang="en-US" altLang="ko-KR"/>
          </a:p>
          <a:p>
            <a:pPr lvl="1">
              <a:lnSpc>
                <a:spcPct val="130000"/>
              </a:lnSpc>
              <a:defRPr/>
            </a:pPr>
            <a:r>
              <a:rPr lang="en-US" altLang="ko-KR"/>
              <a:t>현실이 실제로 긍정</a:t>
            </a:r>
            <a:r>
              <a:rPr lang="ko-KR" altLang="en-US"/>
              <a:t>일</a:t>
            </a:r>
            <a:r>
              <a:rPr lang="en-US" altLang="ko-KR"/>
              <a:t> 때 예측 결과도 긍정적일 확률</a:t>
            </a:r>
            <a:endParaRPr lang="en-US" altLang="ko-KR"/>
          </a:p>
          <a:p>
            <a:pPr lvl="0">
              <a:lnSpc>
                <a:spcPct val="130000"/>
              </a:lnSpc>
              <a:defRPr/>
            </a:pPr>
            <a:r>
              <a:rPr lang="en-US" altLang="ko-KR" b="1"/>
              <a:t>F1-score(</a:t>
            </a:r>
            <a:r>
              <a:rPr lang="ko-KR" altLang="en-US" b="1"/>
              <a:t>조화평균</a:t>
            </a:r>
            <a:r>
              <a:rPr lang="en-US" altLang="ko-KR" b="1"/>
              <a:t>)</a:t>
            </a:r>
            <a:endParaRPr lang="ko-KR" altLang="en-US"/>
          </a:p>
          <a:p>
            <a:pPr lvl="1">
              <a:lnSpc>
                <a:spcPct val="130000"/>
              </a:lnSpc>
              <a:defRPr/>
            </a:pPr>
            <a:r>
              <a:rPr lang="ko-KR" altLang="en-US"/>
              <a:t>정밀도와 재현율 사이에 하나가 높아지면 다른 하나가 낮아지는 상황이 자주 발생하기에</a:t>
            </a:r>
            <a:endParaRPr lang="ko-KR" altLang="en-US"/>
          </a:p>
          <a:p>
            <a:pPr marL="457200" lvl="1" indent="0">
              <a:lnSpc>
                <a:spcPct val="130000"/>
              </a:lnSpc>
              <a:buNone/>
              <a:defRPr/>
            </a:pPr>
            <a:r>
              <a:rPr lang="en-US" altLang="ko-KR"/>
              <a:t>   </a:t>
            </a:r>
            <a:r>
              <a:rPr lang="ko-KR" altLang="en-US"/>
              <a:t>이를 보정하기 위해 개발된 평가용 지수</a:t>
            </a:r>
            <a:endParaRPr lang="ko-KR" altLang="en-US"/>
          </a:p>
        </p:txBody>
      </p:sp>
      <p:sp>
        <p:nvSpPr>
          <p:cNvPr id="4" name="Title 1"/>
          <p:cNvSpPr>
            <a:spLocks noGrp="1"/>
          </p:cNvSpPr>
          <p:nvPr/>
        </p:nvSpPr>
        <p:spPr>
          <a:xfrm>
            <a:off x="449679" y="365125"/>
            <a:ext cx="7958890" cy="1003272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p>
            <a:pPr marL="0" indent="0" algn="l" defTabSz="914400" rtl="0" eaLnBrk="1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Autonomic Computing Evaluation</a:t>
            </a:r>
            <a:endPara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"/>
              <p:cNvSpPr/>
              <p:nvPr/>
            </p:nvSpPr>
            <p:spPr>
              <a:xfrm>
                <a:off x="3676649" y="3278290"/>
                <a:ext cx="2419350" cy="695325"/>
              </a:xfrm>
              <a:custGeom>
                <a:avLst/>
                <a:gdLst/>
                <a:cxnLst>
                  <a:cxn ang="3cd4">
                    <a:pos x="hc" y="t"/>
                  </a:cxn>
                  <a:cxn ang="cd2">
                    <a:pos x="l" y="vc"/>
                  </a:cxn>
                  <a:cxn ang="cd4">
                    <a:pos x="hc" y="b"/>
                  </a:cxn>
                  <a:cxn ang="0">
                    <a:pos x="r" y="vc"/>
                  </a:cxn>
                </a:cxnLst>
                <a:rect l="l" t="t" r="r" b="b"/>
                <a:pathLst>
                  <a:path w="914400" h="914400">
                    <a:moveTo>
                      <a:pt x="0" y="0"/>
                    </a:moveTo>
                    <a:lnTo>
                      <a:pt x="914400" y="0"/>
                    </a:lnTo>
                    <a:lnTo>
                      <a:pt x="914400" y="914400"/>
                    </a:lnTo>
                    <a:lnTo>
                      <a:pt x="0" y="914400"/>
                    </a:lnTo>
                    <a:close/>
                  </a:path>
                </a:pathLst>
              </a:custGeom>
            </p:spPr>
            <p:txBody>
              <a:bodyPr/>
              <a:lstStyle/>
              <a:p>
                <a:pPr algn="l"/>
                <a14:m xmlns:m="http://schemas.openxmlformats.org/officeDocument/2006/math" xmlns:mc="http://schemas.openxmlformats.org/markup-compatibility/2006" xmlns:ho="http://schemas.haansoft.com/office/8.0" mc:Ignorable="ho" ho:hncCreate="1">
                  <m:oMathPara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sz="1800" i="1">
                              <a:latin typeface="Cambria Math"/>
                              <a:sym typeface="Cambria Math"/>
                            </a:rPr>
                          </m:ctrlPr>
                        </m:fPr>
                        <m:num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(</m:t>
                          </m:r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𝑇</m:t>
                          </m:r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𝑃</m:t>
                          </m:r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+</m:t>
                          </m:r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𝑇</m:t>
                          </m:r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𝑁</m:t>
                          </m:r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)</m:t>
                          </m:r>
                        </m:num>
                        <m:den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(</m:t>
                          </m:r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𝑇</m:t>
                          </m:r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𝑃</m:t>
                          </m:r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+</m:t>
                          </m:r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𝑇</m:t>
                          </m:r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𝑁</m:t>
                          </m:r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+</m:t>
                          </m:r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𝐹</m:t>
                          </m:r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𝑃</m:t>
                          </m:r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+</m:t>
                          </m:r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𝐹</m:t>
                          </m:r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𝑁</m:t>
                          </m:r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  <mc:Fallback>
          <p:sp>
            <p:nvSpPr>
              <p:cNvPr id="6" name=""/>
              <p:cNvSpPr txBox="1"/>
              <p:nvPr/>
            </p:nvSpPr>
            <p:spPr>
              <a:xfrm>
                <a:off x="3676649" y="3278290"/>
                <a:ext cx="2419350" cy="695325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"/>
              <p:cNvSpPr/>
              <p:nvPr/>
            </p:nvSpPr>
            <p:spPr>
              <a:xfrm>
                <a:off x="5940592" y="4118334"/>
                <a:ext cx="1295400" cy="695325"/>
              </a:xfrm>
              <a:custGeom>
                <a:avLst/>
                <a:gdLst/>
                <a:cxnLst>
                  <a:cxn ang="3cd4">
                    <a:pos x="hc" y="t"/>
                  </a:cxn>
                  <a:cxn ang="cd2">
                    <a:pos x="l" y="vc"/>
                  </a:cxn>
                  <a:cxn ang="cd4">
                    <a:pos x="hc" y="b"/>
                  </a:cxn>
                  <a:cxn ang="0">
                    <a:pos x="r" y="vc"/>
                  </a:cxn>
                </a:cxnLst>
                <a:rect l="l" t="t" r="r" b="b"/>
                <a:pathLst>
                  <a:path w="914400" h="914400">
                    <a:moveTo>
                      <a:pt x="0" y="0"/>
                    </a:moveTo>
                    <a:lnTo>
                      <a:pt x="914400" y="0"/>
                    </a:lnTo>
                    <a:lnTo>
                      <a:pt x="914400" y="914400"/>
                    </a:lnTo>
                    <a:lnTo>
                      <a:pt x="0" y="914400"/>
                    </a:lnTo>
                    <a:close/>
                  </a:path>
                </a:pathLst>
              </a:custGeom>
            </p:spPr>
            <p:txBody>
              <a:bodyPr/>
              <a:lstStyle/>
              <a:p>
                <a:pPr algn="l"/>
                <a14:m xmlns:m="http://schemas.openxmlformats.org/officeDocument/2006/math" xmlns:mc="http://schemas.openxmlformats.org/markup-compatibility/2006" xmlns:ho="http://schemas.haansoft.com/office/8.0" mc:Ignorable="ho" ho:hncCreate="1">
                  <m:oMathPara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sz="1800" i="1">
                              <a:latin typeface="Cambria Math"/>
                              <a:sym typeface="Cambria Math"/>
                            </a:rPr>
                          </m:ctrlPr>
                        </m:fPr>
                        <m:num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𝑇</m:t>
                          </m:r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𝑃</m:t>
                          </m:r>
                        </m:num>
                        <m:den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(</m:t>
                          </m:r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𝑇</m:t>
                          </m:r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𝑃</m:t>
                          </m:r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+</m:t>
                          </m:r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𝐹</m:t>
                          </m:r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𝑃</m:t>
                          </m:r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  <mc:Fallback>
          <p:sp>
            <p:nvSpPr>
              <p:cNvPr id="7" name=""/>
              <p:cNvSpPr txBox="1"/>
              <p:nvPr/>
            </p:nvSpPr>
            <p:spPr>
              <a:xfrm>
                <a:off x="5940592" y="4118334"/>
                <a:ext cx="1295400" cy="695325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"/>
              <p:cNvSpPr/>
              <p:nvPr/>
            </p:nvSpPr>
            <p:spPr>
              <a:xfrm>
                <a:off x="5963903" y="4918038"/>
                <a:ext cx="1323975" cy="695325"/>
              </a:xfrm>
              <a:custGeom>
                <a:avLst/>
                <a:gdLst/>
                <a:cxnLst>
                  <a:cxn ang="3cd4">
                    <a:pos x="hc" y="t"/>
                  </a:cxn>
                  <a:cxn ang="cd2">
                    <a:pos x="l" y="vc"/>
                  </a:cxn>
                  <a:cxn ang="cd4">
                    <a:pos x="hc" y="b"/>
                  </a:cxn>
                  <a:cxn ang="0">
                    <a:pos x="r" y="vc"/>
                  </a:cxn>
                </a:cxnLst>
                <a:rect l="l" t="t" r="r" b="b"/>
                <a:pathLst>
                  <a:path w="914400" h="914400">
                    <a:moveTo>
                      <a:pt x="0" y="0"/>
                    </a:moveTo>
                    <a:lnTo>
                      <a:pt x="914400" y="0"/>
                    </a:lnTo>
                    <a:lnTo>
                      <a:pt x="914400" y="914400"/>
                    </a:lnTo>
                    <a:lnTo>
                      <a:pt x="0" y="914400"/>
                    </a:lnTo>
                    <a:close/>
                  </a:path>
                </a:pathLst>
              </a:custGeom>
            </p:spPr>
            <p:txBody>
              <a:bodyPr/>
              <a:lstStyle/>
              <a:p>
                <a:pPr algn="l"/>
                <a14:m xmlns:m="http://schemas.openxmlformats.org/officeDocument/2006/math" xmlns:mc="http://schemas.openxmlformats.org/markup-compatibility/2006" xmlns:ho="http://schemas.haansoft.com/office/8.0" mc:Ignorable="ho" ho:hncCreate="1">
                  <m:oMathPara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sz="1800" i="1">
                              <a:latin typeface="Cambria Math"/>
                              <a:sym typeface="Cambria Math"/>
                            </a:rPr>
                          </m:ctrlPr>
                        </m:fPr>
                        <m:num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𝑇</m:t>
                          </m:r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𝑃</m:t>
                          </m:r>
                        </m:num>
                        <m:den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(</m:t>
                          </m:r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𝑇</m:t>
                          </m:r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𝑃</m:t>
                          </m:r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+</m:t>
                          </m:r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𝐹</m:t>
                          </m:r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𝑁</m:t>
                          </m:r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  <mc:Fallback>
          <p:sp>
            <p:nvSpPr>
              <p:cNvPr id="8" name=""/>
              <p:cNvSpPr txBox="1"/>
              <p:nvPr/>
            </p:nvSpPr>
            <p:spPr>
              <a:xfrm>
                <a:off x="5963903" y="4918038"/>
                <a:ext cx="1323975" cy="695325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"/>
              <p:cNvSpPr/>
              <p:nvPr/>
            </p:nvSpPr>
            <p:spPr>
              <a:xfrm>
                <a:off x="9002708" y="5727824"/>
                <a:ext cx="2209800" cy="695325"/>
              </a:xfrm>
              <a:custGeom>
                <a:avLst/>
                <a:gdLst/>
                <a:cxnLst>
                  <a:cxn ang="3cd4">
                    <a:pos x="hc" y="t"/>
                  </a:cxn>
                  <a:cxn ang="cd2">
                    <a:pos x="l" y="vc"/>
                  </a:cxn>
                  <a:cxn ang="cd4">
                    <a:pos x="hc" y="b"/>
                  </a:cxn>
                  <a:cxn ang="0">
                    <a:pos x="r" y="vc"/>
                  </a:cxn>
                </a:cxnLst>
                <a:rect l="l" t="t" r="r" b="b"/>
                <a:pathLst>
                  <a:path w="914400" h="914400">
                    <a:moveTo>
                      <a:pt x="0" y="0"/>
                    </a:moveTo>
                    <a:lnTo>
                      <a:pt x="914400" y="0"/>
                    </a:lnTo>
                    <a:lnTo>
                      <a:pt x="914400" y="914400"/>
                    </a:lnTo>
                    <a:lnTo>
                      <a:pt x="0" y="914400"/>
                    </a:lnTo>
                    <a:close/>
                  </a:path>
                </a:pathLst>
              </a:custGeom>
            </p:spPr>
            <p:txBody>
              <a:bodyPr/>
              <a:lstStyle/>
              <a:p>
                <a:pPr algn="l"/>
                <a14:m xmlns:m="http://schemas.openxmlformats.org/officeDocument/2006/math" xmlns:mc="http://schemas.openxmlformats.org/markup-compatibility/2006" xmlns:ho="http://schemas.haansoft.com/office/8.0" mc:Ignorable="ho" ho:hncCreate="1">
                  <m:oMathPara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sz="1800" i="1">
                              <a:latin typeface="Cambria Math"/>
                              <a:sym typeface="Cambria Math"/>
                            </a:rPr>
                          </m:ctrlPr>
                        </m:fPr>
                        <m:num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2*정밀도*재현율</m:t>
                          </m:r>
                        </m:num>
                        <m:den>
                          <m:r>
                            <a:rPr sz="1800" i="1">
                              <a:latin typeface="Cambria Math"/>
                              <a:sym typeface="Cambria Math"/>
                            </a:rPr>
                            <m:t>정밀도+재현율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  <mc:Fallback>
          <p:sp>
            <p:nvSpPr>
              <p:cNvPr id="9" name=""/>
              <p:cNvSpPr txBox="1"/>
              <p:nvPr/>
            </p:nvSpPr>
            <p:spPr>
              <a:xfrm>
                <a:off x="9002708" y="5727824"/>
                <a:ext cx="2209800" cy="695325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</p:sp>
        </mc:Fallback>
      </mc:AlternateContent>
      <p:graphicFrame>
        <p:nvGraphicFramePr>
          <p:cNvPr id="12" name=""/>
          <p:cNvGraphicFramePr>
            <a:graphicFrameLocks noGrp="1"/>
          </p:cNvGraphicFramePr>
          <p:nvPr/>
        </p:nvGraphicFramePr>
        <p:xfrm>
          <a:off x="4290161" y="1254909"/>
          <a:ext cx="3611678" cy="1403985"/>
        </p:xfrm>
        <a:graphic>
          <a:graphicData uri="http://schemas.openxmlformats.org/drawingml/2006/table">
            <a:tbl>
              <a:tblPr firstRow="1" bandRow="1">
                <a:tableStyle styleId="{26EB75EC-ACF4-43F1-940C-6C9C5489C1DE}" styleName="Normal Style 4 - Body/Background 4">
                  <a:wholeTbl>
                    <a:tcTxStyle>
                      <a:fontRef idx="minor">
                        <a:scrgbClr r="0" g="0" b="0"/>
                      </a:fontRef>
                      <a:schemeClr val="dk1"/>
                    </a:tcTxStyle>
                    <a:tcStyle>
                      <a:tcBdr>
                        <a:left>
                          <a:ln w="40000" cmpd="sng">
                            <a:solidFill>
                              <a:schemeClr val="dk1"/>
                            </a:solidFill>
                          </a:ln>
                        </a:left>
                        <a:right>
                          <a:ln w="40000" cmpd="sng">
                            <a:solidFill>
                              <a:schemeClr val="dk1"/>
                            </a:solidFill>
                          </a:ln>
                        </a:right>
                        <a:top>
                          <a:ln w="40000" cmpd="sng">
                            <a:solidFill>
                              <a:schemeClr val="dk1"/>
                            </a:solidFill>
                          </a:ln>
                        </a:top>
                        <a:bottom>
                          <a:ln w="40000" cmpd="sng">
                            <a:solidFill>
                              <a:schemeClr val="dk1"/>
                            </a:solidFill>
                          </a:ln>
                        </a:bottom>
                        <a:insideH>
                          <a:ln w="12700" cmpd="sng">
                            <a:solidFill>
                              <a:schemeClr val="dk1"/>
                            </a:solidFill>
                          </a:ln>
                        </a:insideH>
                        <a:insideV>
                          <a:ln w="12700" cmpd="sng">
                            <a:solidFill>
                              <a:schemeClr val="dk1"/>
                            </a:solidFill>
                          </a:ln>
                        </a:insideV>
                      </a:tcBdr>
                      <a:fill>
                        <a:solidFill>
                          <a:schemeClr val="dk1">
                            <a:lum val="90000"/>
                          </a:schemeClr>
                        </a:solidFill>
                      </a:fill>
                    </a:tcStyle>
                  </a:wholeTbl>
                  <a:band1H>
                    <a:tcTxStyle/>
                    <a:tcStyle>
                      <a:tcBdr/>
                      <a:fill>
                        <a:solidFill>
                          <a:schemeClr val="dk1">
                            <a:tint val="50000"/>
                          </a:schemeClr>
                        </a:solidFill>
                      </a:fill>
                    </a:tcStyle>
                  </a:band1H>
                  <a:band1V>
                    <a:tcTxStyle/>
                    <a:tcStyle>
                      <a:tcBdr/>
                      <a:fill>
                        <a:solidFill>
                          <a:schemeClr val="dk1">
                            <a:tint val="50000"/>
                          </a:schemeClr>
                        </a:solidFill>
                      </a:fill>
                    </a:tcStyle>
                  </a:band1V>
                  <a:lastCol>
                    <a:tcTxStyle b="on"/>
                    <a:tcStyle>
                      <a:tcBdr/>
                    </a:tcStyle>
                  </a:lastCol>
                  <a:firstCol>
                    <a:tcTxStyle b="on"/>
                    <a:tcStyle>
                      <a:tcBdr/>
                    </a:tcStyle>
                  </a:firstCol>
                  <a:lastRow>
                    <a:tcTxStyle b="on"/>
                    <a:tcStyle>
                      <a:tcBdr>
                        <a:top>
                          <a:ln w="25400" cmpd="sng">
                            <a:solidFill>
                              <a:schemeClr val="dk1"/>
                            </a:solidFill>
                          </a:ln>
                        </a:top>
                      </a:tcBdr>
                      <a:fill>
                        <a:solidFill>
                          <a:schemeClr val="dk1">
                            <a:tint val="20000"/>
                          </a:schemeClr>
                        </a:solidFill>
                      </a:fill>
                    </a:tcStyle>
                  </a:lastRow>
                  <a:firstRow>
                    <a:tcTxStyle b="on">
                      <a:fontRef idx="minor">
                        <a:scrgbClr r="0" g="0" b="0"/>
                      </a:fontRef>
                      <a:schemeClr val="dk1">
                        <a:shade val="80000"/>
                      </a:schemeClr>
                    </a:tcTxStyle>
                    <a:tcStyle>
                      <a:tcBdr>
                        <a:bottom>
                          <a:ln w="35400" cmpd="sng">
                            <a:solidFill>
                              <a:schemeClr val="dk1">
                                <a:shade val="80000"/>
                              </a:schemeClr>
                            </a:solidFill>
                          </a:ln>
                        </a:bottom>
                      </a:tcBdr>
                      <a:fill>
                        <a:solidFill>
                          <a:schemeClr val="dk1">
                            <a:tint val="20000"/>
                          </a:schemeClr>
                        </a:solidFill>
                      </a:fill>
                    </a:tcStyle>
                  </a:firstRow>
                </a:tableStyle>
              </a:tblPr>
              <a:tblGrid>
                <a:gridCol w="662738"/>
                <a:gridCol w="982980"/>
                <a:gridCol w="992505"/>
                <a:gridCol w="973455"/>
              </a:tblGrid>
              <a:tr h="292105">
                <a:tc rowSpan="2" gridSpan="2">
                  <a:txBody>
                    <a:bodyPr vert="horz" wrap="square" lIns="91440" tIns="45720" rIns="91440" bIns="45720" anchor="ctr" anchorCtr="0">
                      <a:spAutoFit/>
                    </a:bodyPr>
                    <a:p>
                      <a:pPr algn="ctr">
                        <a:defRPr/>
                      </a:pPr>
                      <a:endParaRPr lang="en-US" altLang="ko-KR"/>
                    </a:p>
                  </a:txBody>
                  <a:tcPr marL="91440" marR="91440" anchor="ctr">
                    <a:lnL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808080"/>
                    </a:solidFill>
                  </a:tcPr>
                </a:tc>
                <a:tc rowSpan="2"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/>
                </a:tc>
                <a:tc gridSpan="2">
                  <a:txBody>
                    <a:bodyPr vert="horz" wrap="square" lIns="91440" tIns="45720" rIns="91440" bIns="45720" anchor="ctr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/>
                        <a:t>Knowledge</a:t>
                      </a:r>
                      <a:endParaRPr lang="en-US" altLang="ko-KR"/>
                    </a:p>
                  </a:txBody>
                  <a:tcPr marL="91440" marR="91440" anchor="ctr">
                    <a:lnL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a6a6a6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/>
                </a:tc>
              </a:tr>
              <a:tr h="292105">
                <a:tc gridSpan="2" v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/>
                </a:tc>
                <a:tc hMerge="1" v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/>
                </a:tc>
                <a:tc>
                  <a:txBody>
                    <a:bodyPr vert="horz" wrap="square" lIns="91440" tIns="45720" rIns="91440" bIns="45720" anchor="ctr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400" b="1"/>
                        <a:t>Positive</a:t>
                      </a:r>
                      <a:endParaRPr lang="en-US" altLang="ko-KR" sz="1400" b="1"/>
                    </a:p>
                  </a:txBody>
                  <a:tcPr marL="91440" marR="91440" anchor="ctr">
                    <a:lnL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 vert="horz" wrap="square" lIns="91440" tIns="45720" rIns="91440" bIns="45720" anchor="ctr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400" b="1"/>
                        <a:t>Negative</a:t>
                      </a:r>
                      <a:endParaRPr lang="en-US" altLang="ko-KR" sz="1400" b="1"/>
                    </a:p>
                  </a:txBody>
                  <a:tcPr marL="91440" marR="91440" anchor="ctr">
                    <a:lnL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fbfbf"/>
                    </a:solidFill>
                  </a:tcPr>
                </a:tc>
              </a:tr>
              <a:tr h="292105">
                <a:tc rowSpan="2">
                  <a:txBody>
                    <a:bodyPr vert="horz" wrap="square" lIns="91440" tIns="45720" rIns="91440" bIns="45720" anchor="ctr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b="1"/>
                        <a:t>MA</a:t>
                      </a:r>
                      <a:endParaRPr lang="en-US" altLang="ko-KR" b="1"/>
                    </a:p>
                  </a:txBody>
                  <a:tcPr marL="91440" marR="91440" anchor="ctr">
                    <a:lnL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a6a6a6"/>
                    </a:solidFill>
                  </a:tcPr>
                </a:tc>
                <a:tc>
                  <a:txBody>
                    <a:bodyPr vert="horz" wrap="square" lIns="91440" tIns="45720" rIns="91440" bIns="45720" anchor="ctr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400" b="1"/>
                        <a:t>Positive</a:t>
                      </a:r>
                      <a:endParaRPr lang="en-US" altLang="ko-KR" sz="1400" b="1"/>
                    </a:p>
                  </a:txBody>
                  <a:tcPr marL="91440" marR="91440" anchor="ctr">
                    <a:lnL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 vert="horz" wrap="square" lIns="91440" tIns="45720" rIns="91440" bIns="45720" anchor="ctr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b="1"/>
                        <a:t>TP</a:t>
                      </a:r>
                      <a:endParaRPr lang="en-US" altLang="ko-KR" b="1"/>
                    </a:p>
                  </a:txBody>
                  <a:tcPr marL="91440" marR="91440" anchor="ctr">
                    <a:lnL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noFill/>
                  </a:tcPr>
                </a:tc>
                <a:tc>
                  <a:txBody>
                    <a:bodyPr vert="horz" wrap="square" lIns="91440" tIns="45720" rIns="91440" bIns="45720" anchor="ctr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b="1"/>
                        <a:t>FP</a:t>
                      </a:r>
                      <a:endParaRPr lang="en-US" altLang="ko-KR" b="1"/>
                    </a:p>
                  </a:txBody>
                  <a:tcPr marL="91440" marR="91440" anchor="ctr">
                    <a:lnL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</a:tr>
              <a:tr h="292105">
                <a:tc v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/>
                </a:tc>
                <a:tc>
                  <a:txBody>
                    <a:bodyPr vert="horz" wrap="square" lIns="91440" tIns="45720" rIns="91440" bIns="45720" anchor="ctr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400" b="1"/>
                        <a:t>Negative</a:t>
                      </a:r>
                      <a:endParaRPr lang="en-US" altLang="ko-KR" sz="1400" b="1"/>
                    </a:p>
                  </a:txBody>
                  <a:tcPr marL="91440" marR="91440" anchor="ctr">
                    <a:lnL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 vert="horz" wrap="square" lIns="91440" tIns="45720" rIns="91440" bIns="45720" anchor="ctr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b="1"/>
                        <a:t>FN</a:t>
                      </a:r>
                      <a:endParaRPr lang="en-US" altLang="ko-KR" b="1"/>
                    </a:p>
                  </a:txBody>
                  <a:tcPr marL="91440" marR="91440" anchor="ctr">
                    <a:lnL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 vert="horz" wrap="square" lIns="91440" tIns="45720" rIns="91440" bIns="45720" anchor="ctr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b="1"/>
                        <a:t>TN</a:t>
                      </a:r>
                      <a:endParaRPr lang="en-US" altLang="ko-KR" b="1"/>
                    </a:p>
                  </a:txBody>
                  <a:tcPr marL="91440" marR="91440" anchor="ctr">
                    <a:lnL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4072630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7933" y="3681899"/>
            <a:ext cx="4658049" cy="3295165"/>
          </a:xfrm>
        </p:spPr>
        <p:txBody>
          <a:bodyPr>
            <a:normAutofit lnSpcReduction="10000"/>
          </a:bodyPr>
          <a:lstStyle/>
          <a:p>
            <a:pPr>
              <a:lnSpc>
                <a:spcPct val="130000"/>
              </a:lnSpc>
              <a:defRPr/>
            </a:pPr>
            <a:r>
              <a:rPr lang="en-US" altLang="ko-KR" sz="1900" b="1"/>
              <a:t>1. Accuracy(</a:t>
            </a:r>
            <a:r>
              <a:rPr lang="ko-KR" altLang="en-US" sz="1900" b="1"/>
              <a:t>정확도</a:t>
            </a:r>
            <a:r>
              <a:rPr lang="en-US" altLang="ko-KR" sz="1900" b="1"/>
              <a:t>)</a:t>
            </a:r>
            <a:endParaRPr lang="en-US" altLang="ko-KR" sz="1900" b="1"/>
          </a:p>
          <a:p>
            <a:pPr lvl="1">
              <a:lnSpc>
                <a:spcPct val="130000"/>
              </a:lnSpc>
              <a:defRPr/>
            </a:pPr>
            <a:r>
              <a:rPr lang="ko-KR" altLang="en-US" sz="1500"/>
              <a:t>해당 시스템의 예측성공 비율</a:t>
            </a:r>
            <a:endParaRPr lang="en-US" altLang="ko-KR" sz="1500"/>
          </a:p>
          <a:p>
            <a:pPr lvl="1">
              <a:lnSpc>
                <a:spcPct val="130000"/>
              </a:lnSpc>
              <a:defRPr/>
            </a:pPr>
            <a:r>
              <a:rPr lang="en-US" altLang="ko-KR" sz="1500"/>
              <a:t>(130 + 600) / 800 * 100(%) = 91.25(%)</a:t>
            </a:r>
            <a:endParaRPr lang="en-US" altLang="ko-KR" sz="1500"/>
          </a:p>
          <a:p>
            <a:pPr>
              <a:lnSpc>
                <a:spcPct val="130000"/>
              </a:lnSpc>
              <a:defRPr/>
            </a:pPr>
            <a:r>
              <a:rPr lang="en-US" altLang="ko-KR" sz="1900" b="1"/>
              <a:t>2. Precision(</a:t>
            </a:r>
            <a:r>
              <a:rPr lang="ko-KR" altLang="en-US" sz="1900" b="1"/>
              <a:t>정밀도</a:t>
            </a:r>
            <a:r>
              <a:rPr lang="en-US" altLang="ko-KR" sz="1900" b="1"/>
              <a:t>)</a:t>
            </a:r>
            <a:endParaRPr lang="en-US" altLang="ko-KR" sz="1900" b="1"/>
          </a:p>
          <a:p>
            <a:pPr lvl="1">
              <a:lnSpc>
                <a:spcPct val="130000"/>
              </a:lnSpc>
              <a:defRPr/>
            </a:pPr>
            <a:r>
              <a:rPr lang="en-US" altLang="ko-KR" sz="1500"/>
              <a:t>API </a:t>
            </a:r>
            <a:r>
              <a:rPr lang="ko-KR" altLang="en-US" sz="1500"/>
              <a:t>호출이 비정상이라고 예측했을 때</a:t>
            </a:r>
            <a:r>
              <a:rPr lang="en-US" altLang="ko-KR" sz="1500"/>
              <a:t>, </a:t>
            </a:r>
            <a:r>
              <a:rPr lang="ko-KR" altLang="en-US" sz="1500"/>
              <a:t>실제 비정상인 비율</a:t>
            </a:r>
            <a:endParaRPr lang="en-US" altLang="ko-KR" sz="1500"/>
          </a:p>
          <a:p>
            <a:pPr lvl="1">
              <a:lnSpc>
                <a:spcPct val="130000"/>
              </a:lnSpc>
              <a:defRPr/>
            </a:pPr>
            <a:r>
              <a:rPr lang="en-US" altLang="ko-KR" sz="1500"/>
              <a:t>130/180 * 100(%) = 72.22(%)</a:t>
            </a:r>
            <a:endParaRPr lang="en-US" altLang="ko-KR" sz="1500"/>
          </a:p>
        </p:txBody>
      </p:sp>
      <p:sp>
        <p:nvSpPr>
          <p:cNvPr id="5" name="Title 1"/>
          <p:cNvSpPr>
            <a:spLocks noGrp="1"/>
          </p:cNvSpPr>
          <p:nvPr/>
        </p:nvSpPr>
        <p:spPr>
          <a:xfrm>
            <a:off x="449679" y="365125"/>
            <a:ext cx="7958890" cy="1003272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p>
            <a:pPr marL="0" indent="0" algn="l" defTabSz="914400" rtl="0" eaLnBrk="1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Autonomic Computing Evaluation</a:t>
            </a:r>
            <a:r>
              <a:rPr xmlns:mc="http://schemas.openxmlformats.org/markup-compatibility/2006" xmlns:hp="http://schemas.haansoft.com/office/presentation/8.0" kumimoji="0" lang="ko-KR" altLang="en-US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</a:t>
            </a:r>
            <a:r>
              <a:rPr xmlns:mc="http://schemas.openxmlformats.org/markup-compatibility/2006" xmlns:hp="http://schemas.haansoft.com/office/presentation/8.0" kumimoji="0" lang="ko-KR" altLang="en-US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과제 </a:t>
            </a:r>
            <a:r>
              <a: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</a:t>
            </a:r>
            <a:endPara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graphicFrame>
        <p:nvGraphicFramePr>
          <p:cNvPr id="7" name=""/>
          <p:cNvGraphicFramePr>
            <a:graphicFrameLocks noGrp="1"/>
          </p:cNvGraphicFramePr>
          <p:nvPr/>
        </p:nvGraphicFramePr>
        <p:xfrm>
          <a:off x="7374444" y="1488174"/>
          <a:ext cx="3611677" cy="1403985"/>
        </p:xfrm>
        <a:graphic>
          <a:graphicData uri="http://schemas.openxmlformats.org/drawingml/2006/table">
            <a:tbl>
              <a:tblPr firstRow="1" bandRow="1">
                <a:tableStyle styleId="{26EB75EC-ACF4-43F1-940C-6C9C5489C1DE}" styleName="Normal Style 4 - Body/Background 4">
                  <a:wholeTbl>
                    <a:tcTxStyle>
                      <a:fontRef idx="minor">
                        <a:scrgbClr r="0" g="0" b="0"/>
                      </a:fontRef>
                      <a:schemeClr val="dk1"/>
                    </a:tcTxStyle>
                    <a:tcStyle>
                      <a:tcBdr>
                        <a:left>
                          <a:ln w="40000" cmpd="sng">
                            <a:solidFill>
                              <a:schemeClr val="dk1"/>
                            </a:solidFill>
                          </a:ln>
                        </a:left>
                        <a:right>
                          <a:ln w="40000" cmpd="sng">
                            <a:solidFill>
                              <a:schemeClr val="dk1"/>
                            </a:solidFill>
                          </a:ln>
                        </a:right>
                        <a:top>
                          <a:ln w="40000" cmpd="sng">
                            <a:solidFill>
                              <a:schemeClr val="dk1"/>
                            </a:solidFill>
                          </a:ln>
                        </a:top>
                        <a:bottom>
                          <a:ln w="40000" cmpd="sng">
                            <a:solidFill>
                              <a:schemeClr val="dk1"/>
                            </a:solidFill>
                          </a:ln>
                        </a:bottom>
                        <a:insideH>
                          <a:ln w="12700" cmpd="sng">
                            <a:solidFill>
                              <a:schemeClr val="dk1"/>
                            </a:solidFill>
                          </a:ln>
                        </a:insideH>
                        <a:insideV>
                          <a:ln w="12700" cmpd="sng">
                            <a:solidFill>
                              <a:schemeClr val="dk1"/>
                            </a:solidFill>
                          </a:ln>
                        </a:insideV>
                      </a:tcBdr>
                      <a:fill>
                        <a:solidFill>
                          <a:schemeClr val="dk1">
                            <a:lum val="90000"/>
                          </a:schemeClr>
                        </a:solidFill>
                      </a:fill>
                    </a:tcStyle>
                  </a:wholeTbl>
                  <a:band1H>
                    <a:tcTxStyle/>
                    <a:tcStyle>
                      <a:tcBdr/>
                      <a:fill>
                        <a:solidFill>
                          <a:schemeClr val="dk1">
                            <a:tint val="50000"/>
                          </a:schemeClr>
                        </a:solidFill>
                      </a:fill>
                    </a:tcStyle>
                  </a:band1H>
                  <a:band1V>
                    <a:tcTxStyle/>
                    <a:tcStyle>
                      <a:tcBdr/>
                      <a:fill>
                        <a:solidFill>
                          <a:schemeClr val="dk1">
                            <a:tint val="50000"/>
                          </a:schemeClr>
                        </a:solidFill>
                      </a:fill>
                    </a:tcStyle>
                  </a:band1V>
                  <a:lastCol>
                    <a:tcTxStyle b="on"/>
                    <a:tcStyle>
                      <a:tcBdr/>
                    </a:tcStyle>
                  </a:lastCol>
                  <a:firstCol>
                    <a:tcTxStyle b="on"/>
                    <a:tcStyle>
                      <a:tcBdr/>
                    </a:tcStyle>
                  </a:firstCol>
                  <a:lastRow>
                    <a:tcTxStyle b="on"/>
                    <a:tcStyle>
                      <a:tcBdr>
                        <a:top>
                          <a:ln w="25400" cmpd="sng">
                            <a:solidFill>
                              <a:schemeClr val="dk1"/>
                            </a:solidFill>
                          </a:ln>
                        </a:top>
                      </a:tcBdr>
                      <a:fill>
                        <a:solidFill>
                          <a:schemeClr val="dk1">
                            <a:tint val="20000"/>
                          </a:schemeClr>
                        </a:solidFill>
                      </a:fill>
                    </a:tcStyle>
                  </a:lastRow>
                  <a:firstRow>
                    <a:tcTxStyle b="on">
                      <a:fontRef idx="minor">
                        <a:scrgbClr r="0" g="0" b="0"/>
                      </a:fontRef>
                      <a:schemeClr val="dk1">
                        <a:shade val="80000"/>
                      </a:schemeClr>
                    </a:tcTxStyle>
                    <a:tcStyle>
                      <a:tcBdr>
                        <a:bottom>
                          <a:ln w="35400" cmpd="sng">
                            <a:solidFill>
                              <a:schemeClr val="dk1">
                                <a:shade val="80000"/>
                              </a:schemeClr>
                            </a:solidFill>
                          </a:ln>
                        </a:bottom>
                      </a:tcBdr>
                      <a:fill>
                        <a:solidFill>
                          <a:schemeClr val="dk1">
                            <a:tint val="20000"/>
                          </a:schemeClr>
                        </a:solidFill>
                      </a:fill>
                    </a:tcStyle>
                  </a:firstRow>
                </a:tableStyle>
              </a:tblPr>
              <a:tblGrid>
                <a:gridCol w="662738"/>
                <a:gridCol w="982980"/>
                <a:gridCol w="992505"/>
                <a:gridCol w="973454"/>
              </a:tblGrid>
              <a:tr h="292105">
                <a:tc rowSpan="2" gridSpan="2">
                  <a:txBody>
                    <a:bodyPr vert="horz" wrap="square" lIns="91440" tIns="45720" rIns="91440" bIns="45720" anchor="ctr" anchorCtr="0">
                      <a:spAutoFit/>
                    </a:bodyPr>
                    <a:p>
                      <a:pPr algn="ctr">
                        <a:defRPr/>
                      </a:pPr>
                      <a:endParaRPr lang="en-US" altLang="ko-KR"/>
                    </a:p>
                  </a:txBody>
                  <a:tcPr marL="91440" marR="91440" anchor="ctr">
                    <a:lnL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808080"/>
                    </a:solidFill>
                  </a:tcPr>
                </a:tc>
                <a:tc rowSpan="2"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/>
                </a:tc>
                <a:tc gridSpan="2">
                  <a:txBody>
                    <a:bodyPr vert="horz" wrap="square" lIns="91440" tIns="45720" rIns="91440" bIns="45720" anchor="ctr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/>
                        <a:t>Knowledge</a:t>
                      </a:r>
                      <a:endParaRPr lang="en-US" altLang="ko-KR"/>
                    </a:p>
                  </a:txBody>
                  <a:tcPr marL="91440" marR="91440" anchor="ctr">
                    <a:lnL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a6a6a6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/>
                </a:tc>
              </a:tr>
              <a:tr h="292105">
                <a:tc gridSpan="2" v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/>
                </a:tc>
                <a:tc hMerge="1" v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/>
                </a:tc>
                <a:tc>
                  <a:txBody>
                    <a:bodyPr vert="horz" wrap="square" lIns="91440" tIns="45720" rIns="91440" bIns="45720" anchor="ctr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400" b="1"/>
                        <a:t>Positive</a:t>
                      </a:r>
                      <a:endParaRPr lang="en-US" altLang="ko-KR" sz="1400" b="1"/>
                    </a:p>
                  </a:txBody>
                  <a:tcPr marL="91440" marR="91440" anchor="ctr">
                    <a:lnL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 vert="horz" wrap="square" lIns="91440" tIns="45720" rIns="91440" bIns="45720" anchor="ctr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400" b="1"/>
                        <a:t>Negative</a:t>
                      </a:r>
                      <a:endParaRPr lang="en-US" altLang="ko-KR" sz="1400" b="1"/>
                    </a:p>
                  </a:txBody>
                  <a:tcPr marL="91440" marR="91440" anchor="ctr">
                    <a:lnL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fbfbf"/>
                    </a:solidFill>
                  </a:tcPr>
                </a:tc>
              </a:tr>
              <a:tr h="292105">
                <a:tc rowSpan="2">
                  <a:txBody>
                    <a:bodyPr vert="horz" wrap="square" lIns="91440" tIns="45720" rIns="91440" bIns="45720" anchor="ctr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b="1"/>
                        <a:t>MA</a:t>
                      </a:r>
                      <a:endParaRPr lang="en-US" altLang="ko-KR" b="1"/>
                    </a:p>
                  </a:txBody>
                  <a:tcPr marL="91440" marR="91440" anchor="ctr">
                    <a:lnL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a6a6a6"/>
                    </a:solidFill>
                  </a:tcPr>
                </a:tc>
                <a:tc>
                  <a:txBody>
                    <a:bodyPr vert="horz" wrap="square" lIns="91440" tIns="45720" rIns="91440" bIns="45720" anchor="ctr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400" b="1"/>
                        <a:t>Positive</a:t>
                      </a:r>
                      <a:endParaRPr lang="en-US" altLang="ko-KR" sz="1400" b="1"/>
                    </a:p>
                  </a:txBody>
                  <a:tcPr marL="91440" marR="91440" anchor="ctr">
                    <a:lnL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 vert="horz" wrap="square" lIns="91440" tIns="45720" rIns="91440" bIns="45720" anchor="ctr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b="1"/>
                        <a:t>TP(130)</a:t>
                      </a:r>
                      <a:endParaRPr lang="en-US" altLang="ko-KR" b="1"/>
                    </a:p>
                  </a:txBody>
                  <a:tcPr marL="91440" marR="91440" anchor="ctr">
                    <a:lnL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noFill/>
                  </a:tcPr>
                </a:tc>
                <a:tc>
                  <a:txBody>
                    <a:bodyPr vert="horz" wrap="square" lIns="91440" tIns="45720" rIns="91440" bIns="45720" anchor="ctr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b="1"/>
                        <a:t>FP(50)</a:t>
                      </a:r>
                      <a:endParaRPr lang="en-US" altLang="ko-KR" b="1"/>
                    </a:p>
                  </a:txBody>
                  <a:tcPr marL="91440" marR="91440" anchor="ctr">
                    <a:lnL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</a:tr>
              <a:tr h="292105">
                <a:tc v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/>
                </a:tc>
                <a:tc>
                  <a:txBody>
                    <a:bodyPr vert="horz" wrap="square" lIns="91440" tIns="45720" rIns="91440" bIns="45720" anchor="ctr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400" b="1"/>
                        <a:t>Negative</a:t>
                      </a:r>
                      <a:endParaRPr lang="en-US" altLang="ko-KR" sz="1400" b="1"/>
                    </a:p>
                  </a:txBody>
                  <a:tcPr marL="91440" marR="91440" anchor="ctr">
                    <a:lnL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 vert="horz" wrap="square" lIns="91440" tIns="45720" rIns="91440" bIns="45720" anchor="ctr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b="1"/>
                        <a:t>FN(20)</a:t>
                      </a:r>
                      <a:endParaRPr lang="en-US" altLang="ko-KR" b="1"/>
                    </a:p>
                  </a:txBody>
                  <a:tcPr marL="91440" marR="91440" anchor="ctr">
                    <a:lnL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 vert="horz" wrap="square" lIns="91440" tIns="45720" rIns="91440" bIns="45720" anchor="ctr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500" b="1"/>
                        <a:t>TN(600)</a:t>
                      </a:r>
                      <a:endParaRPr lang="en-US" altLang="ko-KR" sz="1500" b="1"/>
                    </a:p>
                  </a:txBody>
                  <a:tcPr marL="91440" marR="91440" anchor="ctr">
                    <a:lnL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"/>
          <p:cNvSpPr txBox="1"/>
          <p:nvPr/>
        </p:nvSpPr>
        <p:spPr>
          <a:xfrm>
            <a:off x="438610" y="1301236"/>
            <a:ext cx="7134840" cy="2363984"/>
          </a:xfrm>
          <a:prstGeom prst="rect">
            <a:avLst/>
          </a:prstGeom>
        </p:spPr>
        <p:txBody>
          <a:bodyPr wrap="square">
            <a:spAutoFit/>
          </a:bodyPr>
          <a:p>
            <a:pPr>
              <a:lnSpc>
                <a:spcPct val="130000"/>
              </a:lnSpc>
              <a:defRPr/>
            </a:pPr>
            <a:r>
              <a:rPr lang="ko-KR" altLang="en-US" sz="1500"/>
              <a:t>예제</a:t>
            </a:r>
            <a:r>
              <a:rPr lang="en-US" altLang="ko-KR" sz="1500"/>
              <a:t>)</a:t>
            </a:r>
            <a:r>
              <a:rPr lang="ko-KR" altLang="en-US" sz="1500"/>
              <a:t> </a:t>
            </a:r>
            <a:r>
              <a:rPr lang="en-US" altLang="ko-KR" b="1"/>
              <a:t>API</a:t>
            </a:r>
            <a:r>
              <a:rPr lang="ko-KR" altLang="en-US" b="1"/>
              <a:t> 호출의 경우</a:t>
            </a:r>
            <a:endParaRPr lang="ko-KR" altLang="en-US" b="1"/>
          </a:p>
          <a:p>
            <a:pPr>
              <a:lnSpc>
                <a:spcPct val="50000"/>
              </a:lnSpc>
              <a:defRPr/>
            </a:pPr>
            <a:endParaRPr lang="ko-KR" altLang="en-US" b="1"/>
          </a:p>
          <a:p>
            <a:pPr lvl="0">
              <a:lnSpc>
                <a:spcPct val="130000"/>
              </a:lnSpc>
              <a:defRPr/>
            </a:pPr>
            <a:r>
              <a:rPr lang="ko-KR" altLang="en-US" sz="1500" b="1"/>
              <a:t>총 </a:t>
            </a:r>
            <a:r>
              <a:rPr lang="en-US" altLang="ko-KR" sz="1500" b="1"/>
              <a:t>800</a:t>
            </a:r>
            <a:r>
              <a:rPr lang="ko-KR" altLang="en-US" sz="1500" b="1"/>
              <a:t>건</a:t>
            </a:r>
            <a:r>
              <a:rPr lang="ko-KR" altLang="en-US" sz="1500"/>
              <a:t>의 </a:t>
            </a:r>
            <a:r>
              <a:rPr lang="en-US" altLang="ko-KR" sz="1500"/>
              <a:t>API </a:t>
            </a:r>
            <a:r>
              <a:rPr lang="ko-KR" altLang="en-US" sz="1500"/>
              <a:t>호출 중 </a:t>
            </a:r>
            <a:endParaRPr lang="ko-KR" altLang="en-US" sz="1500"/>
          </a:p>
          <a:p>
            <a:pPr lvl="0">
              <a:lnSpc>
                <a:spcPct val="130000"/>
              </a:lnSpc>
              <a:defRPr/>
            </a:pPr>
            <a:r>
              <a:rPr lang="ko-KR" altLang="en-US" sz="1500" b="1"/>
              <a:t>실제 비정상 호출</a:t>
            </a:r>
            <a:r>
              <a:rPr lang="en-US" altLang="ko-KR" sz="1500" b="1"/>
              <a:t>(</a:t>
            </a:r>
            <a:r>
              <a:rPr lang="ko-KR" altLang="en-US" sz="1500" b="1"/>
              <a:t>봇</a:t>
            </a:r>
            <a:r>
              <a:rPr lang="en-US" altLang="ko-KR" sz="1500" b="1"/>
              <a:t>, DoS </a:t>
            </a:r>
            <a:r>
              <a:rPr lang="ko-KR" altLang="en-US" sz="1500" b="1"/>
              <a:t>등</a:t>
            </a:r>
            <a:r>
              <a:rPr lang="en-US" altLang="ko-KR" sz="1500" b="1"/>
              <a:t>)</a:t>
            </a:r>
            <a:r>
              <a:rPr lang="ko-KR" altLang="en-US" sz="1500" b="1"/>
              <a:t>은 </a:t>
            </a:r>
            <a:r>
              <a:rPr lang="en-US" altLang="ko-KR" sz="1500" b="1"/>
              <a:t>150</a:t>
            </a:r>
            <a:r>
              <a:rPr lang="ko-KR" altLang="en-US" sz="1500" b="1"/>
              <a:t>건</a:t>
            </a:r>
            <a:r>
              <a:rPr lang="en-US" altLang="ko-KR" sz="1500"/>
              <a:t>, </a:t>
            </a:r>
            <a:r>
              <a:rPr lang="ko-KR" altLang="en-US" sz="1500" b="1"/>
              <a:t>정상 호출은 </a:t>
            </a:r>
            <a:r>
              <a:rPr lang="en-US" altLang="ko-KR" sz="1500" b="1"/>
              <a:t>650</a:t>
            </a:r>
            <a:r>
              <a:rPr lang="ko-KR" altLang="en-US" sz="1500" b="1"/>
              <a:t>건</a:t>
            </a:r>
            <a:r>
              <a:rPr lang="ko-KR" altLang="en-US" sz="1500"/>
              <a:t>이었다</a:t>
            </a:r>
            <a:r>
              <a:rPr lang="en-US" altLang="ko-KR" sz="1500"/>
              <a:t>. </a:t>
            </a:r>
            <a:endParaRPr lang="en-US" altLang="ko-KR" sz="1500"/>
          </a:p>
          <a:p>
            <a:pPr lvl="0">
              <a:lnSpc>
                <a:spcPct val="130000"/>
              </a:lnSpc>
              <a:defRPr/>
            </a:pPr>
            <a:r>
              <a:rPr lang="ko-KR" altLang="en-US" sz="1500"/>
              <a:t>시스템은 </a:t>
            </a:r>
            <a:r>
              <a:rPr lang="en-US" altLang="ko-KR" sz="1500" b="1"/>
              <a:t>180</a:t>
            </a:r>
            <a:r>
              <a:rPr lang="ko-KR" altLang="en-US" sz="1500" b="1"/>
              <a:t>건을 비정상 호출로 판정</a:t>
            </a:r>
            <a:r>
              <a:rPr lang="ko-KR" altLang="en-US" sz="1500"/>
              <a:t>했는데</a:t>
            </a:r>
            <a:r>
              <a:rPr lang="en-US" altLang="ko-KR" sz="1500"/>
              <a:t>, </a:t>
            </a:r>
            <a:endParaRPr lang="ko-KR" altLang="en-US" sz="1500"/>
          </a:p>
          <a:p>
            <a:pPr lvl="0">
              <a:lnSpc>
                <a:spcPct val="130000"/>
              </a:lnSpc>
              <a:defRPr/>
            </a:pPr>
            <a:r>
              <a:rPr lang="ko-KR" altLang="en-US" sz="1500"/>
              <a:t>이 중 </a:t>
            </a:r>
            <a:r>
              <a:rPr lang="en-US" altLang="ko-KR" sz="1500" b="1"/>
              <a:t>130</a:t>
            </a:r>
            <a:r>
              <a:rPr lang="ko-KR" altLang="en-US" sz="1500" b="1"/>
              <a:t>건은 실제 비정상</a:t>
            </a:r>
            <a:r>
              <a:rPr lang="ko-KR" altLang="en-US" sz="1500"/>
              <a:t>이었고 </a:t>
            </a:r>
            <a:r>
              <a:rPr lang="en-US" altLang="ko-KR" sz="1500" b="1"/>
              <a:t>50</a:t>
            </a:r>
            <a:r>
              <a:rPr lang="ko-KR" altLang="en-US" sz="1500" b="1"/>
              <a:t>건은 정상 요청을 잘못 탐지</a:t>
            </a:r>
            <a:r>
              <a:rPr lang="ko-KR" altLang="en-US" sz="1500"/>
              <a:t>했다</a:t>
            </a:r>
            <a:r>
              <a:rPr lang="en-US" altLang="ko-KR" sz="1500"/>
              <a:t>. </a:t>
            </a:r>
            <a:endParaRPr lang="ko-KR" altLang="en-US" sz="1500"/>
          </a:p>
          <a:p>
            <a:pPr lvl="0">
              <a:lnSpc>
                <a:spcPct val="130000"/>
              </a:lnSpc>
              <a:defRPr/>
            </a:pPr>
            <a:r>
              <a:rPr lang="ko-KR" altLang="en-US" sz="1500"/>
              <a:t>또 </a:t>
            </a:r>
            <a:r>
              <a:rPr lang="en-US" altLang="ko-KR" sz="1500" b="1"/>
              <a:t>20</a:t>
            </a:r>
            <a:r>
              <a:rPr lang="ko-KR" altLang="en-US" sz="1500" b="1"/>
              <a:t>건의 비정상 호출은 정상으로 놓쳤다</a:t>
            </a:r>
            <a:r>
              <a:rPr lang="en-US" altLang="ko-KR" sz="1500" b="1"/>
              <a:t>.</a:t>
            </a:r>
            <a:endParaRPr lang="ko-KR" altLang="en-US" sz="1500"/>
          </a:p>
          <a:p>
            <a:pPr>
              <a:lnSpc>
                <a:spcPct val="130000"/>
              </a:lnSpc>
              <a:defRPr/>
            </a:pPr>
            <a:endParaRPr lang="ko-KR" altLang="en-US" sz="1500"/>
          </a:p>
        </p:txBody>
      </p:sp>
      <p:sp>
        <p:nvSpPr>
          <p:cNvPr id="10" name="Content Placeholder 2"/>
          <p:cNvSpPr>
            <a:spLocks noGrp="1"/>
          </p:cNvSpPr>
          <p:nvPr/>
        </p:nvSpPr>
        <p:spPr>
          <a:xfrm>
            <a:off x="6593632" y="3655137"/>
            <a:ext cx="4658049" cy="3295165"/>
          </a:xfrm>
          <a:prstGeom prst="rect">
            <a:avLst/>
          </a:prstGeom>
        </p:spPr>
        <p:txBody>
          <a:bodyPr vert="horz" lIns="91440" tIns="45720" rIns="91440" bIns="45720">
            <a:normAutofit lnSpcReduction="10000"/>
          </a:bodyPr>
          <a:p>
            <a:pPr>
              <a:lnSpc>
                <a:spcPct val="130000"/>
              </a:lnSpc>
              <a:defRPr/>
            </a:pPr>
            <a:r>
              <a:rPr lang="en-US" altLang="ko-KR" sz="1900" b="1"/>
              <a:t>3. Recall(</a:t>
            </a:r>
            <a:r>
              <a:rPr lang="ko-KR" altLang="en-US" sz="1900" b="1"/>
              <a:t>재현율</a:t>
            </a:r>
            <a:r>
              <a:rPr lang="en-US" altLang="ko-KR" sz="1900" b="1"/>
              <a:t>)</a:t>
            </a:r>
            <a:endParaRPr lang="en-US" altLang="ko-KR" sz="1900" b="1"/>
          </a:p>
          <a:p>
            <a:pPr marL="728520" lvl="1" indent="-271320">
              <a:lnSpc>
                <a:spcPct val="130000"/>
              </a:lnSpc>
              <a:buFont typeface="Arial"/>
              <a:buChar char="•"/>
              <a:defRPr/>
            </a:pPr>
            <a:r>
              <a:rPr lang="ko-KR" altLang="en-US" sz="1500"/>
              <a:t>실제 호출이 비정상일 때</a:t>
            </a:r>
            <a:r>
              <a:rPr lang="en-US" altLang="ko-KR" sz="1500"/>
              <a:t>, </a:t>
            </a:r>
            <a:r>
              <a:rPr lang="ko-KR" altLang="en-US" sz="1500"/>
              <a:t>그것을 시스템이 비정상이라고 예측한 비율</a:t>
            </a:r>
            <a:r>
              <a:rPr lang="en-US" altLang="ko-KR" sz="1500"/>
              <a:t> </a:t>
            </a:r>
            <a:endParaRPr lang="en-US" altLang="ko-KR" sz="1500"/>
          </a:p>
          <a:p>
            <a:pPr marL="728520" lvl="1" indent="-271320">
              <a:lnSpc>
                <a:spcPct val="130000"/>
              </a:lnSpc>
              <a:buFont typeface="Arial"/>
              <a:buChar char="•"/>
              <a:defRPr/>
            </a:pPr>
            <a:r>
              <a:rPr lang="en-US" altLang="ko-KR" sz="1500"/>
              <a:t>130 / 150 * 100(%) = 86.67(%)</a:t>
            </a:r>
            <a:endParaRPr lang="en-US" altLang="ko-KR" sz="1900"/>
          </a:p>
          <a:p>
            <a:pPr>
              <a:lnSpc>
                <a:spcPct val="130000"/>
              </a:lnSpc>
              <a:defRPr/>
            </a:pPr>
            <a:r>
              <a:rPr lang="en-US" altLang="ko-KR" sz="1900" b="1"/>
              <a:t>4. F1-SCORE(</a:t>
            </a:r>
            <a:r>
              <a:rPr lang="ko-KR" altLang="en-US" sz="1900" b="1"/>
              <a:t>조화평균</a:t>
            </a:r>
            <a:r>
              <a:rPr lang="en-US" altLang="ko-KR" sz="1900" b="1"/>
              <a:t>)</a:t>
            </a:r>
            <a:endParaRPr lang="en-US" altLang="ko-KR" sz="1900" b="1"/>
          </a:p>
          <a:p>
            <a:pPr marL="728520" lvl="1" indent="-271320">
              <a:lnSpc>
                <a:spcPct val="130000"/>
              </a:lnSpc>
              <a:buFont typeface="Arial"/>
              <a:buChar char="•"/>
              <a:defRPr/>
            </a:pPr>
            <a:r>
              <a:rPr lang="en-US" altLang="ko-KR" sz="1500"/>
              <a:t>2 * (0.7222 * 0.8667) / (0.7222 + 0.8667) * 100(%) = 78.78(%)</a:t>
            </a:r>
            <a:endParaRPr xmlns:mc="http://schemas.openxmlformats.org/markup-compatibility/2006" xmlns:hp="http://schemas.haansoft.com/office/presentation/8.0" kumimoji="0" lang="en-US" altLang="ko-KR" sz="1500" b="0" i="0" u="none" strike="noStrike" kern="120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412940019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530657"/>
            <a:ext cx="10515600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lnSpc>
                <a:spcPct val="150000"/>
              </a:lnSpc>
              <a:buNone/>
              <a:defRPr/>
            </a:pPr>
            <a:r>
              <a:rPr lang="en-US" altLang="ko-KR" sz="3500" b="1">
                <a:solidFill>
                  <a:srgbClr val="ff0000"/>
                </a:solidFill>
              </a:rPr>
              <a:t>?</a:t>
            </a:r>
            <a:r>
              <a:rPr lang="ko-KR" altLang="en-US" sz="3500" b="1"/>
              <a:t> </a:t>
            </a:r>
            <a:r>
              <a:rPr lang="en-US" altLang="ko-KR"/>
              <a:t>Autonomic Computing</a:t>
            </a:r>
            <a:r>
              <a:rPr lang="ko-KR" altLang="en-US"/>
              <a:t>에서 중요한 점</a:t>
            </a:r>
            <a:endParaRPr lang="ko-KR" altLang="en-US"/>
          </a:p>
          <a:p>
            <a:pPr marL="0" indent="0">
              <a:lnSpc>
                <a:spcPct val="100000"/>
              </a:lnSpc>
              <a:buNone/>
              <a:defRPr/>
            </a:pPr>
            <a:endParaRPr lang="ko-KR" altLang="en-US" b="1"/>
          </a:p>
          <a:p>
            <a:pPr marL="518000" indent="-518000">
              <a:lnSpc>
                <a:spcPct val="150000"/>
              </a:lnSpc>
              <a:buAutoNum type="romanUcPeriod"/>
              <a:defRPr/>
            </a:pPr>
            <a:r>
              <a:rPr lang="ko-KR" altLang="en-US" b="1"/>
              <a:t>목표</a:t>
            </a:r>
            <a:r>
              <a:rPr lang="en-US" altLang="ko-KR" b="1"/>
              <a:t>(</a:t>
            </a:r>
            <a:r>
              <a:rPr lang="en-US" altLang="ko-KR" b="1">
                <a:solidFill>
                  <a:srgbClr val="ff0000"/>
                </a:solidFill>
              </a:rPr>
              <a:t>Goal</a:t>
            </a:r>
            <a:r>
              <a:rPr lang="en-US" altLang="ko-KR" b="1"/>
              <a:t>)</a:t>
            </a:r>
            <a:r>
              <a:rPr lang="ko-KR" altLang="en-US"/>
              <a:t>와 그것을 달성하기 위한 </a:t>
            </a:r>
            <a:r>
              <a:rPr lang="en-US" altLang="ko-KR" b="1">
                <a:solidFill>
                  <a:srgbClr val="ff0000"/>
                </a:solidFill>
              </a:rPr>
              <a:t>MAPE</a:t>
            </a:r>
            <a:r>
              <a:rPr lang="ko-KR" altLang="en-US"/>
              <a:t> 과정</a:t>
            </a:r>
            <a:endParaRPr lang="ko-KR" altLang="en-US"/>
          </a:p>
          <a:p>
            <a:pPr marL="518000" indent="-518000">
              <a:lnSpc>
                <a:spcPct val="150000"/>
              </a:lnSpc>
              <a:buAutoNum type="romanUcPeriod"/>
              <a:defRPr/>
            </a:pPr>
            <a:r>
              <a:rPr lang="ko-KR" altLang="en-US" b="1"/>
              <a:t>신뢰성</a:t>
            </a:r>
            <a:r>
              <a:rPr lang="ko-KR" altLang="en-US"/>
              <a:t>과 </a:t>
            </a:r>
            <a:r>
              <a:rPr lang="ko-KR" altLang="en-US" b="1"/>
              <a:t>성능</a:t>
            </a:r>
            <a:r>
              <a:rPr lang="ko-KR" altLang="en-US"/>
              <a:t> 측면에서 </a:t>
            </a:r>
            <a:r>
              <a:rPr lang="en-US" altLang="ko-KR" b="1">
                <a:solidFill>
                  <a:srgbClr val="ff0000"/>
                </a:solidFill>
              </a:rPr>
              <a:t>Self-Optimizing</a:t>
            </a:r>
            <a:r>
              <a:rPr lang="ko-KR" altLang="en-US"/>
              <a:t>이 중요</a:t>
            </a:r>
            <a:endParaRPr lang="ko-KR" altLang="en-US"/>
          </a:p>
          <a:p>
            <a:pPr marL="518000" indent="-518000">
              <a:lnSpc>
                <a:spcPct val="150000"/>
              </a:lnSpc>
              <a:buAutoNum type="romanUcPeriod"/>
              <a:defRPr/>
            </a:pPr>
            <a:r>
              <a:rPr lang="en-US" altLang="ko-KR" b="1"/>
              <a:t>Self-Optimizing</a:t>
            </a:r>
            <a:r>
              <a:rPr lang="ko-KR" altLang="en-US"/>
              <a:t>이 잘 되면 </a:t>
            </a:r>
            <a:r>
              <a:rPr lang="ko-KR" altLang="en-US" b="1"/>
              <a:t>성능</a:t>
            </a:r>
            <a:r>
              <a:rPr lang="ko-KR" altLang="en-US"/>
              <a:t>이 일정하게 </a:t>
            </a:r>
            <a:r>
              <a:rPr lang="ko-KR" altLang="en-US" b="1"/>
              <a:t>유지</a:t>
            </a:r>
            <a:r>
              <a:rPr lang="ko-KR" altLang="en-US"/>
              <a:t>되기 쉽고</a:t>
            </a:r>
            <a:r>
              <a:rPr lang="en-US" altLang="ko-KR"/>
              <a:t>, </a:t>
            </a:r>
            <a:r>
              <a:rPr lang="ko-KR" altLang="en-US" b="1"/>
              <a:t>비용</a:t>
            </a:r>
            <a:r>
              <a:rPr lang="ko-KR" altLang="en-US"/>
              <a:t>을 줄일 수 있으며</a:t>
            </a:r>
            <a:r>
              <a:rPr lang="en-US" altLang="ko-KR"/>
              <a:t>, </a:t>
            </a:r>
            <a:r>
              <a:rPr lang="ko-KR" altLang="en-US"/>
              <a:t>관리자가 </a:t>
            </a:r>
            <a:r>
              <a:rPr lang="ko-KR" altLang="en-US" b="1"/>
              <a:t>임계값</a:t>
            </a:r>
            <a:r>
              <a:rPr lang="ko-KR" altLang="en-US"/>
              <a:t>을 일일이 맞추는 부담이 줄어들기 때문</a:t>
            </a:r>
            <a:endParaRPr lang="ko-KR" altLang="en-US"/>
          </a:p>
          <a:p>
            <a:pPr lvl="0">
              <a:lnSpc>
                <a:spcPct val="150000"/>
              </a:lnSpc>
              <a:defRPr/>
            </a:pPr>
            <a:endParaRPr lang="en-US" altLang="ko-KR"/>
          </a:p>
        </p:txBody>
      </p:sp>
      <p:pic>
        <p:nvPicPr>
          <p:cNvPr id="6" name="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962448" y="5832359"/>
            <a:ext cx="3999715" cy="794464"/>
          </a:xfrm>
          <a:prstGeom prst="rect">
            <a:avLst/>
          </a:prstGeom>
        </p:spPr>
      </p:pic>
      <p:sp>
        <p:nvSpPr>
          <p:cNvPr id="7" name="Title 1"/>
          <p:cNvSpPr>
            <a:spLocks noGrp="1"/>
          </p:cNvSpPr>
          <p:nvPr/>
        </p:nvSpPr>
        <p:spPr>
          <a:xfrm>
            <a:off x="449679" y="365125"/>
            <a:ext cx="7958890" cy="1003272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p>
            <a:pPr marL="0" indent="0" algn="l" defTabSz="914400" rtl="0" eaLnBrk="1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Autonomic Computing Evaluation</a:t>
            </a:r>
            <a:r>
              <a:rPr xmlns:mc="http://schemas.openxmlformats.org/markup-compatibility/2006" xmlns:hp="http://schemas.haansoft.com/office/presentation/8.0" kumimoji="0" lang="ko-KR" altLang="en-US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</a:t>
            </a:r>
            <a:r>
              <a:rPr xmlns:mc="http://schemas.openxmlformats.org/markup-compatibility/2006" xmlns:hp="http://schemas.haansoft.com/office/presentation/8.0" kumimoji="0" lang="ko-KR" altLang="en-US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과제 </a:t>
            </a:r>
            <a:r>
              <a: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</a:t>
            </a:r>
            <a:endPara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424532111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US" altLang="ko-KR" sz="3500" b="1">
                <a:solidFill>
                  <a:srgbClr val="ff0000"/>
                </a:solidFill>
              </a:rPr>
              <a:t>?</a:t>
            </a:r>
            <a:r>
              <a:rPr lang="en-US" altLang="ko-KR" b="1"/>
              <a:t> </a:t>
            </a:r>
            <a:r>
              <a:rPr lang="ko-KR" altLang="en-US" sz="2600"/>
              <a:t>어떤 </a:t>
            </a:r>
            <a:r>
              <a:rPr lang="en-US" altLang="ko-KR" sz="2600"/>
              <a:t>SW</a:t>
            </a:r>
            <a:r>
              <a:rPr lang="ko-KR" altLang="en-US" sz="2600"/>
              <a:t>응용 시스템을 제안할 것인지 작성</a:t>
            </a:r>
            <a:endParaRPr lang="ko-KR" altLang="en-US" sz="2600"/>
          </a:p>
          <a:p>
            <a:pPr marL="0" indent="0">
              <a:buNone/>
              <a:defRPr/>
            </a:pPr>
            <a:r>
              <a:rPr lang="en-US" altLang="ko-KR" sz="3500" b="1">
                <a:solidFill>
                  <a:srgbClr val="ff0000"/>
                </a:solidFill>
              </a:rPr>
              <a:t>?</a:t>
            </a:r>
            <a:r>
              <a:rPr lang="en-US" altLang="ko-KR"/>
              <a:t> </a:t>
            </a:r>
            <a:r>
              <a:rPr lang="ko-KR" altLang="en-US" sz="2600"/>
              <a:t>목표</a:t>
            </a:r>
            <a:r>
              <a:rPr lang="en-US" altLang="ko-KR" sz="2600"/>
              <a:t>(Goal)</a:t>
            </a:r>
            <a:r>
              <a:rPr lang="ko-KR" altLang="en-US" sz="2600"/>
              <a:t>가 무엇인지를 작성</a:t>
            </a:r>
            <a:r>
              <a:rPr lang="en-US" altLang="ko-KR" sz="2600"/>
              <a:t> </a:t>
            </a:r>
            <a:endParaRPr lang="en-US" altLang="ko-KR" sz="2600"/>
          </a:p>
          <a:p>
            <a:pPr marL="0" indent="0">
              <a:buNone/>
              <a:defRPr/>
            </a:pPr>
            <a:endParaRPr lang="ko-KR" altLang="en-US"/>
          </a:p>
          <a:p>
            <a:pPr marL="0" indent="0">
              <a:buNone/>
              <a:defRPr/>
            </a:pPr>
            <a:r>
              <a:rPr lang="en-US" altLang="ko-KR" sz="3500" b="1"/>
              <a:t>A. </a:t>
            </a:r>
            <a:r>
              <a:rPr lang="ko-KR" altLang="en-US" sz="2600" b="1"/>
              <a:t>가계부 기반 자율 예산 관리 시스템</a:t>
            </a:r>
            <a:endParaRPr lang="ko-KR" altLang="en-US" sz="2600" b="1"/>
          </a:p>
          <a:p>
            <a:pPr marL="0" indent="0">
              <a:lnSpc>
                <a:spcPct val="0"/>
              </a:lnSpc>
              <a:buNone/>
              <a:defRPr/>
            </a:pPr>
            <a:endParaRPr lang="ko-KR" altLang="en-US" sz="2000"/>
          </a:p>
          <a:p>
            <a:pPr marL="0" indent="0">
              <a:lnSpc>
                <a:spcPct val="130000"/>
              </a:lnSpc>
              <a:buNone/>
              <a:defRPr/>
            </a:pPr>
            <a:r>
              <a:rPr lang="en-US" altLang="ko-KR"/>
              <a:t>	</a:t>
            </a:r>
            <a:r>
              <a:rPr lang="ko-KR" altLang="en-US" sz="2000"/>
              <a:t>사용자의 </a:t>
            </a:r>
            <a:r>
              <a:rPr lang="ko-KR" altLang="en-US" sz="2000" b="1"/>
              <a:t>수입</a:t>
            </a:r>
            <a:r>
              <a:rPr lang="en-US" altLang="ko-KR" sz="2000" b="1"/>
              <a:t>, </a:t>
            </a:r>
            <a:r>
              <a:rPr lang="ko-KR" altLang="en-US" sz="2000" b="1"/>
              <a:t>소비 패턴을 기반</a:t>
            </a:r>
            <a:r>
              <a:rPr lang="ko-KR" altLang="en-US" sz="2000"/>
              <a:t>으로 </a:t>
            </a:r>
            <a:endParaRPr lang="ko-KR" altLang="en-US" sz="2000"/>
          </a:p>
          <a:p>
            <a:pPr marL="0" indent="0">
              <a:lnSpc>
                <a:spcPct val="130000"/>
              </a:lnSpc>
              <a:buNone/>
              <a:defRPr/>
            </a:pPr>
            <a:r>
              <a:rPr lang="en-US" altLang="ko-KR" sz="2000"/>
              <a:t>	</a:t>
            </a:r>
            <a:r>
              <a:rPr lang="ko-KR" altLang="en-US" sz="2000"/>
              <a:t>한 달의 예산과 하루의 </a:t>
            </a:r>
            <a:r>
              <a:rPr lang="ko-KR" altLang="en-US" sz="2000" b="1"/>
              <a:t>권장 지출액을 제안</a:t>
            </a:r>
            <a:r>
              <a:rPr lang="ko-KR" altLang="en-US" sz="2000"/>
              <a:t>해준다</a:t>
            </a:r>
            <a:r>
              <a:rPr lang="en-US" altLang="ko-KR" sz="2000"/>
              <a:t>. </a:t>
            </a:r>
            <a:endParaRPr lang="en-US" altLang="ko-KR" sz="2000"/>
          </a:p>
          <a:p>
            <a:pPr marL="0" indent="0">
              <a:lnSpc>
                <a:spcPct val="130000"/>
              </a:lnSpc>
              <a:buNone/>
              <a:defRPr/>
            </a:pPr>
            <a:r>
              <a:rPr lang="en-US" altLang="ko-KR" sz="2000"/>
              <a:t>	</a:t>
            </a:r>
            <a:r>
              <a:rPr lang="ko-KR" altLang="en-US" sz="2000"/>
              <a:t>예상 금액 초과 시 </a:t>
            </a:r>
            <a:r>
              <a:rPr lang="ko-KR" altLang="en-US" sz="2000" b="1"/>
              <a:t>자동으로 예산과 권장 지출액을 조정</a:t>
            </a:r>
            <a:r>
              <a:rPr lang="ko-KR" altLang="en-US" sz="2000"/>
              <a:t>해준다</a:t>
            </a:r>
            <a:r>
              <a:rPr lang="en-US" altLang="ko-KR" sz="2000"/>
              <a:t>.</a:t>
            </a:r>
            <a:endParaRPr lang="en-US" altLang="ko-KR" sz="2000"/>
          </a:p>
        </p:txBody>
      </p:sp>
      <p:pic>
        <p:nvPicPr>
          <p:cNvPr id="5" name="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030480" y="5976643"/>
            <a:ext cx="4132944" cy="786106"/>
          </a:xfrm>
          <a:prstGeom prst="rect">
            <a:avLst/>
          </a:prstGeom>
        </p:spPr>
      </p:pic>
      <p:sp>
        <p:nvSpPr>
          <p:cNvPr id="6" name="Title 1"/>
          <p:cNvSpPr>
            <a:spLocks noGrp="1"/>
          </p:cNvSpPr>
          <p:nvPr/>
        </p:nvSpPr>
        <p:spPr>
          <a:xfrm>
            <a:off x="449679" y="365125"/>
            <a:ext cx="7958890" cy="1003272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p>
            <a:pPr marL="0" indent="0" algn="l" defTabSz="914400" rtl="0" eaLnBrk="1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Autonomic Computing Evaluation</a:t>
            </a:r>
            <a:r>
              <a:rPr xmlns:mc="http://schemas.openxmlformats.org/markup-compatibility/2006" xmlns:hp="http://schemas.haansoft.com/office/presentation/8.0" kumimoji="0" lang="ko-KR" altLang="en-US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</a:t>
            </a:r>
            <a:r>
              <a:rPr xmlns:mc="http://schemas.openxmlformats.org/markup-compatibility/2006" xmlns:hp="http://schemas.haansoft.com/office/presentation/8.0" kumimoji="0" lang="ko-KR" altLang="en-US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과제 </a:t>
            </a:r>
            <a:r>
              <a: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</a:t>
            </a:r>
            <a:endPara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40233578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  <a:defRPr/>
            </a:pPr>
            <a:r>
              <a:rPr lang="en-US" altLang="ko-KR" sz="3783" b="1">
                <a:solidFill>
                  <a:srgbClr val="ff0000"/>
                </a:solidFill>
              </a:rPr>
              <a:t>?</a:t>
            </a:r>
            <a:r>
              <a:rPr lang="ko-KR" altLang="en-US" sz="3783" b="1"/>
              <a:t> </a:t>
            </a:r>
            <a:r>
              <a:rPr lang="ko-KR" altLang="en-US" b="1"/>
              <a:t>자율제어 시스템은 목표시스템의 내부에</a:t>
            </a:r>
            <a:r>
              <a:rPr lang="en-US" altLang="ko-KR" b="1"/>
              <a:t>/</a:t>
            </a:r>
            <a:r>
              <a:rPr lang="ko-KR" altLang="en-US" b="1"/>
              <a:t>외부에</a:t>
            </a:r>
            <a:endParaRPr lang="ko-KR" altLang="en-US" b="1"/>
          </a:p>
          <a:p>
            <a:pPr marL="0" indent="0">
              <a:buNone/>
              <a:defRPr/>
            </a:pPr>
            <a:endParaRPr lang="ko-KR" altLang="en-US" b="1"/>
          </a:p>
          <a:p>
            <a:pPr marL="0" indent="0">
              <a:buNone/>
              <a:defRPr/>
            </a:pPr>
            <a:r>
              <a:rPr lang="en-US" altLang="ko-KR" sz="3783" b="1"/>
              <a:t>A.</a:t>
            </a:r>
            <a:r>
              <a:rPr lang="en-US" altLang="ko-KR"/>
              <a:t> </a:t>
            </a:r>
            <a:r>
              <a:rPr lang="ko-KR" altLang="en-US"/>
              <a:t>가계부 기반 자율 예산 관리 시스템의 자율제어 시스템은 </a:t>
            </a:r>
            <a:r>
              <a:rPr lang="ko-KR" altLang="en-US" b="1"/>
              <a:t>외부에</a:t>
            </a:r>
            <a:r>
              <a:rPr lang="en-US" altLang="ko-KR" b="1"/>
              <a:t>...</a:t>
            </a:r>
            <a:endParaRPr lang="en-US" altLang="ko-KR"/>
          </a:p>
          <a:p>
            <a:pPr marL="0" indent="0">
              <a:buNone/>
              <a:defRPr/>
            </a:pPr>
            <a:endParaRPr lang="en-US" altLang="ko-KR"/>
          </a:p>
          <a:p>
            <a:pPr marL="0" indent="0">
              <a:buNone/>
              <a:defRPr/>
            </a:pPr>
            <a:r>
              <a:rPr lang="en-US" altLang="ko-KR" sz="3783" b="1"/>
              <a:t>A.</a:t>
            </a:r>
            <a:r>
              <a:rPr lang="en-US" altLang="ko-KR"/>
              <a:t> </a:t>
            </a:r>
            <a:r>
              <a:rPr lang="ko-KR" altLang="en-US" sz="2300"/>
              <a:t>데이터를 분석</a:t>
            </a:r>
            <a:r>
              <a:rPr lang="en-US" altLang="ko-KR" sz="2300"/>
              <a:t>, </a:t>
            </a:r>
            <a:r>
              <a:rPr lang="ko-KR" altLang="en-US" sz="2300"/>
              <a:t>판단</a:t>
            </a:r>
            <a:r>
              <a:rPr lang="en-US" altLang="ko-KR" sz="2300"/>
              <a:t>, </a:t>
            </a:r>
            <a:r>
              <a:rPr lang="ko-KR" altLang="en-US" sz="2300"/>
              <a:t>제안해주는 별도의 시스템은 </a:t>
            </a:r>
            <a:endParaRPr lang="ko-KR" altLang="en-US" sz="2300"/>
          </a:p>
          <a:p>
            <a:pPr marL="0" indent="0">
              <a:buNone/>
              <a:defRPr/>
            </a:pPr>
            <a:r>
              <a:rPr lang="ko-KR" altLang="en-US" sz="2300"/>
              <a:t>      </a:t>
            </a:r>
            <a:r>
              <a:rPr lang="ko-KR" altLang="en-US" sz="2300" b="1"/>
              <a:t>목표시스템</a:t>
            </a:r>
            <a:r>
              <a:rPr lang="en-US" altLang="ko-KR" sz="2300" b="1"/>
              <a:t>(</a:t>
            </a:r>
            <a:r>
              <a:rPr lang="ko-KR" altLang="en-US" sz="2300" b="1"/>
              <a:t>사용자의 기기</a:t>
            </a:r>
            <a:r>
              <a:rPr lang="en-US" altLang="ko-KR" sz="2300" b="1"/>
              <a:t>)</a:t>
            </a:r>
            <a:r>
              <a:rPr lang="ko-KR" altLang="en-US" sz="2300" b="1"/>
              <a:t>와 분리</a:t>
            </a:r>
            <a:r>
              <a:rPr lang="ko-KR" altLang="en-US" sz="2300"/>
              <a:t>되어 있어야 </a:t>
            </a:r>
            <a:r>
              <a:rPr lang="ko-KR" altLang="en-US" sz="2300" b="1"/>
              <a:t>유지보수</a:t>
            </a:r>
            <a:r>
              <a:rPr lang="ko-KR" altLang="en-US" sz="2300"/>
              <a:t>나 </a:t>
            </a:r>
            <a:endParaRPr lang="ko-KR" altLang="en-US" sz="2300"/>
          </a:p>
          <a:p>
            <a:pPr marL="0" indent="0">
              <a:buNone/>
              <a:defRPr/>
            </a:pPr>
            <a:r>
              <a:rPr lang="ko-KR" altLang="en-US" sz="2300"/>
              <a:t>      </a:t>
            </a:r>
            <a:r>
              <a:rPr lang="ko-KR" altLang="en-US" sz="2300" b="1"/>
              <a:t>안정성</a:t>
            </a:r>
            <a:r>
              <a:rPr lang="ko-KR" altLang="en-US" sz="2300"/>
              <a:t> 측면에서 </a:t>
            </a:r>
            <a:r>
              <a:rPr lang="ko-KR" altLang="en-US" sz="2300" b="1"/>
              <a:t>유리</a:t>
            </a:r>
            <a:r>
              <a:rPr lang="en-US" altLang="ko-KR" sz="2300"/>
              <a:t> </a:t>
            </a:r>
            <a:endParaRPr lang="en-US" altLang="ko-KR" sz="2300"/>
          </a:p>
          <a:p>
            <a:pPr marL="0" indent="0">
              <a:buNone/>
              <a:defRPr/>
            </a:pPr>
            <a:r>
              <a:rPr lang="ko-KR" altLang="en-US" sz="2300"/>
              <a:t>      내부에 두게 된다면 결제 시스템 서버에 대한 </a:t>
            </a:r>
            <a:r>
              <a:rPr lang="ko-KR" altLang="en-US" sz="2300" b="1"/>
              <a:t>의존성이 높아</a:t>
            </a:r>
            <a:r>
              <a:rPr lang="ko-KR" altLang="en-US" sz="2300"/>
              <a:t>지고 </a:t>
            </a:r>
            <a:endParaRPr lang="ko-KR" altLang="en-US" sz="2300"/>
          </a:p>
          <a:p>
            <a:pPr marL="0" indent="0">
              <a:buNone/>
              <a:defRPr/>
            </a:pPr>
            <a:r>
              <a:rPr lang="ko-KR" altLang="en-US" sz="2300"/>
              <a:t>      사용자 기기에서의 </a:t>
            </a:r>
            <a:r>
              <a:rPr lang="ko-KR" altLang="en-US" sz="2300" b="1"/>
              <a:t>리소스가 무거워</a:t>
            </a:r>
            <a:r>
              <a:rPr lang="ko-KR" altLang="en-US" sz="2300"/>
              <a:t>지게 됩니다</a:t>
            </a:r>
            <a:r>
              <a:rPr lang="en-US" altLang="ko-KR" sz="2300"/>
              <a:t>.</a:t>
            </a:r>
            <a:endParaRPr lang="en-US" altLang="ko-KR" sz="2300"/>
          </a:p>
        </p:txBody>
      </p:sp>
      <p:pic>
        <p:nvPicPr>
          <p:cNvPr id="6" name="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316162" y="5752345"/>
            <a:ext cx="3775792" cy="1010302"/>
          </a:xfrm>
          <a:prstGeom prst="rect">
            <a:avLst/>
          </a:prstGeom>
        </p:spPr>
      </p:pic>
      <p:sp>
        <p:nvSpPr>
          <p:cNvPr id="7" name="Title 1"/>
          <p:cNvSpPr>
            <a:spLocks noGrp="1"/>
          </p:cNvSpPr>
          <p:nvPr/>
        </p:nvSpPr>
        <p:spPr>
          <a:xfrm>
            <a:off x="449679" y="365125"/>
            <a:ext cx="7958890" cy="1003272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p>
            <a:pPr marL="0" indent="0" algn="l" defTabSz="914400" rtl="0" eaLnBrk="1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Autonomic Computing Evaluation</a:t>
            </a:r>
            <a:r>
              <a:rPr xmlns:mc="http://schemas.openxmlformats.org/markup-compatibility/2006" xmlns:hp="http://schemas.haansoft.com/office/presentation/8.0" kumimoji="0" lang="ko-KR" altLang="en-US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</a:t>
            </a:r>
            <a:r>
              <a:rPr xmlns:mc="http://schemas.openxmlformats.org/markup-compatibility/2006" xmlns:hp="http://schemas.haansoft.com/office/presentation/8.0" kumimoji="0" lang="ko-KR" altLang="en-US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과제 </a:t>
            </a:r>
            <a:r>
              <a: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</a:t>
            </a:r>
            <a:endPara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46855258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399840" lvl="0" indent="-399840">
              <a:lnSpc>
                <a:spcPct val="130000"/>
              </a:lnSpc>
              <a:buFont typeface="Wingdings"/>
              <a:buChar char="§"/>
              <a:defRPr/>
            </a:pPr>
            <a:r>
              <a:rPr lang="en-US" altLang="ko-KR" b="1">
                <a:solidFill>
                  <a:srgbClr val="ff0000"/>
                </a:solidFill>
              </a:rPr>
              <a:t>M</a:t>
            </a:r>
            <a:r>
              <a:rPr lang="en-US" altLang="ko-KR" b="1"/>
              <a:t>onitor</a:t>
            </a:r>
            <a:endParaRPr lang="en-US" altLang="ko-KR" b="1"/>
          </a:p>
          <a:p>
            <a:pPr lvl="1">
              <a:lnSpc>
                <a:spcPct val="130000"/>
              </a:lnSpc>
              <a:defRPr/>
            </a:pPr>
            <a:r>
              <a:rPr lang="ko-KR" altLang="en-US" sz="2000"/>
              <a:t>목표 시스템에서 </a:t>
            </a:r>
            <a:r>
              <a:rPr lang="ko-KR" altLang="en-US" sz="2000" b="1"/>
              <a:t>수집한 세부 정보를 </a:t>
            </a:r>
            <a:r>
              <a:rPr lang="ko-KR" altLang="en-US" sz="2000" b="1" i="1"/>
              <a:t>집계</a:t>
            </a:r>
            <a:r>
              <a:rPr lang="en-US" altLang="ko-KR" sz="2000" b="1" i="1"/>
              <a:t>, </a:t>
            </a:r>
            <a:r>
              <a:rPr lang="ko-KR" altLang="en-US" sz="2000" b="1" i="1"/>
              <a:t>필터링</a:t>
            </a:r>
            <a:r>
              <a:rPr lang="en-US" altLang="ko-KR" sz="2000" b="1" i="1"/>
              <a:t>, </a:t>
            </a:r>
            <a:r>
              <a:rPr lang="ko-KR" altLang="en-US" sz="2000" b="1" i="1"/>
              <a:t>관리 및 보고</a:t>
            </a:r>
            <a:endParaRPr lang="en-US" altLang="ko-KR"/>
          </a:p>
          <a:p>
            <a:pPr marL="399840" lvl="0" indent="-399840">
              <a:lnSpc>
                <a:spcPct val="130000"/>
              </a:lnSpc>
              <a:buFont typeface="Wingdings"/>
              <a:buChar char="§"/>
              <a:defRPr/>
            </a:pPr>
            <a:r>
              <a:rPr lang="en-US" altLang="ko-KR" b="1">
                <a:solidFill>
                  <a:srgbClr val="ff0000"/>
                </a:solidFill>
              </a:rPr>
              <a:t>A</a:t>
            </a:r>
            <a:r>
              <a:rPr lang="en-US" altLang="ko-KR" b="1"/>
              <a:t>nalyze</a:t>
            </a:r>
            <a:endParaRPr lang="en-US" altLang="ko-KR"/>
          </a:p>
          <a:p>
            <a:pPr lvl="1">
              <a:lnSpc>
                <a:spcPct val="130000"/>
              </a:lnSpc>
              <a:defRPr/>
            </a:pPr>
            <a:r>
              <a:rPr lang="en-US" altLang="ko-KR" sz="2000"/>
              <a:t>모니터링 단계에서 </a:t>
            </a:r>
            <a:r>
              <a:rPr lang="en-US" altLang="ko-KR" sz="2000" b="1" i="1"/>
              <a:t>수집된 데이터를 처리</a:t>
            </a:r>
            <a:r>
              <a:rPr lang="en-US" altLang="ko-KR" sz="2000"/>
              <a:t>하여 중요한 이벤트, 패턴 또는 </a:t>
            </a:r>
            <a:r>
              <a:rPr lang="en-US" altLang="ko-KR" sz="2000" b="1" i="1"/>
              <a:t>문제를 식별</a:t>
            </a:r>
            <a:endParaRPr lang="ko-KR" altLang="en-US" sz="2000"/>
          </a:p>
          <a:p>
            <a:pPr marL="399840" lvl="0" indent="-399840">
              <a:lnSpc>
                <a:spcPct val="130000"/>
              </a:lnSpc>
              <a:buFont typeface="Wingdings"/>
              <a:buChar char="§"/>
              <a:defRPr/>
            </a:pPr>
            <a:r>
              <a:rPr lang="en-US" altLang="ko-KR" b="1">
                <a:solidFill>
                  <a:srgbClr val="ff0000"/>
                </a:solidFill>
              </a:rPr>
              <a:t>P</a:t>
            </a:r>
            <a:r>
              <a:rPr lang="en-US" altLang="ko-KR" b="1"/>
              <a:t>lan</a:t>
            </a:r>
            <a:endParaRPr lang="en-US" altLang="ko-KR"/>
          </a:p>
          <a:p>
            <a:pPr lvl="1">
              <a:lnSpc>
                <a:spcPct val="130000"/>
              </a:lnSpc>
              <a:defRPr/>
            </a:pPr>
            <a:r>
              <a:rPr lang="en-US" altLang="ko-KR" sz="2000" b="1"/>
              <a:t>분석과 지식 기반을 바탕</a:t>
            </a:r>
            <a:r>
              <a:rPr lang="en-US" altLang="ko-KR" sz="2000"/>
              <a:t>으로, 문제 해결이나 </a:t>
            </a:r>
            <a:r>
              <a:rPr lang="en-US" altLang="ko-KR" sz="2000" b="1"/>
              <a:t>목표 달성을 위한 </a:t>
            </a:r>
            <a:r>
              <a:rPr lang="en-US" altLang="ko-KR" sz="2000" b="1" i="1"/>
              <a:t>실행 방안</a:t>
            </a:r>
            <a:r>
              <a:rPr lang="ko-KR" altLang="en-US" sz="2000" b="1" i="1"/>
              <a:t> </a:t>
            </a:r>
            <a:r>
              <a:rPr lang="en-US" altLang="ko-KR" sz="2000" b="1"/>
              <a:t>을 결정</a:t>
            </a:r>
            <a:endParaRPr lang="en-US" altLang="ko-KR" sz="2000" b="1"/>
          </a:p>
          <a:p>
            <a:pPr marL="399840" lvl="0" indent="-399840">
              <a:lnSpc>
                <a:spcPct val="130000"/>
              </a:lnSpc>
              <a:buFont typeface="Wingdings"/>
              <a:buChar char="§"/>
              <a:defRPr/>
            </a:pPr>
            <a:r>
              <a:rPr lang="en-US" altLang="ko-KR" b="1">
                <a:solidFill>
                  <a:srgbClr val="ff0000"/>
                </a:solidFill>
              </a:rPr>
              <a:t>E</a:t>
            </a:r>
            <a:r>
              <a:rPr lang="en-US" altLang="ko-KR" b="1"/>
              <a:t>xecute</a:t>
            </a:r>
            <a:endParaRPr lang="en-US" altLang="ko-KR" b="1"/>
          </a:p>
          <a:p>
            <a:pPr lvl="1">
              <a:lnSpc>
                <a:spcPct val="130000"/>
              </a:lnSpc>
              <a:defRPr/>
            </a:pPr>
            <a:r>
              <a:rPr lang="ko-KR" altLang="en-US" sz="2000"/>
              <a:t>고려 사항을 포함하여 </a:t>
            </a:r>
            <a:r>
              <a:rPr lang="ko-KR" altLang="en-US" sz="2000" b="1"/>
              <a:t>결정된 계획을 실행</a:t>
            </a:r>
            <a:endParaRPr lang="ko-KR" altLang="en-US" sz="2000"/>
          </a:p>
          <a:p>
            <a:pPr marL="399840" lvl="0" indent="-399840">
              <a:lnSpc>
                <a:spcPct val="130000"/>
              </a:lnSpc>
              <a:buFont typeface="Wingdings"/>
              <a:buChar char="§"/>
              <a:defRPr/>
            </a:pPr>
            <a:r>
              <a:rPr lang="en-US" altLang="ko-KR" b="1">
                <a:solidFill>
                  <a:srgbClr val="ff0000"/>
                </a:solidFill>
              </a:rPr>
              <a:t>K</a:t>
            </a:r>
            <a:r>
              <a:rPr lang="en-US" altLang="ko-KR" b="1"/>
              <a:t>nowledge</a:t>
            </a:r>
            <a:endParaRPr lang="en-US" altLang="ko-KR" b="1"/>
          </a:p>
          <a:p>
            <a:pPr lvl="1">
              <a:lnSpc>
                <a:spcPct val="130000"/>
              </a:lnSpc>
              <a:defRPr/>
            </a:pPr>
            <a:r>
              <a:rPr lang="en-US" altLang="ko-KR" sz="2000"/>
              <a:t>시스템, 환경, 정책 및 </a:t>
            </a:r>
            <a:r>
              <a:rPr lang="en-US" altLang="ko-KR" sz="2000" b="1"/>
              <a:t>과거 조치 결과</a:t>
            </a:r>
            <a:r>
              <a:rPr lang="en-US" altLang="ko-KR" sz="2000"/>
              <a:t>에 대한 정보를 저장하여 다른 단계가 </a:t>
            </a:r>
            <a:r>
              <a:rPr lang="en-US" altLang="ko-KR" sz="2000" b="1" i="1"/>
              <a:t>정보에 기반한 결정</a:t>
            </a:r>
            <a:r>
              <a:rPr lang="ko-KR" altLang="en-US" sz="2000" b="1" i="1"/>
              <a:t> </a:t>
            </a:r>
            <a:r>
              <a:rPr lang="en-US" altLang="ko-KR" sz="2000"/>
              <a:t>을 내릴 수 있도록 </a:t>
            </a:r>
            <a:r>
              <a:rPr lang="ko-KR" altLang="en-US" sz="2000"/>
              <a:t>함</a:t>
            </a:r>
            <a:r>
              <a:rPr lang="en-US" altLang="ko-KR" sz="2000"/>
              <a:t> </a:t>
            </a:r>
            <a:endParaRPr lang="en-US" altLang="ko-KR" sz="2000"/>
          </a:p>
        </p:txBody>
      </p:sp>
      <p:grpSp>
        <p:nvGrpSpPr>
          <p:cNvPr id="20" name="Group 19"/>
          <p:cNvGrpSpPr/>
          <p:nvPr/>
        </p:nvGrpSpPr>
        <p:grpSpPr>
          <a:xfrm rot="0">
            <a:off x="8007598" y="516680"/>
            <a:ext cx="3908425" cy="1733550"/>
            <a:chOff x="4141787" y="1837532"/>
            <a:chExt cx="3908425" cy="1733550"/>
          </a:xfrm>
        </p:grpSpPr>
        <p:sp>
          <p:nvSpPr>
            <p:cNvPr id="7" name="AutoShape 10"/>
            <p:cNvSpPr>
              <a:spLocks noChangeArrowheads="1"/>
            </p:cNvSpPr>
            <p:nvPr/>
          </p:nvSpPr>
          <p:spPr>
            <a:xfrm>
              <a:off x="4200525" y="1943894"/>
              <a:ext cx="1727200" cy="1614488"/>
            </a:xfrm>
            <a:prstGeom prst="rtTriangle">
              <a:avLst/>
            </a:prstGeom>
            <a:gradFill rotWithShape="1">
              <a:gsLst>
                <a:gs pos="0">
                  <a:schemeClr val="accent1"/>
                </a:gs>
                <a:gs pos="100000">
                  <a:schemeClr val="accent1">
                    <a:gamma/>
                    <a:tint val="60390"/>
                    <a:invGamma/>
                  </a:schemeClr>
                </a:gs>
              </a:gsLst>
              <a:lin ang="5400000" scaled="1"/>
            </a:gradFill>
            <a:ln w="9525" algn="ctr">
              <a:solidFill>
                <a:schemeClr val="tx1"/>
              </a:solidFill>
              <a:miter/>
            </a:ln>
            <a:effectLst/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/>
                  <a:ea typeface="굴림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/>
                  <a:ea typeface="굴림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/>
                  <a:ea typeface="굴림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/>
                  <a:ea typeface="굴림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/>
                  <a:ea typeface="굴림"/>
                  <a:cs typeface="+mn-cs"/>
                </a:defRPr>
              </a:lvl5pPr>
              <a:lvl6pPr marL="2286000" algn="l" defTabSz="914400" rtl="0" eaLnBrk="1" latinLnBrk="1" hangingPunct="1">
                <a:defRPr kern="1200">
                  <a:solidFill>
                    <a:schemeClr val="tx1"/>
                  </a:solidFill>
                  <a:latin typeface="Times New Roman"/>
                  <a:ea typeface="굴림"/>
                  <a:cs typeface="+mn-cs"/>
                </a:defRPr>
              </a:lvl6pPr>
              <a:lvl7pPr marL="2743200" algn="l" defTabSz="914400" rtl="0" eaLnBrk="1" latinLnBrk="1" hangingPunct="1">
                <a:defRPr kern="1200">
                  <a:solidFill>
                    <a:schemeClr val="tx1"/>
                  </a:solidFill>
                  <a:latin typeface="Times New Roman"/>
                  <a:ea typeface="굴림"/>
                  <a:cs typeface="+mn-cs"/>
                </a:defRPr>
              </a:lvl7pPr>
              <a:lvl8pPr marL="3200400" algn="l" defTabSz="914400" rtl="0" eaLnBrk="1" latinLnBrk="1" hangingPunct="1">
                <a:defRPr kern="1200">
                  <a:solidFill>
                    <a:schemeClr val="tx1"/>
                  </a:solidFill>
                  <a:latin typeface="Times New Roman"/>
                  <a:ea typeface="굴림"/>
                  <a:cs typeface="+mn-cs"/>
                </a:defRPr>
              </a:lvl8pPr>
              <a:lvl9pPr marL="3657600" algn="l" defTabSz="914400" rtl="0" eaLnBrk="1" latinLnBrk="1" hangingPunct="1">
                <a:defRPr kern="1200">
                  <a:solidFill>
                    <a:schemeClr val="tx1"/>
                  </a:solidFill>
                  <a:latin typeface="Times New Roman"/>
                  <a:ea typeface="굴림"/>
                  <a:cs typeface="+mn-cs"/>
                </a:defRPr>
              </a:lvl9pPr>
            </a:lstStyle>
            <a:p>
              <a:pPr algn="ctr" eaLnBrk="1" hangingPunct="1">
                <a:defRPr/>
              </a:pPr>
              <a:endParaRPr lang="ko-KR" altLang="en-US">
                <a:ea typeface="굴림"/>
              </a:endParaRPr>
            </a:p>
          </p:txBody>
        </p:sp>
        <p:sp>
          <p:nvSpPr>
            <p:cNvPr id="8" name="AutoShape 11"/>
            <p:cNvSpPr>
              <a:spLocks noChangeArrowheads="1"/>
            </p:cNvSpPr>
            <p:nvPr/>
          </p:nvSpPr>
          <p:spPr>
            <a:xfrm rot="10800000">
              <a:off x="4216400" y="1870869"/>
              <a:ext cx="1727200" cy="1614488"/>
            </a:xfrm>
            <a:prstGeom prst="rtTriangle">
              <a:avLst/>
            </a:prstGeom>
            <a:gradFill rotWithShape="1">
              <a:gsLst>
                <a:gs pos="0">
                  <a:schemeClr val="accent1"/>
                </a:gs>
                <a:gs pos="100000">
                  <a:schemeClr val="accent1">
                    <a:gamma/>
                    <a:tint val="60390"/>
                    <a:invGamma/>
                  </a:schemeClr>
                </a:gs>
              </a:gsLst>
              <a:lin ang="5400000" scaled="1"/>
            </a:gradFill>
            <a:ln w="9525" algn="ctr">
              <a:solidFill>
                <a:schemeClr val="tx1"/>
              </a:solidFill>
              <a:miter/>
            </a:ln>
            <a:effectLst/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/>
                  <a:ea typeface="굴림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/>
                  <a:ea typeface="굴림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/>
                  <a:ea typeface="굴림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/>
                  <a:ea typeface="굴림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/>
                  <a:ea typeface="굴림"/>
                  <a:cs typeface="+mn-cs"/>
                </a:defRPr>
              </a:lvl5pPr>
              <a:lvl6pPr marL="2286000" algn="l" defTabSz="914400" rtl="0" eaLnBrk="1" latinLnBrk="1" hangingPunct="1">
                <a:defRPr kern="1200">
                  <a:solidFill>
                    <a:schemeClr val="tx1"/>
                  </a:solidFill>
                  <a:latin typeface="Times New Roman"/>
                  <a:ea typeface="굴림"/>
                  <a:cs typeface="+mn-cs"/>
                </a:defRPr>
              </a:lvl6pPr>
              <a:lvl7pPr marL="2743200" algn="l" defTabSz="914400" rtl="0" eaLnBrk="1" latinLnBrk="1" hangingPunct="1">
                <a:defRPr kern="1200">
                  <a:solidFill>
                    <a:schemeClr val="tx1"/>
                  </a:solidFill>
                  <a:latin typeface="Times New Roman"/>
                  <a:ea typeface="굴림"/>
                  <a:cs typeface="+mn-cs"/>
                </a:defRPr>
              </a:lvl7pPr>
              <a:lvl8pPr marL="3200400" algn="l" defTabSz="914400" rtl="0" eaLnBrk="1" latinLnBrk="1" hangingPunct="1">
                <a:defRPr kern="1200">
                  <a:solidFill>
                    <a:schemeClr val="tx1"/>
                  </a:solidFill>
                  <a:latin typeface="Times New Roman"/>
                  <a:ea typeface="굴림"/>
                  <a:cs typeface="+mn-cs"/>
                </a:defRPr>
              </a:lvl8pPr>
              <a:lvl9pPr marL="3657600" algn="l" defTabSz="914400" rtl="0" eaLnBrk="1" latinLnBrk="1" hangingPunct="1">
                <a:defRPr kern="1200">
                  <a:solidFill>
                    <a:schemeClr val="tx1"/>
                  </a:solidFill>
                  <a:latin typeface="Times New Roman"/>
                  <a:ea typeface="굴림"/>
                  <a:cs typeface="+mn-cs"/>
                </a:defRPr>
              </a:lvl9pPr>
            </a:lstStyle>
            <a:p>
              <a:pPr algn="ctr" eaLnBrk="1" hangingPunct="1">
                <a:defRPr/>
              </a:pPr>
              <a:endParaRPr lang="ko-KR" altLang="en-US">
                <a:ea typeface="굴림"/>
              </a:endParaRPr>
            </a:p>
          </p:txBody>
        </p:sp>
        <p:sp>
          <p:nvSpPr>
            <p:cNvPr id="9" name="AutoShape 12"/>
            <p:cNvSpPr>
              <a:spLocks noChangeArrowheads="1"/>
            </p:cNvSpPr>
            <p:nvPr/>
          </p:nvSpPr>
          <p:spPr>
            <a:xfrm rot="5400000">
              <a:off x="6076156" y="1900238"/>
              <a:ext cx="1727200" cy="1614488"/>
            </a:xfrm>
            <a:prstGeom prst="rtTriangle">
              <a:avLst/>
            </a:prstGeom>
            <a:gradFill rotWithShape="1">
              <a:gsLst>
                <a:gs pos="0">
                  <a:schemeClr val="accent1"/>
                </a:gs>
                <a:gs pos="100000">
                  <a:schemeClr val="accent1">
                    <a:gamma/>
                    <a:tint val="60390"/>
                    <a:invGamma/>
                  </a:schemeClr>
                </a:gs>
              </a:gsLst>
              <a:lin ang="5400000" scaled="1"/>
            </a:gradFill>
            <a:ln w="9525" algn="ctr">
              <a:solidFill>
                <a:schemeClr val="tx1"/>
              </a:solidFill>
              <a:miter/>
            </a:ln>
            <a:effectLst/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/>
                  <a:ea typeface="굴림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/>
                  <a:ea typeface="굴림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/>
                  <a:ea typeface="굴림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/>
                  <a:ea typeface="굴림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/>
                  <a:ea typeface="굴림"/>
                  <a:cs typeface="+mn-cs"/>
                </a:defRPr>
              </a:lvl5pPr>
              <a:lvl6pPr marL="2286000" algn="l" defTabSz="914400" rtl="0" eaLnBrk="1" latinLnBrk="1" hangingPunct="1">
                <a:defRPr kern="1200">
                  <a:solidFill>
                    <a:schemeClr val="tx1"/>
                  </a:solidFill>
                  <a:latin typeface="Times New Roman"/>
                  <a:ea typeface="굴림"/>
                  <a:cs typeface="+mn-cs"/>
                </a:defRPr>
              </a:lvl6pPr>
              <a:lvl7pPr marL="2743200" algn="l" defTabSz="914400" rtl="0" eaLnBrk="1" latinLnBrk="1" hangingPunct="1">
                <a:defRPr kern="1200">
                  <a:solidFill>
                    <a:schemeClr val="tx1"/>
                  </a:solidFill>
                  <a:latin typeface="Times New Roman"/>
                  <a:ea typeface="굴림"/>
                  <a:cs typeface="+mn-cs"/>
                </a:defRPr>
              </a:lvl7pPr>
              <a:lvl8pPr marL="3200400" algn="l" defTabSz="914400" rtl="0" eaLnBrk="1" latinLnBrk="1" hangingPunct="1">
                <a:defRPr kern="1200">
                  <a:solidFill>
                    <a:schemeClr val="tx1"/>
                  </a:solidFill>
                  <a:latin typeface="Times New Roman"/>
                  <a:ea typeface="굴림"/>
                  <a:cs typeface="+mn-cs"/>
                </a:defRPr>
              </a:lvl8pPr>
              <a:lvl9pPr marL="3657600" algn="l" defTabSz="914400" rtl="0" eaLnBrk="1" latinLnBrk="1" hangingPunct="1">
                <a:defRPr kern="1200">
                  <a:solidFill>
                    <a:schemeClr val="tx1"/>
                  </a:solidFill>
                  <a:latin typeface="Times New Roman"/>
                  <a:ea typeface="굴림"/>
                  <a:cs typeface="+mn-cs"/>
                </a:defRPr>
              </a:lvl9pPr>
            </a:lstStyle>
            <a:p>
              <a:pPr algn="ctr" eaLnBrk="1" hangingPunct="1">
                <a:defRPr/>
              </a:pPr>
              <a:endParaRPr lang="ko-KR" altLang="en-US">
                <a:ea typeface="굴림"/>
              </a:endParaRPr>
            </a:p>
          </p:txBody>
        </p:sp>
        <p:sp>
          <p:nvSpPr>
            <p:cNvPr id="10" name="AutoShape 13"/>
            <p:cNvSpPr>
              <a:spLocks noChangeArrowheads="1"/>
            </p:cNvSpPr>
            <p:nvPr/>
          </p:nvSpPr>
          <p:spPr>
            <a:xfrm rot="16200000">
              <a:off x="6169819" y="1893888"/>
              <a:ext cx="1727200" cy="1614487"/>
            </a:xfrm>
            <a:prstGeom prst="rtTriangle">
              <a:avLst/>
            </a:prstGeom>
            <a:gradFill rotWithShape="1">
              <a:gsLst>
                <a:gs pos="0">
                  <a:schemeClr val="accent1"/>
                </a:gs>
                <a:gs pos="100000">
                  <a:schemeClr val="accent1">
                    <a:gamma/>
                    <a:tint val="60390"/>
                    <a:invGamma/>
                  </a:schemeClr>
                </a:gs>
              </a:gsLst>
              <a:lin ang="5400000" scaled="1"/>
            </a:gradFill>
            <a:ln w="9525" algn="ctr">
              <a:solidFill>
                <a:schemeClr val="tx1"/>
              </a:solidFill>
              <a:miter/>
            </a:ln>
            <a:effectLst/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/>
                  <a:ea typeface="굴림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/>
                  <a:ea typeface="굴림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/>
                  <a:ea typeface="굴림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/>
                  <a:ea typeface="굴림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/>
                  <a:ea typeface="굴림"/>
                  <a:cs typeface="+mn-cs"/>
                </a:defRPr>
              </a:lvl5pPr>
              <a:lvl6pPr marL="2286000" algn="l" defTabSz="914400" rtl="0" eaLnBrk="1" latinLnBrk="1" hangingPunct="1">
                <a:defRPr kern="1200">
                  <a:solidFill>
                    <a:schemeClr val="tx1"/>
                  </a:solidFill>
                  <a:latin typeface="Times New Roman"/>
                  <a:ea typeface="굴림"/>
                  <a:cs typeface="+mn-cs"/>
                </a:defRPr>
              </a:lvl6pPr>
              <a:lvl7pPr marL="2743200" algn="l" defTabSz="914400" rtl="0" eaLnBrk="1" latinLnBrk="1" hangingPunct="1">
                <a:defRPr kern="1200">
                  <a:solidFill>
                    <a:schemeClr val="tx1"/>
                  </a:solidFill>
                  <a:latin typeface="Times New Roman"/>
                  <a:ea typeface="굴림"/>
                  <a:cs typeface="+mn-cs"/>
                </a:defRPr>
              </a:lvl7pPr>
              <a:lvl8pPr marL="3200400" algn="l" defTabSz="914400" rtl="0" eaLnBrk="1" latinLnBrk="1" hangingPunct="1">
                <a:defRPr kern="1200">
                  <a:solidFill>
                    <a:schemeClr val="tx1"/>
                  </a:solidFill>
                  <a:latin typeface="Times New Roman"/>
                  <a:ea typeface="굴림"/>
                  <a:cs typeface="+mn-cs"/>
                </a:defRPr>
              </a:lvl8pPr>
              <a:lvl9pPr marL="3657600" algn="l" defTabSz="914400" rtl="0" eaLnBrk="1" latinLnBrk="1" hangingPunct="1">
                <a:defRPr kern="1200">
                  <a:solidFill>
                    <a:schemeClr val="tx1"/>
                  </a:solidFill>
                  <a:latin typeface="Times New Roman"/>
                  <a:ea typeface="굴림"/>
                  <a:cs typeface="+mn-cs"/>
                </a:defRPr>
              </a:lvl9pPr>
            </a:lstStyle>
            <a:p>
              <a:pPr algn="ctr" eaLnBrk="1" hangingPunct="1">
                <a:defRPr/>
              </a:pPr>
              <a:endParaRPr lang="ko-KR" altLang="en-US">
                <a:ea typeface="굴림"/>
              </a:endParaRPr>
            </a:p>
          </p:txBody>
        </p:sp>
        <p:sp>
          <p:nvSpPr>
            <p:cNvPr id="11" name="AutoShape 14"/>
            <p:cNvSpPr>
              <a:spLocks noChangeArrowheads="1"/>
            </p:cNvSpPr>
            <p:nvPr/>
          </p:nvSpPr>
          <p:spPr>
            <a:xfrm rot="10800000">
              <a:off x="5019675" y="2931319"/>
              <a:ext cx="2098675" cy="633413"/>
            </a:xfrm>
            <a:custGeom>
              <a:avLst/>
              <a:gdLst>
                <a:gd name="T0" fmla="*/ 2147483646 w 21600"/>
                <a:gd name="T1" fmla="*/ 272346652 h 21600"/>
                <a:gd name="T2" fmla="*/ 2147483646 w 21600"/>
                <a:gd name="T3" fmla="*/ 544693304 h 21600"/>
                <a:gd name="T4" fmla="*/ 2147483646 w 21600"/>
                <a:gd name="T5" fmla="*/ 272346652 h 21600"/>
                <a:gd name="T6" fmla="*/ 2147483646 w 21600"/>
                <a:gd name="T7" fmla="*/ 0 h 2160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4500 w 21600"/>
                <a:gd name="T13" fmla="*/ 4500 h 21600"/>
                <a:gd name="T14" fmla="*/ 17100 w 21600"/>
                <a:gd name="T15" fmla="*/ 17100 h 21600"/>
              </a:gdLst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21600" h="21600">
                  <a:moveTo>
                    <a:pt x="0" y="0"/>
                  </a:moveTo>
                  <a:lnTo>
                    <a:pt x="5400" y="21600"/>
                  </a:lnTo>
                  <a:lnTo>
                    <a:pt x="16200" y="2160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gradFill rotWithShape="1">
              <a:gsLst>
                <a:gs pos="0">
                  <a:srgbClr val="cc0099"/>
                </a:gs>
                <a:gs pos="100000">
                  <a:srgbClr val="e375c8"/>
                </a:gs>
              </a:gsLst>
              <a:lin ang="5400000" scaled="1"/>
            </a:gradFill>
            <a:ln w="9525" algn="ctr">
              <a:solidFill>
                <a:schemeClr val="tx1"/>
              </a:solidFill>
              <a:miter/>
            </a:ln>
            <a:effectLst/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/>
                  <a:ea typeface="굴림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/>
                  <a:ea typeface="굴림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/>
                  <a:ea typeface="굴림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/>
                  <a:ea typeface="굴림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Times New Roman"/>
                  <a:ea typeface="굴림"/>
                  <a:cs typeface="+mn-cs"/>
                </a:defRPr>
              </a:lvl5pPr>
              <a:lvl6pPr marL="2286000" algn="l" defTabSz="914400" rtl="0" eaLnBrk="1" latinLnBrk="1" hangingPunct="1">
                <a:defRPr kern="1200">
                  <a:solidFill>
                    <a:schemeClr val="tx1"/>
                  </a:solidFill>
                  <a:latin typeface="Times New Roman"/>
                  <a:ea typeface="굴림"/>
                  <a:cs typeface="+mn-cs"/>
                </a:defRPr>
              </a:lvl6pPr>
              <a:lvl7pPr marL="2743200" algn="l" defTabSz="914400" rtl="0" eaLnBrk="1" latinLnBrk="1" hangingPunct="1">
                <a:defRPr kern="1200">
                  <a:solidFill>
                    <a:schemeClr val="tx1"/>
                  </a:solidFill>
                  <a:latin typeface="Times New Roman"/>
                  <a:ea typeface="굴림"/>
                  <a:cs typeface="+mn-cs"/>
                </a:defRPr>
              </a:lvl7pPr>
              <a:lvl8pPr marL="3200400" algn="l" defTabSz="914400" rtl="0" eaLnBrk="1" latinLnBrk="1" hangingPunct="1">
                <a:defRPr kern="1200">
                  <a:solidFill>
                    <a:schemeClr val="tx1"/>
                  </a:solidFill>
                  <a:latin typeface="Times New Roman"/>
                  <a:ea typeface="굴림"/>
                  <a:cs typeface="+mn-cs"/>
                </a:defRPr>
              </a:lvl8pPr>
              <a:lvl9pPr marL="3657600" algn="l" defTabSz="914400" rtl="0" eaLnBrk="1" latinLnBrk="1" hangingPunct="1">
                <a:defRPr kern="1200">
                  <a:solidFill>
                    <a:schemeClr val="tx1"/>
                  </a:solidFill>
                  <a:latin typeface="Times New Roman"/>
                  <a:ea typeface="굴림"/>
                  <a:cs typeface="+mn-cs"/>
                </a:defRPr>
              </a:lvl9pPr>
            </a:lstStyle>
            <a:p>
              <a:pPr lvl="0">
                <a:defRPr/>
              </a:pPr>
              <a:endParaRPr lang="ko-KR" altLang="en-US"/>
            </a:p>
          </p:txBody>
        </p:sp>
        <p:sp>
          <p:nvSpPr>
            <p:cNvPr id="14" name="Text Box 19"/>
            <p:cNvSpPr txBox="1">
              <a:spLocks noChangeArrowheads="1"/>
            </p:cNvSpPr>
            <p:nvPr/>
          </p:nvSpPr>
          <p:spPr>
            <a:xfrm>
              <a:off x="4718050" y="1977232"/>
              <a:ext cx="1144587" cy="396875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 b="1" kern="1200">
                  <a:solidFill>
                    <a:schemeClr val="tx2"/>
                  </a:solidFill>
                  <a:latin typeface="Arial"/>
                  <a:ea typeface="굴림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b="1" kern="1200">
                  <a:solidFill>
                    <a:schemeClr val="tx2"/>
                  </a:solidFill>
                  <a:latin typeface="Arial"/>
                  <a:ea typeface="굴림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b="1" kern="1200">
                  <a:solidFill>
                    <a:schemeClr val="tx1"/>
                  </a:solidFill>
                  <a:latin typeface="Arial"/>
                  <a:ea typeface="굴림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b="1" kern="1200">
                  <a:solidFill>
                    <a:schemeClr val="tx1"/>
                  </a:solidFill>
                  <a:latin typeface="Arial"/>
                  <a:ea typeface="굴림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/>
                  <a:ea typeface="굴림"/>
                  <a:cs typeface="+mn-cs"/>
                </a:defRPr>
              </a:lvl5pPr>
              <a:lvl6pPr marL="2514600" indent="-228600" algn="l" defTabSz="914400" rtl="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/>
                  <a:ea typeface="굴림"/>
                  <a:cs typeface="+mn-cs"/>
                </a:defRPr>
              </a:lvl6pPr>
              <a:lvl7pPr marL="2971800" indent="-228600" algn="l" defTabSz="914400" rtl="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/>
                  <a:ea typeface="굴림"/>
                  <a:cs typeface="+mn-cs"/>
                </a:defRPr>
              </a:lvl7pPr>
              <a:lvl8pPr marL="3429000" indent="-228600" algn="l" defTabSz="914400" rtl="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/>
                  <a:ea typeface="굴림"/>
                  <a:cs typeface="+mn-cs"/>
                </a:defRPr>
              </a:lvl8pPr>
              <a:lvl9pPr marL="3886200" indent="-228600" algn="l" defTabSz="914400" rtl="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/>
                  <a:ea typeface="굴림"/>
                  <a:cs typeface="+mn-cs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ko-KR">
                  <a:solidFill>
                    <a:schemeClr val="tx1"/>
                  </a:solidFill>
                </a:rPr>
                <a:t>Analyze</a:t>
              </a:r>
              <a:endParaRPr lang="en-US" altLang="ko-KR">
                <a:solidFill>
                  <a:schemeClr val="tx1"/>
                </a:solidFill>
              </a:endParaRPr>
            </a:p>
          </p:txBody>
        </p:sp>
        <p:sp>
          <p:nvSpPr>
            <p:cNvPr id="15" name="Text Box 20"/>
            <p:cNvSpPr txBox="1">
              <a:spLocks noChangeArrowheads="1"/>
            </p:cNvSpPr>
            <p:nvPr/>
          </p:nvSpPr>
          <p:spPr>
            <a:xfrm>
              <a:off x="4141787" y="2826544"/>
              <a:ext cx="1114425" cy="396875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 b="1" kern="1200">
                  <a:solidFill>
                    <a:schemeClr val="tx2"/>
                  </a:solidFill>
                  <a:latin typeface="Arial"/>
                  <a:ea typeface="굴림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b="1" kern="1200">
                  <a:solidFill>
                    <a:schemeClr val="tx2"/>
                  </a:solidFill>
                  <a:latin typeface="Arial"/>
                  <a:ea typeface="굴림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b="1" kern="1200">
                  <a:solidFill>
                    <a:schemeClr val="tx1"/>
                  </a:solidFill>
                  <a:latin typeface="Arial"/>
                  <a:ea typeface="굴림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b="1" kern="1200">
                  <a:solidFill>
                    <a:schemeClr val="tx1"/>
                  </a:solidFill>
                  <a:latin typeface="Arial"/>
                  <a:ea typeface="굴림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/>
                  <a:ea typeface="굴림"/>
                  <a:cs typeface="+mn-cs"/>
                </a:defRPr>
              </a:lvl5pPr>
              <a:lvl6pPr marL="2514600" indent="-228600" algn="l" defTabSz="914400" rtl="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/>
                  <a:ea typeface="굴림"/>
                  <a:cs typeface="+mn-cs"/>
                </a:defRPr>
              </a:lvl6pPr>
              <a:lvl7pPr marL="2971800" indent="-228600" algn="l" defTabSz="914400" rtl="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/>
                  <a:ea typeface="굴림"/>
                  <a:cs typeface="+mn-cs"/>
                </a:defRPr>
              </a:lvl7pPr>
              <a:lvl8pPr marL="3429000" indent="-228600" algn="l" defTabSz="914400" rtl="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/>
                  <a:ea typeface="굴림"/>
                  <a:cs typeface="+mn-cs"/>
                </a:defRPr>
              </a:lvl8pPr>
              <a:lvl9pPr marL="3886200" indent="-228600" algn="l" defTabSz="914400" rtl="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/>
                  <a:ea typeface="굴림"/>
                  <a:cs typeface="+mn-cs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ko-KR">
                  <a:solidFill>
                    <a:schemeClr val="tx1"/>
                  </a:solidFill>
                </a:rPr>
                <a:t>Monitor</a:t>
              </a:r>
              <a:endParaRPr lang="en-US" altLang="ko-KR">
                <a:solidFill>
                  <a:schemeClr val="tx1"/>
                </a:solidFill>
              </a:endParaRPr>
            </a:p>
          </p:txBody>
        </p:sp>
        <p:sp>
          <p:nvSpPr>
            <p:cNvPr id="16" name="Text Box 21"/>
            <p:cNvSpPr txBox="1">
              <a:spLocks noChangeArrowheads="1"/>
            </p:cNvSpPr>
            <p:nvPr/>
          </p:nvSpPr>
          <p:spPr>
            <a:xfrm>
              <a:off x="6386512" y="2005807"/>
              <a:ext cx="720725" cy="396875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 b="1" kern="1200">
                  <a:solidFill>
                    <a:schemeClr val="tx2"/>
                  </a:solidFill>
                  <a:latin typeface="Arial"/>
                  <a:ea typeface="굴림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b="1" kern="1200">
                  <a:solidFill>
                    <a:schemeClr val="tx2"/>
                  </a:solidFill>
                  <a:latin typeface="Arial"/>
                  <a:ea typeface="굴림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b="1" kern="1200">
                  <a:solidFill>
                    <a:schemeClr val="tx1"/>
                  </a:solidFill>
                  <a:latin typeface="Arial"/>
                  <a:ea typeface="굴림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b="1" kern="1200">
                  <a:solidFill>
                    <a:schemeClr val="tx1"/>
                  </a:solidFill>
                  <a:latin typeface="Arial"/>
                  <a:ea typeface="굴림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/>
                  <a:ea typeface="굴림"/>
                  <a:cs typeface="+mn-cs"/>
                </a:defRPr>
              </a:lvl5pPr>
              <a:lvl6pPr marL="2514600" indent="-228600" algn="l" defTabSz="914400" rtl="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/>
                  <a:ea typeface="굴림"/>
                  <a:cs typeface="+mn-cs"/>
                </a:defRPr>
              </a:lvl6pPr>
              <a:lvl7pPr marL="2971800" indent="-228600" algn="l" defTabSz="914400" rtl="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/>
                  <a:ea typeface="굴림"/>
                  <a:cs typeface="+mn-cs"/>
                </a:defRPr>
              </a:lvl7pPr>
              <a:lvl8pPr marL="3429000" indent="-228600" algn="l" defTabSz="914400" rtl="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/>
                  <a:ea typeface="굴림"/>
                  <a:cs typeface="+mn-cs"/>
                </a:defRPr>
              </a:lvl8pPr>
              <a:lvl9pPr marL="3886200" indent="-228600" algn="l" defTabSz="914400" rtl="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/>
                  <a:ea typeface="굴림"/>
                  <a:cs typeface="+mn-cs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ko-KR">
                  <a:solidFill>
                    <a:schemeClr val="tx1"/>
                  </a:solidFill>
                </a:rPr>
                <a:t>Plan</a:t>
              </a:r>
              <a:endParaRPr lang="en-US" altLang="ko-KR">
                <a:solidFill>
                  <a:schemeClr val="tx1"/>
                </a:solidFill>
              </a:endParaRPr>
            </a:p>
          </p:txBody>
        </p:sp>
        <p:sp>
          <p:nvSpPr>
            <p:cNvPr id="17" name="Text Box 22"/>
            <p:cNvSpPr txBox="1">
              <a:spLocks noChangeArrowheads="1"/>
            </p:cNvSpPr>
            <p:nvPr/>
          </p:nvSpPr>
          <p:spPr>
            <a:xfrm>
              <a:off x="6891337" y="2891632"/>
              <a:ext cx="1158875" cy="396875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 b="1" kern="1200">
                  <a:solidFill>
                    <a:schemeClr val="tx2"/>
                  </a:solidFill>
                  <a:latin typeface="Arial"/>
                  <a:ea typeface="굴림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b="1" kern="1200">
                  <a:solidFill>
                    <a:schemeClr val="tx2"/>
                  </a:solidFill>
                  <a:latin typeface="Arial"/>
                  <a:ea typeface="굴림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b="1" kern="1200">
                  <a:solidFill>
                    <a:schemeClr val="tx1"/>
                  </a:solidFill>
                  <a:latin typeface="Arial"/>
                  <a:ea typeface="굴림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b="1" kern="1200">
                  <a:solidFill>
                    <a:schemeClr val="tx1"/>
                  </a:solidFill>
                  <a:latin typeface="Arial"/>
                  <a:ea typeface="굴림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/>
                  <a:ea typeface="굴림"/>
                  <a:cs typeface="+mn-cs"/>
                </a:defRPr>
              </a:lvl5pPr>
              <a:lvl6pPr marL="2514600" indent="-228600" algn="l" defTabSz="914400" rtl="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/>
                  <a:ea typeface="굴림"/>
                  <a:cs typeface="+mn-cs"/>
                </a:defRPr>
              </a:lvl6pPr>
              <a:lvl7pPr marL="2971800" indent="-228600" algn="l" defTabSz="914400" rtl="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/>
                  <a:ea typeface="굴림"/>
                  <a:cs typeface="+mn-cs"/>
                </a:defRPr>
              </a:lvl7pPr>
              <a:lvl8pPr marL="3429000" indent="-228600" algn="l" defTabSz="914400" rtl="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/>
                  <a:ea typeface="굴림"/>
                  <a:cs typeface="+mn-cs"/>
                </a:defRPr>
              </a:lvl8pPr>
              <a:lvl9pPr marL="3886200" indent="-228600" algn="l" defTabSz="914400" rtl="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/>
                  <a:ea typeface="굴림"/>
                  <a:cs typeface="+mn-cs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ko-KR">
                  <a:solidFill>
                    <a:schemeClr val="tx1"/>
                  </a:solidFill>
                </a:rPr>
                <a:t>Execute</a:t>
              </a:r>
              <a:endParaRPr lang="en-US" altLang="ko-KR">
                <a:solidFill>
                  <a:schemeClr val="tx1"/>
                </a:solidFill>
              </a:endParaRPr>
            </a:p>
          </p:txBody>
        </p:sp>
        <p:sp>
          <p:nvSpPr>
            <p:cNvPr id="18" name="Text Box 23"/>
            <p:cNvSpPr txBox="1">
              <a:spLocks noChangeArrowheads="1"/>
            </p:cNvSpPr>
            <p:nvPr/>
          </p:nvSpPr>
          <p:spPr>
            <a:xfrm>
              <a:off x="5346700" y="3058319"/>
              <a:ext cx="1539875" cy="396875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 b="1" kern="1200">
                  <a:solidFill>
                    <a:schemeClr val="tx2"/>
                  </a:solidFill>
                  <a:latin typeface="Arial"/>
                  <a:ea typeface="굴림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b="1" kern="1200">
                  <a:solidFill>
                    <a:schemeClr val="tx2"/>
                  </a:solidFill>
                  <a:latin typeface="Arial"/>
                  <a:ea typeface="굴림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b="1" kern="1200">
                  <a:solidFill>
                    <a:schemeClr val="tx1"/>
                  </a:solidFill>
                  <a:latin typeface="Arial"/>
                  <a:ea typeface="굴림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b="1" kern="1200">
                  <a:solidFill>
                    <a:schemeClr val="tx1"/>
                  </a:solidFill>
                  <a:latin typeface="Arial"/>
                  <a:ea typeface="굴림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/>
                  <a:ea typeface="굴림"/>
                  <a:cs typeface="+mn-cs"/>
                </a:defRPr>
              </a:lvl5pPr>
              <a:lvl6pPr marL="2514600" indent="-228600" algn="l" defTabSz="914400" rtl="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/>
                  <a:ea typeface="굴림"/>
                  <a:cs typeface="+mn-cs"/>
                </a:defRPr>
              </a:lvl6pPr>
              <a:lvl7pPr marL="2971800" indent="-228600" algn="l" defTabSz="914400" rtl="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/>
                  <a:ea typeface="굴림"/>
                  <a:cs typeface="+mn-cs"/>
                </a:defRPr>
              </a:lvl7pPr>
              <a:lvl8pPr marL="3429000" indent="-228600" algn="l" defTabSz="914400" rtl="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/>
                  <a:ea typeface="굴림"/>
                  <a:cs typeface="+mn-cs"/>
                </a:defRPr>
              </a:lvl8pPr>
              <a:lvl9pPr marL="3886200" indent="-228600" algn="l" defTabSz="914400" rtl="0" eaLnBrk="0" fontAlgn="base" latinLnBrk="1" hangingPunct="0">
                <a:spcBef>
                  <a:spcPct val="20000"/>
                </a:spcBef>
                <a:spcAft>
                  <a:spcPct val="0"/>
                </a:spcAft>
                <a:buChar char="»"/>
                <a:defRPr b="1" kern="1200">
                  <a:solidFill>
                    <a:schemeClr val="tx1"/>
                  </a:solidFill>
                  <a:latin typeface="Arial"/>
                  <a:ea typeface="굴림"/>
                  <a:cs typeface="+mn-cs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ko-KR">
                  <a:solidFill>
                    <a:schemeClr val="bg1"/>
                  </a:solidFill>
                </a:rPr>
                <a:t>Knowledge</a:t>
              </a:r>
              <a:endParaRPr lang="en-US" altLang="ko-KR">
                <a:solidFill>
                  <a:schemeClr val="bg1"/>
                </a:solidFill>
              </a:endParaRPr>
            </a:p>
          </p:txBody>
        </p:sp>
      </p:grpSp>
      <p:sp>
        <p:nvSpPr>
          <p:cNvPr id="22" name="Title 1"/>
          <p:cNvSpPr>
            <a:spLocks noGrp="1"/>
          </p:cNvSpPr>
          <p:nvPr/>
        </p:nvSpPr>
        <p:spPr>
          <a:xfrm>
            <a:off x="449679" y="365125"/>
            <a:ext cx="7958890" cy="1003272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p>
            <a:pPr marL="0" lvl="0" indent="0">
              <a:lnSpc>
                <a:spcPct val="130000"/>
              </a:lnSpc>
              <a:buFont typeface="Wingdings"/>
              <a:buNone/>
              <a:defRPr/>
            </a:pPr>
            <a:r>
              <a:rPr lang="en-US" altLang="ko-KR" sz="3000" b="1"/>
              <a:t>System</a:t>
            </a:r>
            <a:r>
              <a:rPr lang="ko-KR" altLang="en-US" sz="3000" b="1"/>
              <a:t> </a:t>
            </a:r>
            <a:r>
              <a:rPr lang="en-US" altLang="ko-KR" sz="3000" b="1"/>
              <a:t>Design</a:t>
            </a:r>
            <a:endPara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180531510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567528"/>
            <a:ext cx="10515600" cy="4351338"/>
          </a:xfrm>
        </p:spPr>
        <p:txBody>
          <a:bodyPr>
            <a:normAutofit fontScale="92500"/>
          </a:bodyPr>
          <a:lstStyle/>
          <a:p>
            <a:pPr lvl="0">
              <a:lnSpc>
                <a:spcPct val="130000"/>
              </a:lnSpc>
              <a:defRPr/>
            </a:pPr>
            <a:r>
              <a:rPr lang="en-US" altLang="ko-KR" b="1"/>
              <a:t>Field</a:t>
            </a:r>
            <a:endParaRPr lang="en-US" altLang="ko-KR" b="1"/>
          </a:p>
          <a:p>
            <a:pPr lvl="1">
              <a:lnSpc>
                <a:spcPct val="130000"/>
              </a:lnSpc>
              <a:defRPr/>
            </a:pPr>
            <a:r>
              <a:rPr lang="ko-KR" altLang="en-US"/>
              <a:t>테이블에서 특정 종류의 </a:t>
            </a:r>
            <a:r>
              <a:rPr lang="ko-KR" altLang="en-US" b="1"/>
              <a:t>데이터</a:t>
            </a:r>
            <a:r>
              <a:rPr lang="ko-KR" altLang="en-US"/>
              <a:t>를 저장하는 단위</a:t>
            </a:r>
            <a:endParaRPr lang="ko-KR" altLang="en-US"/>
          </a:p>
          <a:p>
            <a:pPr lvl="0">
              <a:lnSpc>
                <a:spcPct val="130000"/>
              </a:lnSpc>
              <a:defRPr/>
            </a:pPr>
            <a:r>
              <a:rPr lang="en-US" altLang="ko-KR" b="1"/>
              <a:t>Record</a:t>
            </a:r>
            <a:endParaRPr lang="en-US" altLang="ko-KR" b="1"/>
          </a:p>
          <a:p>
            <a:pPr lvl="1">
              <a:lnSpc>
                <a:spcPct val="130000"/>
              </a:lnSpc>
              <a:defRPr/>
            </a:pPr>
            <a:r>
              <a:rPr lang="ko-KR" altLang="en-US"/>
              <a:t>연관된 필드의 집합</a:t>
            </a:r>
            <a:endParaRPr lang="en-US" altLang="ko-KR" b="1"/>
          </a:p>
          <a:p>
            <a:pPr lvl="0">
              <a:lnSpc>
                <a:spcPct val="130000"/>
              </a:lnSpc>
              <a:defRPr/>
            </a:pPr>
            <a:r>
              <a:rPr lang="en-US" altLang="ko-KR" b="1"/>
              <a:t>File</a:t>
            </a:r>
            <a:endParaRPr lang="en-US" altLang="ko-KR" b="1"/>
          </a:p>
          <a:p>
            <a:pPr lvl="1">
              <a:lnSpc>
                <a:spcPct val="130000"/>
              </a:lnSpc>
              <a:defRPr/>
            </a:pPr>
            <a:r>
              <a:rPr lang="ko-KR" altLang="en-US"/>
              <a:t>레코드들의 집합</a:t>
            </a:r>
            <a:endParaRPr lang="ko-KR" altLang="en-US" b="1"/>
          </a:p>
          <a:p>
            <a:pPr lvl="0">
              <a:lnSpc>
                <a:spcPct val="130000"/>
              </a:lnSpc>
              <a:defRPr/>
            </a:pPr>
            <a:r>
              <a:rPr lang="en-US" altLang="ko-KR" b="1"/>
              <a:t>Database</a:t>
            </a:r>
            <a:endParaRPr lang="en-US" altLang="ko-KR" b="1"/>
          </a:p>
          <a:p>
            <a:pPr lvl="1">
              <a:lnSpc>
                <a:spcPct val="130000"/>
              </a:lnSpc>
              <a:defRPr/>
            </a:pPr>
            <a:r>
              <a:rPr lang="ko-KR" altLang="en-US"/>
              <a:t>파일들의 집합</a:t>
            </a:r>
            <a:endParaRPr lang="ko-KR" altLang="en-US"/>
          </a:p>
        </p:txBody>
      </p:sp>
      <p:sp>
        <p:nvSpPr>
          <p:cNvPr id="5" name="Title 1"/>
          <p:cNvSpPr>
            <a:spLocks noGrp="1"/>
          </p:cNvSpPr>
          <p:nvPr/>
        </p:nvSpPr>
        <p:spPr>
          <a:xfrm>
            <a:off x="449679" y="365125"/>
            <a:ext cx="7958890" cy="1003272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p>
            <a:pPr marL="0" lvl="0" indent="0" algn="l" defTabSz="914400" rtl="0" eaLnBrk="1" latinLnBrk="1" hangingPunct="1">
              <a:lnSpc>
                <a:spcPct val="130000"/>
              </a:lnSpc>
              <a:spcBef>
                <a:spcPct val="0"/>
              </a:spcBef>
              <a:spcAft>
                <a:spcPts val="0"/>
              </a:spcAft>
              <a:buFont typeface="Wingdings"/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System</a:t>
            </a:r>
            <a:r>
              <a:rPr xmlns:mc="http://schemas.openxmlformats.org/markup-compatibility/2006" xmlns:hp="http://schemas.haansoft.com/office/presentation/8.0" kumimoji="0" lang="ko-KR" altLang="en-US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Design</a:t>
            </a:r>
            <a:endPara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graphicFrame>
        <p:nvGraphicFramePr>
          <p:cNvPr id="6" name=""/>
          <p:cNvGraphicFramePr>
            <a:graphicFrameLocks noGrp="1"/>
          </p:cNvGraphicFramePr>
          <p:nvPr/>
        </p:nvGraphicFramePr>
        <p:xfrm>
          <a:off x="4906399" y="344129"/>
          <a:ext cx="6029324" cy="1504458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1257361"/>
                <a:gridCol w="1146747"/>
                <a:gridCol w="1211580"/>
                <a:gridCol w="1211580"/>
                <a:gridCol w="1202055"/>
              </a:tblGrid>
              <a:tr h="391938">
                <a:tc>
                  <a:txBody>
                    <a:bodyPr vert="horz" wrap="square" lIns="91440" tIns="45720" rIns="91440" bIns="45720" anchor="ctr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tx1"/>
                          </a:solidFill>
                        </a:rPr>
                        <a:t>STUDENT</a:t>
                      </a:r>
                      <a:endParaRPr lang="en-US" altLang="ko-KR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lnL w="381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81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chemeClr val="dk1"/>
                      </a:solidFill>
                      <a:prstDash val="sysDash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tx1"/>
                          </a:solidFill>
                        </a:rPr>
                        <a:t>NAME</a:t>
                      </a:r>
                      <a:endParaRPr lang="en-US" altLang="ko-KR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81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chemeClr val="dk1"/>
                      </a:solidFill>
                      <a:prstDash val="sysDash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tx1"/>
                          </a:solidFill>
                        </a:rPr>
                        <a:t>AGE</a:t>
                      </a:r>
                      <a:endParaRPr lang="en-US" altLang="ko-KR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81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chemeClr val="dk1"/>
                      </a:solidFill>
                      <a:prstDash val="sysDash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tx1"/>
                          </a:solidFill>
                        </a:rPr>
                        <a:t>GRADE</a:t>
                      </a:r>
                      <a:endParaRPr lang="en-US" altLang="ko-KR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81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chemeClr val="dk1"/>
                      </a:solidFill>
                      <a:prstDash val="sysDash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tx1"/>
                          </a:solidFill>
                        </a:rPr>
                        <a:t>GENDER</a:t>
                      </a:r>
                      <a:endParaRPr lang="en-US" altLang="ko-KR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81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81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chemeClr val="dk1"/>
                      </a:solidFill>
                      <a:prstDash val="sysDash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50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altLang="ko-KR" sz="150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lnL w="381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chemeClr val="dk1"/>
                      </a:solidFill>
                      <a:prstDash val="sysDash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500">
                          <a:solidFill>
                            <a:schemeClr val="tx1"/>
                          </a:solidFill>
                        </a:rPr>
                        <a:t>KIM</a:t>
                      </a:r>
                      <a:endParaRPr lang="en-US" altLang="ko-KR" sz="150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chemeClr val="dk1"/>
                      </a:solidFill>
                      <a:prstDash val="sysDash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500">
                          <a:solidFill>
                            <a:schemeClr val="tx1"/>
                          </a:solidFill>
                        </a:rPr>
                        <a:t>21</a:t>
                      </a:r>
                      <a:endParaRPr lang="en-US" altLang="ko-KR" sz="150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chemeClr val="dk1"/>
                      </a:solidFill>
                      <a:prstDash val="sysDash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500">
                          <a:solidFill>
                            <a:schemeClr val="tx1"/>
                          </a:solidFill>
                        </a:rPr>
                        <a:t>B0</a:t>
                      </a:r>
                      <a:endParaRPr lang="en-US" altLang="ko-KR" sz="150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chemeClr val="dk1"/>
                      </a:solidFill>
                      <a:prstDash val="sysDash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500">
                          <a:solidFill>
                            <a:schemeClr val="tx1"/>
                          </a:solidFill>
                        </a:rPr>
                        <a:t>M</a:t>
                      </a:r>
                      <a:endParaRPr lang="en-US" altLang="ko-KR" sz="150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81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chemeClr val="dk1"/>
                      </a:solidFill>
                      <a:prstDash val="sysDash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50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altLang="ko-KR" sz="150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lnL w="381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500">
                          <a:solidFill>
                            <a:schemeClr val="tx1"/>
                          </a:solidFill>
                        </a:rPr>
                        <a:t>LEE</a:t>
                      </a:r>
                      <a:endParaRPr lang="en-US" altLang="ko-KR" sz="150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50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en-US" altLang="ko-KR" sz="150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500">
                          <a:solidFill>
                            <a:schemeClr val="tx1"/>
                          </a:solidFill>
                        </a:rPr>
                        <a:t>B+</a:t>
                      </a:r>
                      <a:endParaRPr lang="en-US" altLang="ko-KR" sz="150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500">
                          <a:solidFill>
                            <a:schemeClr val="tx1"/>
                          </a:solidFill>
                        </a:rPr>
                        <a:t>M</a:t>
                      </a:r>
                      <a:endParaRPr lang="en-US" altLang="ko-KR" sz="150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81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50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altLang="ko-KR" sz="150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lnL w="381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81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500">
                          <a:solidFill>
                            <a:schemeClr val="tx1"/>
                          </a:solidFill>
                        </a:rPr>
                        <a:t>PARK</a:t>
                      </a:r>
                      <a:endParaRPr lang="en-US" altLang="ko-KR" sz="150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81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500">
                          <a:solidFill>
                            <a:schemeClr val="tx1"/>
                          </a:solidFill>
                        </a:rPr>
                        <a:t>22</a:t>
                      </a:r>
                      <a:endParaRPr lang="en-US" altLang="ko-KR" sz="150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81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500">
                          <a:solidFill>
                            <a:schemeClr val="tx1"/>
                          </a:solidFill>
                        </a:rPr>
                        <a:t>A0</a:t>
                      </a:r>
                      <a:endParaRPr lang="en-US" altLang="ko-KR" sz="150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81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500">
                          <a:solidFill>
                            <a:schemeClr val="tx1"/>
                          </a:solidFill>
                        </a:rPr>
                        <a:t>F</a:t>
                      </a:r>
                      <a:endParaRPr lang="en-US" altLang="ko-KR" sz="150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81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8100" cap="flat" cmpd="sng" algn="ctr">
                      <a:solidFill>
                        <a:schemeClr val="dk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/>
          <p:nvPr/>
        </p:nvSpPr>
        <p:spPr>
          <a:xfrm>
            <a:off x="4996016" y="404720"/>
            <a:ext cx="1099983" cy="1394951"/>
          </a:xfrm>
          <a:prstGeom prst="roundRect">
            <a:avLst>
              <a:gd name="adj" fmla="val 16667"/>
            </a:avLst>
          </a:prstGeom>
          <a:solidFill>
            <a:srgbClr val="42c7f1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8" name=""/>
          <p:cNvSpPr/>
          <p:nvPr/>
        </p:nvSpPr>
        <p:spPr>
          <a:xfrm>
            <a:off x="5008153" y="776349"/>
            <a:ext cx="5830221" cy="303417"/>
          </a:xfrm>
          <a:prstGeom prst="roundRect">
            <a:avLst>
              <a:gd name="adj" fmla="val 16667"/>
            </a:avLst>
          </a:prstGeom>
          <a:solidFill>
            <a:srgbClr val="ff0000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pic>
        <p:nvPicPr>
          <p:cNvPr id="9" name=""/>
          <p:cNvPicPr/>
          <p:nvPr/>
        </p:nvPicPr>
        <p:blipFill rotWithShape="1">
          <a:blip r:embed="rId2"/>
          <a:stretch>
            <a:fillRect/>
          </a:stretch>
        </p:blipFill>
        <p:spPr>
          <a:xfrm>
            <a:off x="5683660" y="4819343"/>
            <a:ext cx="2397379" cy="1282446"/>
          </a:xfrm>
          <a:prstGeom prst="rect">
            <a:avLst/>
          </a:prstGeom>
          <a:noFill/>
          <a:ln>
            <a:noFill/>
          </a:ln>
          <a:effectLst/>
        </p:spPr>
      </p:pic>
      <p:pic>
        <p:nvPicPr>
          <p:cNvPr id="10" name=""/>
          <p:cNvPicPr/>
          <p:nvPr/>
        </p:nvPicPr>
        <p:blipFill rotWithShape="1">
          <a:blip r:embed="rId3"/>
          <a:stretch>
            <a:fillRect/>
          </a:stretch>
        </p:blipFill>
        <p:spPr>
          <a:xfrm>
            <a:off x="5687038" y="3231924"/>
            <a:ext cx="2335276" cy="1280160"/>
          </a:xfrm>
          <a:prstGeom prst="rect">
            <a:avLst/>
          </a:prstGeom>
          <a:noFill/>
          <a:ln>
            <a:noFill/>
          </a:ln>
          <a:effectLst/>
        </p:spPr>
      </p:pic>
      <p:pic>
        <p:nvPicPr>
          <p:cNvPr id="11" name=""/>
          <p:cNvPicPr/>
          <p:nvPr/>
        </p:nvPicPr>
        <p:blipFill rotWithShape="1">
          <a:blip r:embed="rId4"/>
          <a:stretch>
            <a:fillRect/>
          </a:stretch>
        </p:blipFill>
        <p:spPr>
          <a:xfrm>
            <a:off x="8821072" y="2463287"/>
            <a:ext cx="2409571" cy="3620008"/>
          </a:xfrm>
          <a:prstGeom prst="rect">
            <a:avLst/>
          </a:prstGeom>
          <a:noFill/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266287409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30000"/>
              </a:lnSpc>
              <a:defRPr/>
            </a:pPr>
            <a:r>
              <a:rPr lang="en-US" altLang="ko-KR" b="1"/>
              <a:t>CASE</a:t>
            </a:r>
            <a:r>
              <a:rPr lang="en-US" altLang="ko-KR"/>
              <a:t>(</a:t>
            </a:r>
            <a:r>
              <a:rPr lang="en-US" altLang="ko-KR" b="1"/>
              <a:t>C</a:t>
            </a:r>
            <a:r>
              <a:rPr lang="en-US" altLang="ko-KR"/>
              <a:t>omputer-</a:t>
            </a:r>
            <a:r>
              <a:rPr lang="en-US" altLang="ko-KR" b="1"/>
              <a:t>A</a:t>
            </a:r>
            <a:r>
              <a:rPr lang="en-US" altLang="ko-KR"/>
              <a:t>ided </a:t>
            </a:r>
            <a:r>
              <a:rPr lang="en-US" altLang="ko-KR" b="1"/>
              <a:t>S</a:t>
            </a:r>
            <a:r>
              <a:rPr lang="en-US" altLang="ko-KR"/>
              <a:t>oftware </a:t>
            </a:r>
            <a:r>
              <a:rPr lang="en-US" altLang="ko-KR" b="1"/>
              <a:t>E</a:t>
            </a:r>
            <a:r>
              <a:rPr lang="en-US" altLang="ko-KR"/>
              <a:t>ngineering)</a:t>
            </a:r>
            <a:r>
              <a:rPr lang="ko-KR" altLang="en-US"/>
              <a:t> </a:t>
            </a:r>
            <a:r>
              <a:rPr lang="ko-KR" altLang="en-US" b="1"/>
              <a:t>도구</a:t>
            </a:r>
            <a:endParaRPr lang="ko-KR" altLang="en-US"/>
          </a:p>
          <a:p>
            <a:pPr lvl="1">
              <a:lnSpc>
                <a:spcPct val="130000"/>
              </a:lnSpc>
              <a:defRPr/>
            </a:pPr>
            <a:r>
              <a:rPr lang="ko-KR" altLang="en-US"/>
              <a:t>소프트웨어 개발과정의 일부나 전체에 사용되는 </a:t>
            </a:r>
            <a:r>
              <a:rPr lang="ko-KR" altLang="en-US" b="1"/>
              <a:t>분석 자동화 도구</a:t>
            </a:r>
            <a:endParaRPr lang="ko-KR" altLang="en-US"/>
          </a:p>
          <a:p>
            <a:pPr>
              <a:lnSpc>
                <a:spcPct val="130000"/>
              </a:lnSpc>
              <a:defRPr/>
            </a:pPr>
            <a:endParaRPr lang="ko-KR" altLang="en-US"/>
          </a:p>
          <a:p>
            <a:pPr>
              <a:lnSpc>
                <a:spcPct val="130000"/>
              </a:lnSpc>
              <a:defRPr/>
            </a:pPr>
            <a:r>
              <a:rPr lang="en-US" altLang="ko-KR" b="1"/>
              <a:t>Upper-Case</a:t>
            </a:r>
            <a:endParaRPr lang="en-US" altLang="ko-KR"/>
          </a:p>
          <a:p>
            <a:pPr lvl="1">
              <a:lnSpc>
                <a:spcPct val="130000"/>
              </a:lnSpc>
              <a:defRPr/>
            </a:pPr>
            <a:r>
              <a:rPr lang="ko-KR" altLang="en-US"/>
              <a:t>요구분석</a:t>
            </a:r>
            <a:r>
              <a:rPr lang="en-US" altLang="ko-KR"/>
              <a:t>, </a:t>
            </a:r>
            <a:r>
              <a:rPr lang="ko-KR" altLang="en-US"/>
              <a:t>설계지원</a:t>
            </a:r>
            <a:endParaRPr lang="ko-KR" altLang="en-US"/>
          </a:p>
          <a:p>
            <a:pPr>
              <a:lnSpc>
                <a:spcPct val="130000"/>
              </a:lnSpc>
              <a:defRPr/>
            </a:pPr>
            <a:r>
              <a:rPr lang="en-US" altLang="ko-KR" b="1"/>
              <a:t>Lower-Case</a:t>
            </a:r>
            <a:endParaRPr lang="en-US" altLang="ko-KR"/>
          </a:p>
          <a:p>
            <a:pPr lvl="1">
              <a:lnSpc>
                <a:spcPct val="130000"/>
              </a:lnSpc>
              <a:defRPr/>
            </a:pPr>
            <a:r>
              <a:rPr lang="ko-KR" altLang="en-US"/>
              <a:t>프로그래밍</a:t>
            </a:r>
            <a:r>
              <a:rPr lang="en-US" altLang="ko-KR"/>
              <a:t>, </a:t>
            </a:r>
            <a:r>
              <a:rPr lang="ko-KR" altLang="en-US"/>
              <a:t>디버깅</a:t>
            </a:r>
            <a:r>
              <a:rPr lang="en-US" altLang="ko-KR"/>
              <a:t>, </a:t>
            </a:r>
            <a:r>
              <a:rPr lang="ko-KR" altLang="en-US"/>
              <a:t>테스트</a:t>
            </a:r>
            <a:endParaRPr lang="ko-KR" altLang="en-US"/>
          </a:p>
        </p:txBody>
      </p:sp>
      <p:sp>
        <p:nvSpPr>
          <p:cNvPr id="5" name="Title 1"/>
          <p:cNvSpPr>
            <a:spLocks noGrp="1"/>
          </p:cNvSpPr>
          <p:nvPr/>
        </p:nvSpPr>
        <p:spPr>
          <a:xfrm>
            <a:off x="449679" y="365125"/>
            <a:ext cx="7958890" cy="1003272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p>
            <a:pPr marL="0" lvl="0" indent="0" algn="l" defTabSz="914400" rtl="0" eaLnBrk="1" latinLnBrk="1" hangingPunct="1">
              <a:lnSpc>
                <a:spcPct val="130000"/>
              </a:lnSpc>
              <a:spcBef>
                <a:spcPct val="0"/>
              </a:spcBef>
              <a:spcAft>
                <a:spcPts val="0"/>
              </a:spcAft>
              <a:buFont typeface="Wingdings"/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System</a:t>
            </a:r>
            <a:r>
              <a:rPr xmlns:mc="http://schemas.openxmlformats.org/markup-compatibility/2006" xmlns:hp="http://schemas.haansoft.com/office/presentation/8.0" kumimoji="0" lang="ko-KR" altLang="en-US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Design</a:t>
            </a:r>
            <a:endPara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128996788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701800"/>
            <a:ext cx="10515600" cy="4351338"/>
          </a:xfrm>
        </p:spPr>
        <p:txBody>
          <a:bodyPr/>
          <a:lstStyle/>
          <a:p>
            <a:pPr marL="0" lvl="0" indent="0">
              <a:buNone/>
              <a:defRPr/>
            </a:pPr>
            <a:r>
              <a:rPr lang="ko-KR" altLang="en-US" b="1"/>
              <a:t>입출금내역 기반 자율 예산 관리 시스템</a:t>
            </a:r>
            <a:endParaRPr lang="ko-KR" altLang="en-US"/>
          </a:p>
          <a:p>
            <a:pPr marL="0" lvl="0" indent="0">
              <a:buNone/>
              <a:defRPr/>
            </a:pPr>
            <a:endParaRPr lang="ko-KR" altLang="en-US"/>
          </a:p>
          <a:p>
            <a:pPr marL="0" lvl="0" indent="0">
              <a:buNone/>
              <a:defRPr/>
            </a:pPr>
            <a:r>
              <a:rPr lang="en-US" altLang="ko-KR" b="1"/>
              <a:t>1.</a:t>
            </a:r>
            <a:r>
              <a:rPr lang="ko-KR" altLang="en-US" b="1"/>
              <a:t> 시나리오 작성</a:t>
            </a:r>
            <a:endParaRPr lang="ko-KR" altLang="en-US" b="1"/>
          </a:p>
          <a:p>
            <a:pPr marL="0" lvl="0" indent="0">
              <a:buNone/>
              <a:defRPr/>
            </a:pPr>
            <a:endParaRPr lang="ko-KR" altLang="en-US" b="1"/>
          </a:p>
          <a:p>
            <a:pPr marL="0" lvl="0" indent="0">
              <a:buNone/>
              <a:defRPr/>
            </a:pPr>
            <a:endParaRPr lang="ko-KR" altLang="en-US" b="1"/>
          </a:p>
          <a:p>
            <a:pPr marL="0" lvl="0" indent="0">
              <a:buNone/>
              <a:defRPr/>
            </a:pPr>
            <a:r>
              <a:rPr lang="en-US" altLang="ko-KR" b="1"/>
              <a:t>2.</a:t>
            </a:r>
            <a:r>
              <a:rPr lang="ko-KR" altLang="en-US" b="1"/>
              <a:t> 시나리오 세부 설계</a:t>
            </a:r>
            <a:endParaRPr lang="ko-KR" altLang="en-US" b="1"/>
          </a:p>
          <a:p>
            <a:pPr marL="0" lvl="0" indent="0">
              <a:buNone/>
              <a:defRPr/>
            </a:pPr>
            <a:endParaRPr lang="ko-KR" altLang="en-US"/>
          </a:p>
          <a:p>
            <a:pPr marL="0" indent="0">
              <a:buNone/>
              <a:defRPr/>
            </a:pPr>
            <a:endParaRPr lang="en-US" altLang="ko-KR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239665" y="2581156"/>
            <a:ext cx="5667625" cy="1143806"/>
          </a:xfrm>
          <a:prstGeom prst="rect">
            <a:avLst/>
          </a:prstGeom>
        </p:spPr>
      </p:pic>
      <p:sp>
        <p:nvSpPr>
          <p:cNvPr id="7" name="Title 1"/>
          <p:cNvSpPr>
            <a:spLocks noGrp="1"/>
          </p:cNvSpPr>
          <p:nvPr/>
        </p:nvSpPr>
        <p:spPr>
          <a:xfrm>
            <a:off x="449679" y="365125"/>
            <a:ext cx="7958890" cy="1003272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p>
            <a:pPr marL="0" lvl="0" indent="0" algn="l" defTabSz="914400" rtl="0" eaLnBrk="1" latinLnBrk="1" hangingPunct="1">
              <a:lnSpc>
                <a:spcPct val="130000"/>
              </a:lnSpc>
              <a:spcBef>
                <a:spcPct val="0"/>
              </a:spcBef>
              <a:spcAft>
                <a:spcPts val="0"/>
              </a:spcAft>
              <a:buFont typeface="Wingdings"/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System</a:t>
            </a:r>
            <a:r>
              <a:rPr xmlns:mc="http://schemas.openxmlformats.org/markup-compatibility/2006" xmlns:hp="http://schemas.haansoft.com/office/presentation/8.0" kumimoji="0" lang="ko-KR" altLang="en-US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Design</a:t>
            </a:r>
            <a:r>
              <a:rPr xmlns:mc="http://schemas.openxmlformats.org/markup-compatibility/2006" xmlns:hp="http://schemas.haansoft.com/office/presentation/8.0" kumimoji="0" lang="ko-KR" altLang="en-US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</a:t>
            </a:r>
            <a:r>
              <a:rPr xmlns:mc="http://schemas.openxmlformats.org/markup-compatibility/2006" xmlns:hp="http://schemas.haansoft.com/office/presentation/8.0" kumimoji="0" lang="ko-KR" altLang="en-US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과제 </a:t>
            </a:r>
            <a:r>
              <a: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pic>
        <p:nvPicPr>
          <p:cNvPr id="8" name=""/>
          <p:cNvPicPr>
            <a:picLocks noChangeAspect="1"/>
          </p:cNvPicPr>
          <p:nvPr/>
        </p:nvPicPr>
        <p:blipFill rotWithShape="1">
          <a:blip r:embed="rId3"/>
          <a:srcRect t="7790"/>
          <a:stretch>
            <a:fillRect/>
          </a:stretch>
        </p:blipFill>
        <p:spPr>
          <a:xfrm>
            <a:off x="5098517" y="3886508"/>
            <a:ext cx="5831286" cy="2838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960691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pPr>
              <a:lnSpc>
                <a:spcPct val="130000"/>
              </a:lnSpc>
              <a:defRPr/>
            </a:pPr>
            <a:r>
              <a:rPr lang="en-US" altLang="ko-KR" b="1"/>
              <a:t>Sequence Diagram</a:t>
            </a:r>
            <a:endParaRPr lang="en-US" altLang="ko-KR"/>
          </a:p>
          <a:p>
            <a:pPr lvl="1">
              <a:lnSpc>
                <a:spcPct val="130000"/>
              </a:lnSpc>
              <a:defRPr/>
            </a:pPr>
            <a:r>
              <a:rPr lang="ko-KR" altLang="en-US" b="1"/>
              <a:t>객체들 사이</a:t>
            </a:r>
            <a:r>
              <a:rPr lang="ko-KR" altLang="en-US"/>
              <a:t>에서 </a:t>
            </a:r>
            <a:r>
              <a:rPr lang="ko-KR" altLang="en-US" b="1"/>
              <a:t>시간에 따라</a:t>
            </a:r>
            <a:r>
              <a:rPr lang="ko-KR" altLang="en-US"/>
              <a:t> 발생하는 </a:t>
            </a:r>
            <a:r>
              <a:rPr lang="ko-KR" altLang="en-US" b="1"/>
              <a:t>상호작용</a:t>
            </a:r>
            <a:r>
              <a:rPr lang="ko-KR" altLang="en-US"/>
              <a:t>을 보여주는 다이어그램</a:t>
            </a:r>
            <a:endParaRPr lang="ko-KR" altLang="en-US"/>
          </a:p>
          <a:p>
            <a:pPr lvl="1">
              <a:lnSpc>
                <a:spcPct val="130000"/>
              </a:lnSpc>
              <a:defRPr/>
            </a:pPr>
            <a:endParaRPr lang="ko-KR" altLang="en-US"/>
          </a:p>
          <a:p>
            <a:pPr>
              <a:lnSpc>
                <a:spcPct val="130000"/>
              </a:lnSpc>
              <a:defRPr/>
            </a:pPr>
            <a:r>
              <a:rPr lang="en-US" altLang="ko-KR" b="1"/>
              <a:t>Time, Object, Message</a:t>
            </a:r>
            <a:r>
              <a:rPr lang="ko-KR" altLang="en-US"/>
              <a:t>로 구성</a:t>
            </a:r>
            <a:endParaRPr lang="ko-KR" altLang="en-US"/>
          </a:p>
        </p:txBody>
      </p:sp>
      <p:sp>
        <p:nvSpPr>
          <p:cNvPr id="5" name="Title 1"/>
          <p:cNvSpPr>
            <a:spLocks noGrp="1"/>
          </p:cNvSpPr>
          <p:nvPr/>
        </p:nvSpPr>
        <p:spPr>
          <a:xfrm>
            <a:off x="449679" y="365125"/>
            <a:ext cx="7958890" cy="1003272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p>
            <a:pPr marL="0" lvl="0" indent="0">
              <a:lnSpc>
                <a:spcPct val="130000"/>
              </a:lnSpc>
              <a:buFont typeface="Wingdings"/>
              <a:buNone/>
              <a:defRPr/>
            </a:pPr>
            <a:r>
              <a:rPr lang="en-US" altLang="ko-KR" sz="3000" b="1"/>
              <a:t>System Status Analysis</a:t>
            </a:r>
            <a:endPara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pic>
        <p:nvPicPr>
          <p:cNvPr id="6" name="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342758" y="3429000"/>
            <a:ext cx="3123158" cy="308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709195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p>
            <a:pPr>
              <a:lnSpc>
                <a:spcPct val="130000"/>
              </a:lnSpc>
              <a:defRPr/>
            </a:pPr>
            <a:r>
              <a:rPr lang="en-US" altLang="ko-KR" b="1">
                <a:solidFill>
                  <a:schemeClr val="tx1"/>
                </a:solidFill>
              </a:rPr>
              <a:t>State Diagram</a:t>
            </a:r>
            <a:endParaRPr lang="en-US" altLang="ko-KR"/>
          </a:p>
          <a:p>
            <a:pPr lvl="1">
              <a:lnSpc>
                <a:spcPct val="130000"/>
              </a:lnSpc>
              <a:defRPr/>
            </a:pPr>
            <a:r>
              <a:rPr lang="ko-KR" altLang="en-US"/>
              <a:t>하나의 </a:t>
            </a:r>
            <a:r>
              <a:rPr lang="ko-KR" altLang="en-US" b="1"/>
              <a:t>객체의 상태</a:t>
            </a:r>
            <a:r>
              <a:rPr lang="ko-KR" altLang="en-US"/>
              <a:t>를 나타내는 다이어그램</a:t>
            </a:r>
            <a:endParaRPr lang="ko-KR" altLang="en-US" b="1"/>
          </a:p>
          <a:p>
            <a:pPr>
              <a:lnSpc>
                <a:spcPct val="130000"/>
              </a:lnSpc>
              <a:defRPr/>
            </a:pPr>
            <a:r>
              <a:rPr lang="ko-KR" altLang="en-US" b="1"/>
              <a:t>상태의 전이</a:t>
            </a:r>
            <a:r>
              <a:rPr lang="en-US" altLang="ko-KR"/>
              <a:t>,</a:t>
            </a:r>
            <a:r>
              <a:rPr lang="ko-KR" altLang="en-US"/>
              <a:t> </a:t>
            </a:r>
            <a:r>
              <a:rPr lang="ko-KR" altLang="en-US" b="1"/>
              <a:t>시작점</a:t>
            </a:r>
            <a:r>
              <a:rPr lang="en-US" altLang="ko-KR"/>
              <a:t>,</a:t>
            </a:r>
            <a:r>
              <a:rPr lang="ko-KR" altLang="en-US"/>
              <a:t> </a:t>
            </a:r>
            <a:r>
              <a:rPr lang="ko-KR" altLang="en-US" b="1"/>
              <a:t>종료점</a:t>
            </a:r>
            <a:endParaRPr lang="ko-KR" altLang="en-US"/>
          </a:p>
          <a:p>
            <a:pPr>
              <a:lnSpc>
                <a:spcPct val="130000"/>
              </a:lnSpc>
              <a:defRPr/>
            </a:pPr>
            <a:r>
              <a:rPr lang="ko-KR" altLang="en-US"/>
              <a:t>상태아이콘</a:t>
            </a:r>
            <a:endParaRPr lang="ko-KR" altLang="en-US"/>
          </a:p>
          <a:p>
            <a:pPr lvl="1">
              <a:lnSpc>
                <a:spcPct val="130000"/>
              </a:lnSpc>
              <a:defRPr/>
            </a:pPr>
            <a:r>
              <a:rPr lang="ko-KR" altLang="en-US"/>
              <a:t>상태이름</a:t>
            </a:r>
            <a:endParaRPr lang="ko-KR" altLang="en-US"/>
          </a:p>
          <a:p>
            <a:pPr lvl="1">
              <a:lnSpc>
                <a:spcPct val="130000"/>
              </a:lnSpc>
              <a:defRPr/>
            </a:pPr>
            <a:r>
              <a:rPr lang="ko-KR" altLang="en-US" b="1"/>
              <a:t>상태변수</a:t>
            </a:r>
            <a:endParaRPr lang="ko-KR" altLang="en-US"/>
          </a:p>
          <a:p>
            <a:pPr lvl="1">
              <a:lnSpc>
                <a:spcPct val="130000"/>
              </a:lnSpc>
              <a:defRPr/>
            </a:pPr>
            <a:r>
              <a:rPr lang="ko-KR" altLang="en-US"/>
              <a:t>활동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ko-KR" altLang="en-US" b="1"/>
              <a:t>진입</a:t>
            </a:r>
            <a:r>
              <a:rPr lang="en-US" altLang="ko-KR" b="1"/>
              <a:t>,</a:t>
            </a:r>
            <a:r>
              <a:rPr lang="ko-KR" altLang="en-US" b="1"/>
              <a:t> 활동</a:t>
            </a:r>
            <a:r>
              <a:rPr lang="en-US" altLang="ko-KR" b="1"/>
              <a:t>,</a:t>
            </a:r>
            <a:r>
              <a:rPr lang="ko-KR" altLang="en-US" b="1"/>
              <a:t> 탈출</a:t>
            </a:r>
            <a:endParaRPr lang="ko-KR" altLang="en-US" b="1"/>
          </a:p>
        </p:txBody>
      </p:sp>
      <p:sp>
        <p:nvSpPr>
          <p:cNvPr id="4" name="Title 1"/>
          <p:cNvSpPr>
            <a:spLocks noGrp="1"/>
          </p:cNvSpPr>
          <p:nvPr/>
        </p:nvSpPr>
        <p:spPr>
          <a:xfrm>
            <a:off x="449679" y="365125"/>
            <a:ext cx="7958890" cy="1003272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p>
            <a:pPr marL="0" lvl="0" indent="0">
              <a:lnSpc>
                <a:spcPct val="130000"/>
              </a:lnSpc>
              <a:buFont typeface="Wingdings"/>
              <a:buNone/>
              <a:defRPr/>
            </a:pPr>
            <a:r>
              <a:rPr lang="en-US" altLang="ko-KR" sz="3000" b="1"/>
              <a:t>System Status Analysis</a:t>
            </a:r>
            <a:endPara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pic>
        <p:nvPicPr>
          <p:cNvPr id="5" name="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5837719" y="3741103"/>
            <a:ext cx="5844415" cy="2668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561019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 b="1"/>
              <a:t>인덱스 </a:t>
            </a:r>
            <a:r>
              <a:rPr lang="ko-KR" altLang="en-US"/>
              <a:t>색인</a:t>
            </a:r>
            <a:endParaRPr lang="ko-KR" altLang="en-US"/>
          </a:p>
        </p:txBody>
      </p:sp>
      <p:sp>
        <p:nvSpPr>
          <p:cNvPr id="5" name="Title 1"/>
          <p:cNvSpPr>
            <a:spLocks noGrp="1"/>
          </p:cNvSpPr>
          <p:nvPr/>
        </p:nvSpPr>
        <p:spPr>
          <a:xfrm>
            <a:off x="449679" y="365125"/>
            <a:ext cx="7958890" cy="1003272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p>
            <a:pPr marL="0" lvl="0" indent="0" algn="l" defTabSz="914400" rtl="0" eaLnBrk="1" latinLnBrk="1" hangingPunct="1">
              <a:lnSpc>
                <a:spcPct val="130000"/>
              </a:lnSpc>
              <a:spcBef>
                <a:spcPct val="0"/>
              </a:spcBef>
              <a:spcAft>
                <a:spcPts val="0"/>
              </a:spcAft>
              <a:buFont typeface="Wingdings"/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System Status Analysis</a:t>
            </a:r>
            <a:r>
              <a:rPr xmlns:mc="http://schemas.openxmlformats.org/markup-compatibility/2006" xmlns:hp="http://schemas.haansoft.com/office/presentation/8.0" kumimoji="0" lang="ko-KR" altLang="en-US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</a:t>
            </a:r>
            <a:r>
              <a:rPr xmlns:mc="http://schemas.openxmlformats.org/markup-compatibility/2006" xmlns:hp="http://schemas.haansoft.com/office/presentation/8.0" kumimoji="0" lang="ko-KR" altLang="en-US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과제 </a:t>
            </a:r>
            <a:r>
              <a: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3</a:t>
            </a:r>
            <a:endPara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pic>
        <p:nvPicPr>
          <p:cNvPr id="6" name="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3634236" y="1823583"/>
            <a:ext cx="4923527" cy="4715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659551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82750"/>
            <a:ext cx="10515600" cy="435133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en-US" altLang="ko-KR"/>
              <a:t>Sequence Diagram</a:t>
            </a:r>
            <a:r>
              <a:rPr lang="ko-KR" altLang="en-US"/>
              <a:t> 작성</a:t>
            </a:r>
            <a:endParaRPr lang="ko-KR" altLang="en-US"/>
          </a:p>
        </p:txBody>
      </p:sp>
      <p:sp>
        <p:nvSpPr>
          <p:cNvPr id="5" name="Title 1"/>
          <p:cNvSpPr>
            <a:spLocks noGrp="1"/>
          </p:cNvSpPr>
          <p:nvPr/>
        </p:nvSpPr>
        <p:spPr>
          <a:xfrm>
            <a:off x="449679" y="365125"/>
            <a:ext cx="7958890" cy="1003272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p>
            <a:pPr marL="0" lvl="0" indent="0" algn="l" defTabSz="914400" rtl="0" eaLnBrk="1" latinLnBrk="1" hangingPunct="1">
              <a:lnSpc>
                <a:spcPct val="130000"/>
              </a:lnSpc>
              <a:spcBef>
                <a:spcPct val="0"/>
              </a:spcBef>
              <a:spcAft>
                <a:spcPts val="0"/>
              </a:spcAft>
              <a:buFont typeface="Wingdings"/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System Status Analysis</a:t>
            </a:r>
            <a:r>
              <a:rPr xmlns:mc="http://schemas.openxmlformats.org/markup-compatibility/2006" xmlns:hp="http://schemas.haansoft.com/office/presentation/8.0" kumimoji="0" lang="ko-KR" altLang="en-US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</a:t>
            </a:r>
            <a:r>
              <a:rPr xmlns:mc="http://schemas.openxmlformats.org/markup-compatibility/2006" xmlns:hp="http://schemas.haansoft.com/office/presentation/8.0" kumimoji="0" lang="ko-KR" altLang="en-US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과제 </a:t>
            </a:r>
            <a:r>
              <a: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3</a:t>
            </a:r>
            <a:endPara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pic>
        <p:nvPicPr>
          <p:cNvPr id="6" name="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6718707" y="2120851"/>
            <a:ext cx="5108070" cy="4385385"/>
          </a:xfrm>
          <a:prstGeom prst="rect">
            <a:avLst/>
          </a:prstGeom>
        </p:spPr>
      </p:pic>
      <p:pic>
        <p:nvPicPr>
          <p:cNvPr id="7" name="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391967" y="2502121"/>
            <a:ext cx="6147067" cy="4021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547073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82750"/>
            <a:ext cx="10515600" cy="435133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en-US" altLang="ko-KR"/>
              <a:t>State Diagram</a:t>
            </a:r>
            <a:r>
              <a:rPr lang="ko-KR" altLang="en-US"/>
              <a:t> 작성</a:t>
            </a:r>
            <a:endParaRPr lang="ko-KR" altLang="en-US"/>
          </a:p>
        </p:txBody>
      </p:sp>
      <p:sp>
        <p:nvSpPr>
          <p:cNvPr id="5" name="Title 1"/>
          <p:cNvSpPr>
            <a:spLocks noGrp="1"/>
          </p:cNvSpPr>
          <p:nvPr/>
        </p:nvSpPr>
        <p:spPr>
          <a:xfrm>
            <a:off x="449679" y="365125"/>
            <a:ext cx="7958890" cy="1003272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p>
            <a:pPr marL="0" lvl="0" indent="0" algn="l" defTabSz="914400" rtl="0" eaLnBrk="1" latinLnBrk="1" hangingPunct="1">
              <a:lnSpc>
                <a:spcPct val="130000"/>
              </a:lnSpc>
              <a:spcBef>
                <a:spcPct val="0"/>
              </a:spcBef>
              <a:spcAft>
                <a:spcPts val="0"/>
              </a:spcAft>
              <a:buFont typeface="Wingdings"/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System Status Analysis</a:t>
            </a:r>
            <a:r>
              <a:rPr xmlns:mc="http://schemas.openxmlformats.org/markup-compatibility/2006" xmlns:hp="http://schemas.haansoft.com/office/presentation/8.0" kumimoji="0" lang="ko-KR" altLang="en-US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</a:t>
            </a:r>
            <a:r>
              <a:rPr xmlns:mc="http://schemas.openxmlformats.org/markup-compatibility/2006" xmlns:hp="http://schemas.haansoft.com/office/presentation/8.0" kumimoji="0" lang="ko-KR" altLang="en-US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과제 </a:t>
            </a:r>
            <a:r>
              <a: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3</a:t>
            </a:r>
            <a:endPara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pic>
        <p:nvPicPr>
          <p:cNvPr id="8" name="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587700" y="2858614"/>
            <a:ext cx="5508300" cy="3133223"/>
          </a:xfrm>
          <a:prstGeom prst="rect">
            <a:avLst/>
          </a:prstGeom>
        </p:spPr>
      </p:pic>
      <p:pic>
        <p:nvPicPr>
          <p:cNvPr id="11" name="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648359" y="2902612"/>
            <a:ext cx="4942121" cy="3235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55908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82750"/>
            <a:ext cx="10515600" cy="435133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ko-KR" altLang="en-US"/>
              <a:t>상태 분석</a:t>
            </a:r>
            <a:endParaRPr lang="ko-KR" altLang="en-US"/>
          </a:p>
          <a:p>
            <a:pPr marL="0" indent="0">
              <a:buNone/>
              <a:defRPr/>
            </a:pPr>
            <a:endParaRPr lang="ko-KR" altLang="en-US"/>
          </a:p>
          <a:p>
            <a:pPr marL="0" indent="0">
              <a:buNone/>
              <a:defRPr/>
            </a:pPr>
            <a:endParaRPr lang="ko-KR" altLang="en-US"/>
          </a:p>
          <a:p>
            <a:pPr marL="0" indent="0">
              <a:buNone/>
              <a:defRPr/>
            </a:pPr>
            <a:endParaRPr lang="ko-KR" altLang="en-US"/>
          </a:p>
          <a:p>
            <a:pPr marL="0" indent="0">
              <a:buNone/>
              <a:defRPr/>
            </a:pPr>
            <a:endParaRPr lang="ko-KR" altLang="en-US"/>
          </a:p>
          <a:p>
            <a:pPr marL="0" indent="0">
              <a:buNone/>
              <a:defRPr/>
            </a:pPr>
            <a:r>
              <a:rPr lang="ko-KR" altLang="en-US"/>
              <a:t>전략 생성</a:t>
            </a:r>
            <a:endParaRPr lang="ko-KR" altLang="en-US"/>
          </a:p>
        </p:txBody>
      </p:sp>
      <p:sp>
        <p:nvSpPr>
          <p:cNvPr id="5" name="Title 1"/>
          <p:cNvSpPr>
            <a:spLocks noGrp="1"/>
          </p:cNvSpPr>
          <p:nvPr/>
        </p:nvSpPr>
        <p:spPr>
          <a:xfrm>
            <a:off x="449679" y="365125"/>
            <a:ext cx="7958890" cy="1003272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p>
            <a:pPr marL="0" lvl="0" indent="0" algn="l" defTabSz="914400" rtl="0" eaLnBrk="1" latinLnBrk="1" hangingPunct="1">
              <a:lnSpc>
                <a:spcPct val="130000"/>
              </a:lnSpc>
              <a:spcBef>
                <a:spcPct val="0"/>
              </a:spcBef>
              <a:spcAft>
                <a:spcPts val="0"/>
              </a:spcAft>
              <a:buFont typeface="Wingdings"/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System Status Analysis</a:t>
            </a:r>
            <a:r>
              <a:rPr xmlns:mc="http://schemas.openxmlformats.org/markup-compatibility/2006" xmlns:hp="http://schemas.haansoft.com/office/presentation/8.0" kumimoji="0" lang="ko-KR" altLang="en-US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</a:t>
            </a:r>
            <a:r>
              <a:rPr xmlns:mc="http://schemas.openxmlformats.org/markup-compatibility/2006" xmlns:hp="http://schemas.haansoft.com/office/presentation/8.0" kumimoji="0" lang="ko-KR" altLang="en-US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과제 </a:t>
            </a:r>
            <a:r>
              <a: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3</a:t>
            </a:r>
            <a:endPara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pic>
        <p:nvPicPr>
          <p:cNvPr id="12" name="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3229702" y="1694300"/>
            <a:ext cx="5867787" cy="2677080"/>
          </a:xfrm>
          <a:prstGeom prst="rect">
            <a:avLst/>
          </a:prstGeom>
        </p:spPr>
      </p:pic>
      <p:pic>
        <p:nvPicPr>
          <p:cNvPr id="13" name="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3085399" y="4925010"/>
            <a:ext cx="6156397" cy="1518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66394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>
              <a:lnSpc>
                <a:spcPct val="130000"/>
              </a:lnSpc>
              <a:defRPr/>
            </a:pPr>
            <a:r>
              <a:rPr lang="en-US" altLang="ko-KR" b="1"/>
              <a:t>Critical System</a:t>
            </a:r>
            <a:endParaRPr lang="en-US" altLang="ko-KR"/>
          </a:p>
          <a:p>
            <a:pPr lvl="1">
              <a:lnSpc>
                <a:spcPct val="130000"/>
              </a:lnSpc>
              <a:defRPr/>
            </a:pPr>
            <a:r>
              <a:rPr lang="ko-KR" altLang="en-US"/>
              <a:t>시스템의 고장으로 인해</a:t>
            </a:r>
            <a:r>
              <a:rPr lang="en-US" altLang="ko-KR"/>
              <a:t> </a:t>
            </a:r>
            <a:r>
              <a:rPr lang="ko-KR" altLang="en-US" b="1"/>
              <a:t>심각한 결과를 초래</a:t>
            </a:r>
            <a:r>
              <a:rPr lang="ko-KR" altLang="en-US"/>
              <a:t>할 수 있는 시스템</a:t>
            </a:r>
            <a:endParaRPr lang="ko-KR" altLang="en-US"/>
          </a:p>
          <a:p>
            <a:pPr marL="0" indent="0">
              <a:lnSpc>
                <a:spcPct val="0"/>
              </a:lnSpc>
              <a:buNone/>
              <a:defRPr/>
            </a:pPr>
            <a:endParaRPr lang="ko-KR" altLang="en-US"/>
          </a:p>
          <a:p>
            <a:pPr>
              <a:lnSpc>
                <a:spcPct val="130000"/>
              </a:lnSpc>
              <a:defRPr/>
            </a:pPr>
            <a:r>
              <a:rPr lang="en-US" altLang="ko-KR" b="1"/>
              <a:t>Dependability (</a:t>
            </a:r>
            <a:r>
              <a:rPr lang="ko-KR" altLang="en-US" b="1"/>
              <a:t>신뢰성 </a:t>
            </a:r>
            <a:r>
              <a:rPr lang="en-US" altLang="ko-KR" b="1"/>
              <a:t>/ </a:t>
            </a:r>
            <a:r>
              <a:rPr lang="ko-KR" altLang="en-US" b="1"/>
              <a:t>확실성</a:t>
            </a:r>
            <a:r>
              <a:rPr lang="en-US" altLang="ko-KR" b="1"/>
              <a:t>)</a:t>
            </a:r>
            <a:endParaRPr lang="en-US" altLang="ko-KR" b="1"/>
          </a:p>
          <a:p>
            <a:pPr lvl="1">
              <a:lnSpc>
                <a:spcPct val="130000"/>
              </a:lnSpc>
              <a:defRPr/>
            </a:pPr>
            <a:r>
              <a:rPr lang="en-US" altLang="ko-KR" b="1"/>
              <a:t>Availability(</a:t>
            </a:r>
            <a:r>
              <a:rPr lang="ko-KR" altLang="en-US" b="1"/>
              <a:t>가용성</a:t>
            </a:r>
            <a:r>
              <a:rPr lang="en-US" altLang="ko-KR" b="1"/>
              <a:t>)</a:t>
            </a:r>
            <a:endParaRPr lang="en-US" altLang="ko-KR" b="1"/>
          </a:p>
          <a:p>
            <a:pPr lvl="1">
              <a:lnSpc>
                <a:spcPct val="130000"/>
              </a:lnSpc>
              <a:defRPr/>
            </a:pPr>
            <a:r>
              <a:rPr lang="en-US" altLang="ko-KR" b="1"/>
              <a:t>Reliability(</a:t>
            </a:r>
            <a:r>
              <a:rPr lang="ko-KR" altLang="en-US" b="1"/>
              <a:t>신뢰성</a:t>
            </a:r>
            <a:r>
              <a:rPr lang="en-US" altLang="ko-KR" b="1"/>
              <a:t>)</a:t>
            </a:r>
            <a:endParaRPr lang="en-US" altLang="ko-KR" b="1"/>
          </a:p>
          <a:p>
            <a:pPr lvl="1">
              <a:lnSpc>
                <a:spcPct val="130000"/>
              </a:lnSpc>
              <a:defRPr/>
            </a:pPr>
            <a:r>
              <a:rPr lang="en-US" altLang="ko-KR" b="1"/>
              <a:t>Safety(</a:t>
            </a:r>
            <a:r>
              <a:rPr lang="ko-KR" altLang="en-US" b="1"/>
              <a:t>안정성</a:t>
            </a:r>
            <a:r>
              <a:rPr lang="en-US" altLang="ko-KR" b="1"/>
              <a:t>)</a:t>
            </a:r>
            <a:endParaRPr lang="en-US" altLang="ko-KR" b="1"/>
          </a:p>
          <a:p>
            <a:pPr lvl="1">
              <a:lnSpc>
                <a:spcPct val="130000"/>
              </a:lnSpc>
              <a:defRPr/>
            </a:pPr>
            <a:r>
              <a:rPr lang="en-US" altLang="ko-KR" b="1"/>
              <a:t>Security(</a:t>
            </a:r>
            <a:r>
              <a:rPr lang="ko-KR" altLang="en-US" b="1"/>
              <a:t>보안성</a:t>
            </a:r>
            <a:r>
              <a:rPr lang="en-US" altLang="ko-KR" b="1"/>
              <a:t>)</a:t>
            </a:r>
            <a:endParaRPr lang="en-US" altLang="ko-KR" b="1"/>
          </a:p>
          <a:p>
            <a:pPr lvl="1">
              <a:lnSpc>
                <a:spcPct val="0"/>
              </a:lnSpc>
              <a:defRPr/>
            </a:pPr>
            <a:endParaRPr lang="en-US" altLang="ko-KR" b="1"/>
          </a:p>
          <a:p>
            <a:pPr>
              <a:lnSpc>
                <a:spcPct val="130000"/>
              </a:lnSpc>
              <a:defRPr/>
            </a:pPr>
            <a:r>
              <a:rPr lang="en-US" altLang="ko-KR" b="1"/>
              <a:t>Repairability (</a:t>
            </a:r>
            <a:r>
              <a:rPr lang="ko-KR" altLang="en-US" b="1"/>
              <a:t>수리가능성</a:t>
            </a:r>
            <a:r>
              <a:rPr lang="en-US" altLang="ko-KR" b="1"/>
              <a:t>)</a:t>
            </a:r>
            <a:endParaRPr lang="en-US" altLang="ko-KR" b="1"/>
          </a:p>
          <a:p>
            <a:pPr>
              <a:lnSpc>
                <a:spcPct val="130000"/>
              </a:lnSpc>
              <a:defRPr/>
            </a:pPr>
            <a:r>
              <a:rPr lang="en-US" altLang="ko-KR" b="1"/>
              <a:t>Maintainability (</a:t>
            </a:r>
            <a:r>
              <a:rPr lang="ko-KR" altLang="en-US" b="1"/>
              <a:t>유지보수성</a:t>
            </a:r>
            <a:r>
              <a:rPr lang="en-US" altLang="ko-KR" b="1"/>
              <a:t>)</a:t>
            </a:r>
            <a:endParaRPr lang="en-US" altLang="ko-KR" b="1"/>
          </a:p>
          <a:p>
            <a:pPr>
              <a:lnSpc>
                <a:spcPct val="130000"/>
              </a:lnSpc>
              <a:defRPr/>
            </a:pPr>
            <a:r>
              <a:rPr lang="en-US" altLang="ko-KR" b="1"/>
              <a:t>Survivability (</a:t>
            </a:r>
            <a:r>
              <a:rPr lang="ko-KR" altLang="en-US" b="1"/>
              <a:t>생존가능성</a:t>
            </a:r>
            <a:r>
              <a:rPr lang="en-US" altLang="ko-KR" b="1"/>
              <a:t>)</a:t>
            </a:r>
            <a:endParaRPr lang="en-US" altLang="ko-KR" b="1"/>
          </a:p>
          <a:p>
            <a:pPr>
              <a:lnSpc>
                <a:spcPct val="130000"/>
              </a:lnSpc>
              <a:defRPr/>
            </a:pPr>
            <a:r>
              <a:rPr lang="en-US" altLang="ko-KR" b="1"/>
              <a:t>Error tolerance (</a:t>
            </a:r>
            <a:r>
              <a:rPr lang="ko-KR" altLang="en-US" b="1"/>
              <a:t>오류내성</a:t>
            </a:r>
            <a:r>
              <a:rPr lang="en-US" altLang="ko-KR" b="1"/>
              <a:t>)</a:t>
            </a:r>
            <a:endParaRPr lang="en-US" altLang="ko-KR" b="1"/>
          </a:p>
        </p:txBody>
      </p:sp>
      <p:sp>
        <p:nvSpPr>
          <p:cNvPr id="4" name="Title 1"/>
          <p:cNvSpPr>
            <a:spLocks noGrp="1"/>
          </p:cNvSpPr>
          <p:nvPr/>
        </p:nvSpPr>
        <p:spPr>
          <a:xfrm>
            <a:off x="449679" y="365125"/>
            <a:ext cx="7958890" cy="1003272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p>
            <a:pPr marL="0" lvl="0" indent="0" algn="l" defTabSz="914400" rtl="0" eaLnBrk="1" latinLnBrk="1" hangingPunct="1">
              <a:lnSpc>
                <a:spcPct val="130000"/>
              </a:lnSpc>
              <a:spcBef>
                <a:spcPct val="0"/>
              </a:spcBef>
              <a:spcAft>
                <a:spcPts val="0"/>
              </a:spcAft>
              <a:buFont typeface="Wingdings"/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Critical System</a:t>
            </a:r>
            <a:endPara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pic>
        <p:nvPicPr>
          <p:cNvPr id="6" name="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5695950" y="3067050"/>
            <a:ext cx="6093486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362266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056376"/>
            <a:ext cx="5257800" cy="4351338"/>
          </a:xfrm>
        </p:spPr>
        <p:txBody>
          <a:bodyPr>
            <a:normAutofit lnSpcReduction="10000"/>
          </a:bodyPr>
          <a:lstStyle/>
          <a:p>
            <a:pPr>
              <a:lnSpc>
                <a:spcPct val="130000"/>
              </a:lnSpc>
              <a:defRPr/>
            </a:pPr>
            <a:r>
              <a:rPr lang="en-US" altLang="ko-KR" sz="1900" b="1"/>
              <a:t>Reliability</a:t>
            </a:r>
            <a:r>
              <a:rPr lang="ko-KR" altLang="en-US" sz="1900"/>
              <a:t>를 이루기 위한 기술</a:t>
            </a:r>
            <a:endParaRPr lang="ko-KR" altLang="en-US" sz="1900"/>
          </a:p>
          <a:p>
            <a:pPr lvl="1">
              <a:lnSpc>
                <a:spcPct val="130000"/>
              </a:lnSpc>
              <a:defRPr/>
            </a:pPr>
            <a:r>
              <a:rPr lang="en-US" altLang="ko-KR" sz="1500"/>
              <a:t>Fault avoidance (</a:t>
            </a:r>
            <a:r>
              <a:rPr lang="ko-KR" altLang="en-US" sz="1500"/>
              <a:t>결함 </a:t>
            </a:r>
            <a:r>
              <a:rPr lang="ko-KR" altLang="en-US" sz="1500" b="1"/>
              <a:t>회피</a:t>
            </a:r>
            <a:r>
              <a:rPr lang="en-US" altLang="ko-KR" sz="1500"/>
              <a:t>)</a:t>
            </a:r>
            <a:endParaRPr lang="ko-KR" altLang="en-US" sz="1500"/>
          </a:p>
          <a:p>
            <a:pPr lvl="1">
              <a:lnSpc>
                <a:spcPct val="130000"/>
              </a:lnSpc>
              <a:defRPr/>
            </a:pPr>
            <a:r>
              <a:rPr lang="en-US" altLang="ko-KR" sz="1500"/>
              <a:t>Fault detection and removal (</a:t>
            </a:r>
            <a:r>
              <a:rPr lang="ko-KR" altLang="en-US" sz="1500"/>
              <a:t>결함 </a:t>
            </a:r>
            <a:r>
              <a:rPr lang="ko-KR" altLang="en-US" sz="1500" b="1"/>
              <a:t>탐지와 제거</a:t>
            </a:r>
            <a:r>
              <a:rPr lang="en-US" altLang="ko-KR" sz="1500"/>
              <a:t>)</a:t>
            </a:r>
            <a:endParaRPr lang="en-US" altLang="ko-KR" sz="1500"/>
          </a:p>
          <a:p>
            <a:pPr lvl="1">
              <a:lnSpc>
                <a:spcPct val="130000"/>
              </a:lnSpc>
              <a:defRPr/>
            </a:pPr>
            <a:r>
              <a:rPr lang="en-US" altLang="ko-KR" sz="1500"/>
              <a:t>Fault tolerance (</a:t>
            </a:r>
            <a:r>
              <a:rPr lang="ko-KR" altLang="en-US" sz="1500"/>
              <a:t>결함 </a:t>
            </a:r>
            <a:r>
              <a:rPr lang="ko-KR" altLang="en-US" sz="1500" b="1"/>
              <a:t>내성</a:t>
            </a:r>
            <a:r>
              <a:rPr lang="en-US" altLang="ko-KR" sz="1500"/>
              <a:t>)</a:t>
            </a:r>
            <a:endParaRPr lang="en-US" altLang="ko-KR" sz="1500"/>
          </a:p>
          <a:p>
            <a:pPr lvl="1">
              <a:lnSpc>
                <a:spcPct val="0"/>
              </a:lnSpc>
              <a:defRPr/>
            </a:pPr>
            <a:endParaRPr lang="en-US" altLang="ko-KR" sz="1500"/>
          </a:p>
          <a:p>
            <a:pPr>
              <a:lnSpc>
                <a:spcPct val="130000"/>
              </a:lnSpc>
              <a:defRPr/>
            </a:pPr>
            <a:r>
              <a:rPr lang="en-US" altLang="ko-KR" sz="1900" b="1"/>
              <a:t>Safety</a:t>
            </a:r>
            <a:r>
              <a:rPr lang="ko-KR" altLang="en-US" sz="1900"/>
              <a:t>를 이루기 위한 기술</a:t>
            </a:r>
            <a:endParaRPr lang="ko-KR" altLang="en-US" sz="1900"/>
          </a:p>
          <a:p>
            <a:pPr lvl="1">
              <a:lnSpc>
                <a:spcPct val="130000"/>
              </a:lnSpc>
              <a:defRPr/>
            </a:pPr>
            <a:r>
              <a:rPr lang="ko-KR" altLang="en-US" sz="1500"/>
              <a:t>Hazard avoidance (위험 </a:t>
            </a:r>
            <a:r>
              <a:rPr lang="ko-KR" altLang="en-US" sz="1500" b="1"/>
              <a:t>회피</a:t>
            </a:r>
            <a:r>
              <a:rPr lang="ko-KR" altLang="en-US" sz="1500"/>
              <a:t>)</a:t>
            </a:r>
            <a:endParaRPr lang="ko-KR" altLang="en-US" sz="1500"/>
          </a:p>
          <a:p>
            <a:pPr lvl="1">
              <a:lnSpc>
                <a:spcPct val="130000"/>
              </a:lnSpc>
              <a:defRPr/>
            </a:pPr>
            <a:r>
              <a:rPr lang="ko-KR" altLang="en-US" sz="1500"/>
              <a:t>Hazard detection and removal (위험 </a:t>
            </a:r>
            <a:r>
              <a:rPr lang="ko-KR" altLang="en-US" sz="1500" b="1"/>
              <a:t>탐지 및 제거</a:t>
            </a:r>
            <a:r>
              <a:rPr lang="ko-KR" altLang="en-US" sz="1500"/>
              <a:t>)</a:t>
            </a:r>
            <a:endParaRPr lang="ko-KR" altLang="en-US" sz="1500"/>
          </a:p>
          <a:p>
            <a:pPr lvl="1">
              <a:lnSpc>
                <a:spcPct val="130000"/>
              </a:lnSpc>
              <a:defRPr/>
            </a:pPr>
            <a:r>
              <a:rPr lang="ko-KR" altLang="en-US" sz="1500"/>
              <a:t>Damage limitation (피해 </a:t>
            </a:r>
            <a:r>
              <a:rPr lang="ko-KR" altLang="en-US" sz="1500" b="1"/>
              <a:t>최소화</a:t>
            </a:r>
            <a:r>
              <a:rPr lang="ko-KR" altLang="en-US" sz="1500"/>
              <a:t>)</a:t>
            </a:r>
            <a:endParaRPr lang="ko-KR" altLang="en-US" sz="1500"/>
          </a:p>
          <a:p>
            <a:pPr lvl="1">
              <a:lnSpc>
                <a:spcPct val="0"/>
              </a:lnSpc>
              <a:defRPr/>
            </a:pPr>
            <a:endParaRPr lang="ko-KR" altLang="en-US" sz="1500"/>
          </a:p>
          <a:p>
            <a:pPr>
              <a:lnSpc>
                <a:spcPct val="130000"/>
              </a:lnSpc>
              <a:defRPr/>
            </a:pPr>
            <a:endParaRPr lang="ko-KR" altLang="en-US" sz="1900"/>
          </a:p>
          <a:p>
            <a:pPr>
              <a:lnSpc>
                <a:spcPct val="130000"/>
              </a:lnSpc>
              <a:defRPr/>
            </a:pPr>
            <a:endParaRPr lang="ko-KR" altLang="en-US" sz="1900"/>
          </a:p>
          <a:p>
            <a:pPr>
              <a:lnSpc>
                <a:spcPct val="130000"/>
              </a:lnSpc>
              <a:defRPr/>
            </a:pPr>
            <a:endParaRPr lang="en-US" altLang="ko-KR" sz="1900" b="1"/>
          </a:p>
        </p:txBody>
      </p:sp>
      <p:sp>
        <p:nvSpPr>
          <p:cNvPr id="4" name=""/>
          <p:cNvSpPr txBox="1"/>
          <p:nvPr/>
        </p:nvSpPr>
        <p:spPr>
          <a:xfrm>
            <a:off x="6781184" y="341055"/>
            <a:ext cx="273030" cy="438090"/>
          </a:xfrm>
          <a:prstGeom prst="rect">
            <a:avLst/>
          </a:prstGeom>
        </p:spPr>
        <p:txBody>
          <a:bodyPr wrap="none">
            <a:spAutoFit/>
          </a:bodyPr>
          <a:p>
            <a:pPr>
              <a:lnSpc>
                <a:spcPct val="130000"/>
              </a:lnSpc>
              <a:defRPr/>
            </a:pPr>
            <a:endParaRPr/>
          </a:p>
        </p:txBody>
      </p:sp>
      <p:sp>
        <p:nvSpPr>
          <p:cNvPr id="5" name="Content Placeholder 2"/>
          <p:cNvSpPr>
            <a:spLocks noGrp="1"/>
          </p:cNvSpPr>
          <p:nvPr/>
        </p:nvSpPr>
        <p:spPr>
          <a:xfrm>
            <a:off x="6096000" y="2062214"/>
            <a:ext cx="5257800" cy="4351338"/>
          </a:xfrm>
          <a:prstGeom prst="rect">
            <a:avLst/>
          </a:prstGeom>
        </p:spPr>
        <p:txBody>
          <a:bodyPr vert="horz" lIns="91440" tIns="45720" rIns="91440" bIns="45720">
            <a:noAutofit/>
          </a:bodyPr>
          <a:p>
            <a:pPr marL="214200" indent="-214200">
              <a:lnSpc>
                <a:spcPct val="130000"/>
              </a:lnSpc>
              <a:buFont typeface="Arial"/>
              <a:buChar char="•"/>
              <a:defRPr/>
            </a:pPr>
            <a:r>
              <a:rPr lang="en-US" altLang="ko-KR" sz="1900" b="1"/>
              <a:t>Security</a:t>
            </a:r>
            <a:r>
              <a:rPr lang="ko-KR" altLang="en-US" sz="1900"/>
              <a:t>를 이루기 위한 기술</a:t>
            </a:r>
            <a:endParaRPr lang="ko-KR" altLang="en-US" sz="1500"/>
          </a:p>
          <a:p>
            <a:pPr marL="671400" lvl="1" indent="-214200">
              <a:lnSpc>
                <a:spcPct val="130000"/>
              </a:lnSpc>
              <a:buFont typeface="Arial"/>
              <a:buChar char="•"/>
              <a:defRPr/>
            </a:pPr>
            <a:r>
              <a:rPr lang="ko-KR" altLang="en-US" sz="1500"/>
              <a:t>Vulnerability avoidance (취약성 </a:t>
            </a:r>
            <a:r>
              <a:rPr lang="ko-KR" altLang="en-US" sz="1500" b="1"/>
              <a:t>회피</a:t>
            </a:r>
            <a:r>
              <a:rPr lang="ko-KR" altLang="en-US" sz="1500"/>
              <a:t>)</a:t>
            </a:r>
            <a:endParaRPr lang="ko-KR" altLang="en-US" sz="1500"/>
          </a:p>
          <a:p>
            <a:pPr marL="671400" lvl="1" indent="-214200">
              <a:lnSpc>
                <a:spcPct val="130000"/>
              </a:lnSpc>
              <a:buFont typeface="Arial"/>
              <a:buChar char="•"/>
              <a:defRPr/>
            </a:pPr>
            <a:r>
              <a:rPr lang="ko-KR" altLang="en-US" sz="1500"/>
              <a:t>Attack detection and elimination (공격 </a:t>
            </a:r>
            <a:r>
              <a:rPr lang="ko-KR" altLang="en-US" sz="1500" b="1"/>
              <a:t>탐지 및 제거</a:t>
            </a:r>
            <a:r>
              <a:rPr lang="ko-KR" altLang="en-US" sz="1500"/>
              <a:t>)</a:t>
            </a:r>
            <a:endParaRPr lang="ko-KR" altLang="en-US" sz="1500"/>
          </a:p>
          <a:p>
            <a:pPr marL="671400" lvl="1" indent="-214200">
              <a:lnSpc>
                <a:spcPct val="130000"/>
              </a:lnSpc>
              <a:buFont typeface="Arial"/>
              <a:buChar char="•"/>
              <a:defRPr/>
            </a:pPr>
            <a:r>
              <a:rPr lang="ko-KR" altLang="en-US" sz="1500"/>
              <a:t>Exposure limitation (노출 </a:t>
            </a:r>
            <a:r>
              <a:rPr lang="ko-KR" altLang="en-US" sz="1500" b="1"/>
              <a:t>최소화</a:t>
            </a:r>
            <a:r>
              <a:rPr lang="ko-KR" altLang="en-US" sz="1500"/>
              <a:t>)</a:t>
            </a:r>
            <a:endParaRPr xmlns:mc="http://schemas.openxmlformats.org/markup-compatibility/2006" xmlns:hp="http://schemas.haansoft.com/office/presentation/8.0" kumimoji="0" lang="en-US" altLang="ko-KR" sz="1500" b="1" i="0" u="none" strike="noStrike" kern="120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7" name="Title 1"/>
          <p:cNvSpPr>
            <a:spLocks noGrp="1"/>
          </p:cNvSpPr>
          <p:nvPr/>
        </p:nvSpPr>
        <p:spPr>
          <a:xfrm>
            <a:off x="449679" y="365125"/>
            <a:ext cx="7958890" cy="1003272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p>
            <a:pPr marL="0" lvl="0" indent="0" algn="l" defTabSz="914400" rtl="0" eaLnBrk="1" latinLnBrk="1" hangingPunct="1">
              <a:lnSpc>
                <a:spcPct val="130000"/>
              </a:lnSpc>
              <a:spcBef>
                <a:spcPct val="0"/>
              </a:spcBef>
              <a:spcAft>
                <a:spcPts val="0"/>
              </a:spcAft>
              <a:buFont typeface="Wingdings"/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Critical System</a:t>
            </a:r>
            <a:endPara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122141963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727737"/>
            <a:ext cx="10515600" cy="435133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ko-KR" altLang="en-US"/>
              <a:t>방사능 물질의 위험도 측정 시스템 </a:t>
            </a:r>
            <a:r>
              <a:rPr lang="en-US" altLang="ko-KR" b="1"/>
              <a:t>MAPE</a:t>
            </a:r>
            <a:endParaRPr lang="ko-KR" altLang="en-US" b="1"/>
          </a:p>
        </p:txBody>
      </p:sp>
      <p:sp>
        <p:nvSpPr>
          <p:cNvPr id="5" name="Title 1"/>
          <p:cNvSpPr>
            <a:spLocks noGrp="1"/>
          </p:cNvSpPr>
          <p:nvPr/>
        </p:nvSpPr>
        <p:spPr>
          <a:xfrm>
            <a:off x="449679" y="365125"/>
            <a:ext cx="7958890" cy="1003272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p>
            <a:pPr marL="0" lvl="0" indent="0" algn="l" defTabSz="914400" rtl="0" eaLnBrk="1" latinLnBrk="1" hangingPunct="1">
              <a:lnSpc>
                <a:spcPct val="130000"/>
              </a:lnSpc>
              <a:spcBef>
                <a:spcPct val="0"/>
              </a:spcBef>
              <a:spcAft>
                <a:spcPts val="0"/>
              </a:spcAft>
              <a:buFont typeface="Wingdings"/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Critical System</a:t>
            </a:r>
            <a:r>
              <a:rPr xmlns:mc="http://schemas.openxmlformats.org/markup-compatibility/2006" xmlns:hp="http://schemas.haansoft.com/office/presentation/8.0" kumimoji="0" lang="ko-KR" altLang="en-US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</a:t>
            </a:r>
            <a:r>
              <a:rPr xmlns:mc="http://schemas.openxmlformats.org/markup-compatibility/2006" xmlns:hp="http://schemas.haansoft.com/office/presentation/8.0" kumimoji="0" lang="ko-KR" altLang="en-US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과제 </a:t>
            </a:r>
            <a:r>
              <a: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4</a:t>
            </a:r>
            <a:endPara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pic>
        <p:nvPicPr>
          <p:cNvPr id="6" name=""/>
          <p:cNvPicPr>
            <a:picLocks noChangeAspect="1"/>
          </p:cNvPicPr>
          <p:nvPr/>
        </p:nvPicPr>
        <p:blipFill rotWithShape="1">
          <a:blip r:embed="rId2"/>
          <a:srcRect b="59240"/>
          <a:stretch>
            <a:fillRect/>
          </a:stretch>
        </p:blipFill>
        <p:spPr>
          <a:xfrm>
            <a:off x="516251" y="3080216"/>
            <a:ext cx="5409774" cy="2375219"/>
          </a:xfrm>
          <a:prstGeom prst="rect">
            <a:avLst/>
          </a:prstGeom>
        </p:spPr>
      </p:pic>
      <p:pic>
        <p:nvPicPr>
          <p:cNvPr id="7" name=""/>
          <p:cNvPicPr>
            <a:picLocks noChangeAspect="1"/>
          </p:cNvPicPr>
          <p:nvPr/>
        </p:nvPicPr>
        <p:blipFill rotWithShape="1">
          <a:blip r:embed="rId3"/>
          <a:srcRect t="40500"/>
          <a:stretch>
            <a:fillRect/>
          </a:stretch>
        </p:blipFill>
        <p:spPr>
          <a:xfrm>
            <a:off x="6212818" y="2554416"/>
            <a:ext cx="5616704" cy="3599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970503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727737"/>
            <a:ext cx="10515600" cy="435133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ko-KR" altLang="en-US"/>
              <a:t>방사능 물질의 위험도 측정 시스템 </a:t>
            </a:r>
            <a:r>
              <a:rPr lang="ko-KR" altLang="en-US" b="1"/>
              <a:t>필드 설계</a:t>
            </a:r>
            <a:endParaRPr lang="ko-KR" altLang="en-US" b="1"/>
          </a:p>
        </p:txBody>
      </p:sp>
      <p:sp>
        <p:nvSpPr>
          <p:cNvPr id="5" name="Title 1"/>
          <p:cNvSpPr>
            <a:spLocks noGrp="1"/>
          </p:cNvSpPr>
          <p:nvPr/>
        </p:nvSpPr>
        <p:spPr>
          <a:xfrm>
            <a:off x="449679" y="365125"/>
            <a:ext cx="7958890" cy="1003272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p>
            <a:pPr marL="0" lvl="0" indent="0" algn="l" defTabSz="914400" rtl="0" eaLnBrk="1" latinLnBrk="1" hangingPunct="1">
              <a:lnSpc>
                <a:spcPct val="130000"/>
              </a:lnSpc>
              <a:spcBef>
                <a:spcPct val="0"/>
              </a:spcBef>
              <a:spcAft>
                <a:spcPts val="0"/>
              </a:spcAft>
              <a:buFont typeface="Wingdings"/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Critical System</a:t>
            </a:r>
            <a:r>
              <a:rPr xmlns:mc="http://schemas.openxmlformats.org/markup-compatibility/2006" xmlns:hp="http://schemas.haansoft.com/office/presentation/8.0" kumimoji="0" lang="ko-KR" altLang="en-US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</a:t>
            </a:r>
            <a:r>
              <a:rPr xmlns:mc="http://schemas.openxmlformats.org/markup-compatibility/2006" xmlns:hp="http://schemas.haansoft.com/office/presentation/8.0" kumimoji="0" lang="ko-KR" altLang="en-US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과제 </a:t>
            </a:r>
            <a:r>
              <a: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4</a:t>
            </a:r>
            <a:endPara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pic>
        <p:nvPicPr>
          <p:cNvPr id="8" name=""/>
          <p:cNvPicPr>
            <a:picLocks noChangeAspect="1"/>
          </p:cNvPicPr>
          <p:nvPr/>
        </p:nvPicPr>
        <p:blipFill rotWithShape="1">
          <a:blip r:embed="rId2"/>
          <a:srcRect b="66800"/>
          <a:stretch>
            <a:fillRect/>
          </a:stretch>
        </p:blipFill>
        <p:spPr>
          <a:xfrm>
            <a:off x="972966" y="2544097"/>
            <a:ext cx="6142981" cy="1812822"/>
          </a:xfrm>
          <a:prstGeom prst="rect">
            <a:avLst/>
          </a:prstGeom>
        </p:spPr>
      </p:pic>
      <p:pic>
        <p:nvPicPr>
          <p:cNvPr id="9" name=""/>
          <p:cNvPicPr>
            <a:picLocks noChangeAspect="1"/>
          </p:cNvPicPr>
          <p:nvPr/>
        </p:nvPicPr>
        <p:blipFill rotWithShape="1">
          <a:blip r:embed="rId3"/>
          <a:srcRect t="31720" b="31180"/>
          <a:stretch>
            <a:fillRect/>
          </a:stretch>
        </p:blipFill>
        <p:spPr>
          <a:xfrm>
            <a:off x="985257" y="4496633"/>
            <a:ext cx="5520436" cy="1820592"/>
          </a:xfrm>
          <a:prstGeom prst="rect">
            <a:avLst/>
          </a:prstGeom>
        </p:spPr>
      </p:pic>
      <p:pic>
        <p:nvPicPr>
          <p:cNvPr id="10" name=""/>
          <p:cNvPicPr>
            <a:picLocks noChangeAspect="1"/>
          </p:cNvPicPr>
          <p:nvPr/>
        </p:nvPicPr>
        <p:blipFill rotWithShape="1">
          <a:blip r:embed="rId4"/>
          <a:srcRect t="68190" r="48670"/>
          <a:stretch>
            <a:fillRect/>
          </a:stretch>
        </p:blipFill>
        <p:spPr>
          <a:xfrm>
            <a:off x="7081257" y="4479821"/>
            <a:ext cx="3172348" cy="17478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377588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727737"/>
            <a:ext cx="10515600" cy="435133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ko-KR" altLang="en-US"/>
              <a:t>방사능 물질의 위험도 측정 시스템 </a:t>
            </a:r>
            <a:r>
              <a:rPr lang="ko-KR" altLang="en-US" b="1"/>
              <a:t>함수 추상화</a:t>
            </a:r>
            <a:endParaRPr lang="ko-KR" altLang="en-US" b="1"/>
          </a:p>
        </p:txBody>
      </p:sp>
      <p:sp>
        <p:nvSpPr>
          <p:cNvPr id="5" name="Title 1"/>
          <p:cNvSpPr>
            <a:spLocks noGrp="1"/>
          </p:cNvSpPr>
          <p:nvPr/>
        </p:nvSpPr>
        <p:spPr>
          <a:xfrm>
            <a:off x="449679" y="365125"/>
            <a:ext cx="7958890" cy="1003272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p>
            <a:pPr marL="0" lvl="0" indent="0" algn="l" defTabSz="914400" rtl="0" eaLnBrk="1" latinLnBrk="1" hangingPunct="1">
              <a:lnSpc>
                <a:spcPct val="130000"/>
              </a:lnSpc>
              <a:spcBef>
                <a:spcPct val="0"/>
              </a:spcBef>
              <a:spcAft>
                <a:spcPts val="0"/>
              </a:spcAft>
              <a:buFont typeface="Wingdings"/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Critical System</a:t>
            </a:r>
            <a:r>
              <a:rPr xmlns:mc="http://schemas.openxmlformats.org/markup-compatibility/2006" xmlns:hp="http://schemas.haansoft.com/office/presentation/8.0" kumimoji="0" lang="ko-KR" altLang="en-US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</a:t>
            </a:r>
            <a:r>
              <a:rPr xmlns:mc="http://schemas.openxmlformats.org/markup-compatibility/2006" xmlns:hp="http://schemas.haansoft.com/office/presentation/8.0" kumimoji="0" lang="ko-KR" altLang="en-US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과제 </a:t>
            </a:r>
            <a:r>
              <a: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4</a:t>
            </a:r>
            <a:endPara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pic>
        <p:nvPicPr>
          <p:cNvPr id="11" name=""/>
          <p:cNvPicPr>
            <a:picLocks noChangeAspect="1"/>
          </p:cNvPicPr>
          <p:nvPr/>
        </p:nvPicPr>
        <p:blipFill rotWithShape="1">
          <a:blip r:embed="rId2"/>
          <a:srcRect b="41400"/>
          <a:stretch>
            <a:fillRect/>
          </a:stretch>
        </p:blipFill>
        <p:spPr>
          <a:xfrm>
            <a:off x="1934923" y="2513888"/>
            <a:ext cx="8322151" cy="3798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119291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727737"/>
            <a:ext cx="10515600" cy="435133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ko-KR" altLang="en-US"/>
              <a:t>방사능 물질의 위험도 측정 시스템 </a:t>
            </a:r>
            <a:r>
              <a:rPr lang="ko-KR" altLang="en-US" b="1"/>
              <a:t>평가 방법 작성</a:t>
            </a:r>
            <a:endParaRPr lang="ko-KR" altLang="en-US" b="1"/>
          </a:p>
        </p:txBody>
      </p:sp>
      <p:sp>
        <p:nvSpPr>
          <p:cNvPr id="5" name="Title 1"/>
          <p:cNvSpPr>
            <a:spLocks noGrp="1"/>
          </p:cNvSpPr>
          <p:nvPr/>
        </p:nvSpPr>
        <p:spPr>
          <a:xfrm>
            <a:off x="449679" y="365125"/>
            <a:ext cx="7958890" cy="1003272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p>
            <a:pPr marL="0" lvl="0" indent="0" algn="l" defTabSz="914400" rtl="0" eaLnBrk="1" latinLnBrk="1" hangingPunct="1">
              <a:lnSpc>
                <a:spcPct val="130000"/>
              </a:lnSpc>
              <a:spcBef>
                <a:spcPct val="0"/>
              </a:spcBef>
              <a:spcAft>
                <a:spcPts val="0"/>
              </a:spcAft>
              <a:buFont typeface="Wingdings"/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Critical System</a:t>
            </a:r>
            <a:r>
              <a:rPr xmlns:mc="http://schemas.openxmlformats.org/markup-compatibility/2006" xmlns:hp="http://schemas.haansoft.com/office/presentation/8.0" kumimoji="0" lang="ko-KR" altLang="en-US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</a:t>
            </a:r>
            <a:r>
              <a:rPr xmlns:mc="http://schemas.openxmlformats.org/markup-compatibility/2006" xmlns:hp="http://schemas.haansoft.com/office/presentation/8.0" kumimoji="0" lang="ko-KR" altLang="en-US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과제 </a:t>
            </a:r>
            <a:r>
              <a: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4</a:t>
            </a:r>
            <a:endPara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pic>
        <p:nvPicPr>
          <p:cNvPr id="12" name=""/>
          <p:cNvPicPr>
            <a:picLocks noChangeAspect="1"/>
          </p:cNvPicPr>
          <p:nvPr/>
        </p:nvPicPr>
        <p:blipFill rotWithShape="1">
          <a:blip r:embed="rId2"/>
          <a:srcRect t="59410"/>
          <a:stretch>
            <a:fillRect/>
          </a:stretch>
        </p:blipFill>
        <p:spPr>
          <a:xfrm>
            <a:off x="1693722" y="2820629"/>
            <a:ext cx="8804555" cy="2783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488907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727737"/>
            <a:ext cx="10515600" cy="435133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ko-KR" altLang="en-US"/>
              <a:t>방사능 물질의 위험도 측정 시스템 </a:t>
            </a:r>
            <a:r>
              <a:rPr lang="ko-KR" altLang="en-US" b="1"/>
              <a:t>평가 방법 작성</a:t>
            </a:r>
            <a:endParaRPr lang="ko-KR" altLang="en-US" b="1"/>
          </a:p>
        </p:txBody>
      </p:sp>
      <p:sp>
        <p:nvSpPr>
          <p:cNvPr id="5" name="Title 1"/>
          <p:cNvSpPr>
            <a:spLocks noGrp="1"/>
          </p:cNvSpPr>
          <p:nvPr/>
        </p:nvSpPr>
        <p:spPr>
          <a:xfrm>
            <a:off x="449679" y="365125"/>
            <a:ext cx="7958890" cy="1003272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p>
            <a:pPr marL="0" lvl="0" indent="0" algn="l" defTabSz="914400" rtl="0" eaLnBrk="1" latinLnBrk="1" hangingPunct="1">
              <a:lnSpc>
                <a:spcPct val="130000"/>
              </a:lnSpc>
              <a:spcBef>
                <a:spcPct val="0"/>
              </a:spcBef>
              <a:spcAft>
                <a:spcPts val="0"/>
              </a:spcAft>
              <a:buFont typeface="Wingdings"/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Critical System</a:t>
            </a:r>
            <a:r>
              <a:rPr xmlns:mc="http://schemas.openxmlformats.org/markup-compatibility/2006" xmlns:hp="http://schemas.haansoft.com/office/presentation/8.0" kumimoji="0" lang="ko-KR" altLang="en-US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</a:t>
            </a:r>
            <a:r>
              <a:rPr xmlns:mc="http://schemas.openxmlformats.org/markup-compatibility/2006" xmlns:hp="http://schemas.haansoft.com/office/presentation/8.0" kumimoji="0" lang="ko-KR" altLang="en-US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과제 </a:t>
            </a:r>
            <a:r>
              <a: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4</a:t>
            </a:r>
            <a:endPara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pic>
        <p:nvPicPr>
          <p:cNvPr id="12" name=""/>
          <p:cNvPicPr>
            <a:picLocks noChangeAspect="1"/>
          </p:cNvPicPr>
          <p:nvPr/>
        </p:nvPicPr>
        <p:blipFill rotWithShape="1">
          <a:blip r:embed="rId2"/>
          <a:srcRect t="59410"/>
          <a:stretch>
            <a:fillRect/>
          </a:stretch>
        </p:blipFill>
        <p:spPr>
          <a:xfrm>
            <a:off x="1693722" y="2820629"/>
            <a:ext cx="8804555" cy="2783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148647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727737"/>
            <a:ext cx="10515600" cy="435133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ko-KR" altLang="en-US" sz="2500"/>
              <a:t>방사능 물질의 위험도 측정 시스템 </a:t>
            </a:r>
            <a:r>
              <a:rPr lang="ko-KR" altLang="en-US" sz="2500" b="1"/>
              <a:t>임계값</a:t>
            </a:r>
            <a:r>
              <a:rPr lang="ko-KR" altLang="en-US" sz="2500"/>
              <a:t> 설정</a:t>
            </a:r>
            <a:endParaRPr lang="ko-KR" altLang="en-US" sz="2500"/>
          </a:p>
          <a:p>
            <a:pPr>
              <a:defRPr/>
            </a:pPr>
            <a:endParaRPr lang="ko-KR" altLang="en-US" sz="2500" b="1"/>
          </a:p>
          <a:p>
            <a:pPr marL="0" indent="0">
              <a:buNone/>
              <a:defRPr/>
            </a:pPr>
            <a:endParaRPr lang="ko-KR" altLang="en-US" sz="2500" b="1"/>
          </a:p>
          <a:p>
            <a:pPr marL="0" indent="0">
              <a:buNone/>
              <a:defRPr/>
            </a:pPr>
            <a:endParaRPr lang="ko-KR" altLang="en-US" sz="2500" b="1"/>
          </a:p>
          <a:p>
            <a:pPr marL="0" indent="0">
              <a:lnSpc>
                <a:spcPct val="50000"/>
              </a:lnSpc>
              <a:buNone/>
              <a:defRPr/>
            </a:pPr>
            <a:endParaRPr lang="ko-KR" altLang="en-US" sz="2500" b="1"/>
          </a:p>
          <a:p>
            <a:pPr marL="0" indent="0">
              <a:buNone/>
              <a:defRPr/>
            </a:pPr>
            <a:r>
              <a:rPr lang="ko-KR" altLang="en-US" sz="2500"/>
              <a:t>방사능 물질의 위험도 측정 시스템 </a:t>
            </a:r>
            <a:r>
              <a:rPr lang="ko-KR" altLang="en-US" sz="2500" b="1"/>
              <a:t>난수 필드</a:t>
            </a:r>
            <a:r>
              <a:rPr lang="ko-KR" altLang="en-US" sz="2500"/>
              <a:t> 설정</a:t>
            </a:r>
            <a:endParaRPr lang="ko-KR" altLang="en-US" sz="2500" b="1"/>
          </a:p>
        </p:txBody>
      </p:sp>
      <p:sp>
        <p:nvSpPr>
          <p:cNvPr id="5" name="Title 1"/>
          <p:cNvSpPr>
            <a:spLocks noGrp="1"/>
          </p:cNvSpPr>
          <p:nvPr/>
        </p:nvSpPr>
        <p:spPr>
          <a:xfrm>
            <a:off x="449679" y="365125"/>
            <a:ext cx="7958890" cy="1003272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p>
            <a:pPr marL="0" lvl="0" indent="0" algn="l" defTabSz="914400" rtl="0" eaLnBrk="1" latinLnBrk="1" hangingPunct="1">
              <a:lnSpc>
                <a:spcPct val="130000"/>
              </a:lnSpc>
              <a:spcBef>
                <a:spcPct val="0"/>
              </a:spcBef>
              <a:spcAft>
                <a:spcPts val="0"/>
              </a:spcAft>
              <a:buFont typeface="Wingdings"/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Critical System</a:t>
            </a:r>
            <a:r>
              <a:rPr xmlns:mc="http://schemas.openxmlformats.org/markup-compatibility/2006" xmlns:hp="http://schemas.haansoft.com/office/presentation/8.0" kumimoji="0" lang="ko-KR" altLang="en-US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</a:t>
            </a:r>
            <a:r>
              <a:rPr xmlns:mc="http://schemas.openxmlformats.org/markup-compatibility/2006" xmlns:hp="http://schemas.haansoft.com/office/presentation/8.0" kumimoji="0" lang="ko-KR" altLang="en-US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과제 </a:t>
            </a:r>
            <a:r>
              <a: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4</a:t>
            </a:r>
            <a:endPara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pic>
        <p:nvPicPr>
          <p:cNvPr id="13" name=""/>
          <p:cNvPicPr>
            <a:picLocks noChangeAspect="1"/>
          </p:cNvPicPr>
          <p:nvPr/>
        </p:nvPicPr>
        <p:blipFill rotWithShape="1">
          <a:blip r:embed="rId2"/>
          <a:srcRect t="39850" b="34710"/>
          <a:stretch>
            <a:fillRect/>
          </a:stretch>
        </p:blipFill>
        <p:spPr>
          <a:xfrm>
            <a:off x="1122276" y="2181533"/>
            <a:ext cx="5408349" cy="1480982"/>
          </a:xfrm>
          <a:prstGeom prst="rect">
            <a:avLst/>
          </a:prstGeom>
        </p:spPr>
      </p:pic>
      <p:pic>
        <p:nvPicPr>
          <p:cNvPr id="15" name=""/>
          <p:cNvPicPr>
            <a:picLocks noChangeAspect="1"/>
          </p:cNvPicPr>
          <p:nvPr/>
        </p:nvPicPr>
        <p:blipFill rotWithShape="1">
          <a:blip r:embed="rId3"/>
          <a:srcRect t="32530" b="31270"/>
          <a:stretch>
            <a:fillRect/>
          </a:stretch>
        </p:blipFill>
        <p:spPr>
          <a:xfrm>
            <a:off x="1124125" y="4528984"/>
            <a:ext cx="6404824" cy="2059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02213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727737"/>
            <a:ext cx="10515600" cy="435133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ko-KR" altLang="en-US"/>
              <a:t>방사능 물질의 위험도 측정 시스템 </a:t>
            </a:r>
            <a:r>
              <a:rPr lang="en-US" altLang="ko-KR" b="1"/>
              <a:t>Sequence Diagram</a:t>
            </a:r>
            <a:endParaRPr lang="en-US" altLang="ko-KR"/>
          </a:p>
          <a:p>
            <a:pPr>
              <a:defRPr/>
            </a:pPr>
            <a:endParaRPr lang="ko-KR" altLang="en-US" sz="2500" b="1"/>
          </a:p>
          <a:p>
            <a:pPr marL="0" indent="0">
              <a:buNone/>
              <a:defRPr/>
            </a:pPr>
            <a:endParaRPr lang="ko-KR" altLang="en-US" sz="2500" b="1"/>
          </a:p>
          <a:p>
            <a:pPr marL="0" indent="0">
              <a:buNone/>
              <a:defRPr/>
            </a:pPr>
            <a:endParaRPr lang="ko-KR" altLang="en-US" sz="2500" b="1"/>
          </a:p>
          <a:p>
            <a:pPr marL="0" indent="0">
              <a:lnSpc>
                <a:spcPct val="50000"/>
              </a:lnSpc>
              <a:buNone/>
              <a:defRPr/>
            </a:pPr>
            <a:endParaRPr lang="ko-KR" altLang="en-US" sz="2500" b="1"/>
          </a:p>
          <a:p>
            <a:pPr marL="0" indent="0">
              <a:buNone/>
              <a:defRPr/>
            </a:pPr>
            <a:endParaRPr lang="ko-KR" altLang="en-US" sz="2500" b="1"/>
          </a:p>
        </p:txBody>
      </p:sp>
      <p:sp>
        <p:nvSpPr>
          <p:cNvPr id="5" name="Title 1"/>
          <p:cNvSpPr>
            <a:spLocks noGrp="1"/>
          </p:cNvSpPr>
          <p:nvPr/>
        </p:nvSpPr>
        <p:spPr>
          <a:xfrm>
            <a:off x="449679" y="365125"/>
            <a:ext cx="7958890" cy="1003272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p>
            <a:pPr marL="0" lvl="0" indent="0" algn="l" defTabSz="914400" rtl="0" eaLnBrk="1" latinLnBrk="1" hangingPunct="1">
              <a:lnSpc>
                <a:spcPct val="130000"/>
              </a:lnSpc>
              <a:spcBef>
                <a:spcPct val="0"/>
              </a:spcBef>
              <a:spcAft>
                <a:spcPts val="0"/>
              </a:spcAft>
              <a:buFont typeface="Wingdings"/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Critical System</a:t>
            </a:r>
            <a:r>
              <a:rPr xmlns:mc="http://schemas.openxmlformats.org/markup-compatibility/2006" xmlns:hp="http://schemas.haansoft.com/office/presentation/8.0" kumimoji="0" lang="ko-KR" altLang="en-US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</a:t>
            </a:r>
            <a:r>
              <a:rPr xmlns:mc="http://schemas.openxmlformats.org/markup-compatibility/2006" xmlns:hp="http://schemas.haansoft.com/office/presentation/8.0" kumimoji="0" lang="ko-KR" altLang="en-US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과제 </a:t>
            </a:r>
            <a:r>
              <a: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4</a:t>
            </a:r>
            <a:endPara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pic>
        <p:nvPicPr>
          <p:cNvPr id="17" name="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180560" y="2439629"/>
            <a:ext cx="2892642" cy="4215581"/>
          </a:xfrm>
          <a:prstGeom prst="rect">
            <a:avLst/>
          </a:prstGeom>
        </p:spPr>
      </p:pic>
      <p:pic>
        <p:nvPicPr>
          <p:cNvPr id="18" name="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4419754" y="2430560"/>
            <a:ext cx="6168654" cy="4016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752678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727737"/>
            <a:ext cx="10515600" cy="435133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ko-KR" altLang="en-US"/>
              <a:t>방사능 물질의 위험도 측정 시스템 </a:t>
            </a:r>
            <a:r>
              <a:rPr lang="en-US" altLang="ko-KR" b="1"/>
              <a:t>State Diagram</a:t>
            </a:r>
            <a:endParaRPr lang="en-US" altLang="ko-KR"/>
          </a:p>
          <a:p>
            <a:pPr>
              <a:defRPr/>
            </a:pPr>
            <a:endParaRPr lang="ko-KR" altLang="en-US" sz="2500" b="1"/>
          </a:p>
          <a:p>
            <a:pPr marL="0" indent="0">
              <a:buNone/>
              <a:defRPr/>
            </a:pPr>
            <a:endParaRPr lang="ko-KR" altLang="en-US" sz="2500" b="1"/>
          </a:p>
          <a:p>
            <a:pPr marL="0" indent="0">
              <a:buNone/>
              <a:defRPr/>
            </a:pPr>
            <a:endParaRPr lang="ko-KR" altLang="en-US" sz="2500" b="1"/>
          </a:p>
          <a:p>
            <a:pPr marL="0" indent="0">
              <a:lnSpc>
                <a:spcPct val="50000"/>
              </a:lnSpc>
              <a:buNone/>
              <a:defRPr/>
            </a:pPr>
            <a:endParaRPr lang="ko-KR" altLang="en-US" sz="2500" b="1"/>
          </a:p>
          <a:p>
            <a:pPr marL="0" indent="0">
              <a:buNone/>
              <a:defRPr/>
            </a:pPr>
            <a:endParaRPr lang="ko-KR" altLang="en-US" sz="2500" b="1"/>
          </a:p>
        </p:txBody>
      </p:sp>
      <p:sp>
        <p:nvSpPr>
          <p:cNvPr id="5" name="Title 1"/>
          <p:cNvSpPr>
            <a:spLocks noGrp="1"/>
          </p:cNvSpPr>
          <p:nvPr/>
        </p:nvSpPr>
        <p:spPr>
          <a:xfrm>
            <a:off x="449679" y="365125"/>
            <a:ext cx="7958890" cy="1003272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p>
            <a:pPr marL="0" lvl="0" indent="0" algn="l" defTabSz="914400" rtl="0" eaLnBrk="1" latinLnBrk="1" hangingPunct="1">
              <a:lnSpc>
                <a:spcPct val="130000"/>
              </a:lnSpc>
              <a:spcBef>
                <a:spcPct val="0"/>
              </a:spcBef>
              <a:spcAft>
                <a:spcPts val="0"/>
              </a:spcAft>
              <a:buFont typeface="Wingdings"/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Critical System</a:t>
            </a:r>
            <a:r>
              <a:rPr xmlns:mc="http://schemas.openxmlformats.org/markup-compatibility/2006" xmlns:hp="http://schemas.haansoft.com/office/presentation/8.0" kumimoji="0" lang="ko-KR" altLang="en-US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</a:t>
            </a:r>
            <a:r>
              <a:rPr xmlns:mc="http://schemas.openxmlformats.org/markup-compatibility/2006" xmlns:hp="http://schemas.haansoft.com/office/presentation/8.0" kumimoji="0" lang="ko-KR" altLang="en-US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과제 </a:t>
            </a:r>
            <a:r>
              <a: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4</a:t>
            </a:r>
            <a:endParaRPr xmlns:mc="http://schemas.openxmlformats.org/markup-compatibility/2006" xmlns:hp="http://schemas.haansoft.com/office/presentation/8.0" kumimoji="0" lang="en-US" altLang="ko-KR" sz="3000" b="1" i="0" u="none" strike="noStrike" kern="120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426565783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58CE5A-60DB-DE6A-7287-E38E7C18E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005746-91CA-19A7-0E89-85309B67C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8A8BFB-F80A-B036-E176-39EAB67B02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방사능 물질의 위험도 측정 시스템 시퀀스 다이어그램</a:t>
            </a:r>
          </a:p>
        </p:txBody>
      </p:sp>
    </p:spTree>
    <p:extLst>
      <p:ext uri="{BB962C8B-B14F-4D97-AF65-F5344CB8AC3E}">
        <p14:creationId xmlns:p14="http://schemas.microsoft.com/office/powerpoint/2010/main" val="22713361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E20C0-F6C8-D7F0-24D8-8089C3D3BD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8100E1-82FC-222D-DDC9-9365C421B7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880E8C-E572-BF08-0A94-5647CF23E4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방사능 물질의 위험도 측정 시스템 시퀀스 다이어그램</a:t>
            </a:r>
          </a:p>
        </p:txBody>
      </p:sp>
    </p:spTree>
    <p:extLst>
      <p:ext uri="{BB962C8B-B14F-4D97-AF65-F5344CB8AC3E}">
        <p14:creationId xmlns:p14="http://schemas.microsoft.com/office/powerpoint/2010/main" val="5050538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3E5AF-D0A6-9AF7-0D17-ECFD97164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701148-CE52-6A4D-A07C-6941047948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D69086-A82D-307A-0C37-79A8BF4029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방사능 물질의 위험도 측정 시스템 상태 다이어그램</a:t>
            </a:r>
          </a:p>
        </p:txBody>
      </p:sp>
    </p:spTree>
    <p:extLst>
      <p:ext uri="{BB962C8B-B14F-4D97-AF65-F5344CB8AC3E}">
        <p14:creationId xmlns:p14="http://schemas.microsoft.com/office/powerpoint/2010/main" val="10327571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FBC45-E4D9-2662-FD5A-AA8DB32BD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61A050-31E7-E098-39D6-21D4718E7E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D6D800-975E-2883-E77A-495E588F0C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교내 보행자 안전 시스템 </a:t>
            </a:r>
            <a:r>
              <a:rPr lang="en-US" altLang="ko-KR" dirty="0"/>
              <a:t>MAPE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081162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658E7-35AA-5BF4-8038-833ECB8F6C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722179-9799-ED3F-31DC-C2DBA555D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A26657-8CF4-5C37-CB2A-6CD2C7C360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교내 보행자 안전 시스템 필드 설정</a:t>
            </a:r>
          </a:p>
        </p:txBody>
      </p:sp>
    </p:spTree>
    <p:extLst>
      <p:ext uri="{BB962C8B-B14F-4D97-AF65-F5344CB8AC3E}">
        <p14:creationId xmlns:p14="http://schemas.microsoft.com/office/powerpoint/2010/main" val="11056729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35BCF-F2A0-C481-1C3E-F76B1A237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CEA4A8-2FA3-1DC2-42D5-6CFF1CBA18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F98C5-6F8C-DC60-6381-427711D611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교내 보행자 안전 시스템 함수 추상화</a:t>
            </a:r>
          </a:p>
        </p:txBody>
      </p:sp>
    </p:spTree>
    <p:extLst>
      <p:ext uri="{BB962C8B-B14F-4D97-AF65-F5344CB8AC3E}">
        <p14:creationId xmlns:p14="http://schemas.microsoft.com/office/powerpoint/2010/main" val="39228310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E5E5FF-197B-F27A-6F32-66EA8DE97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DFE4C-47D8-7CA5-E45C-401424B6F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886622-B415-C6AB-FB0B-FD948DFA9A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교내 보행자 안전 시스템 함수 추상화</a:t>
            </a:r>
            <a:endParaRPr lang="en-US" altLang="ko-KR" dirty="0"/>
          </a:p>
          <a:p>
            <a:pPr>
              <a:defRPr/>
            </a:pPr>
            <a:r>
              <a:rPr lang="ko-KR" altLang="en-US" dirty="0"/>
              <a:t>교내 보행자 안전 시스템 평가 방법</a:t>
            </a:r>
            <a:endParaRPr lang="en-US" altLang="ko-KR" dirty="0"/>
          </a:p>
          <a:p>
            <a:pPr>
              <a:defRPr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194678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US" altLang="ko-KR" dirty="0"/>
              <a:t>Risk Management</a:t>
            </a:r>
          </a:p>
          <a:p>
            <a:pPr>
              <a:defRPr/>
            </a:pPr>
            <a:r>
              <a:rPr lang="ko-KR" altLang="en-US" dirty="0"/>
              <a:t>소프트웨어 품질 혹은 프로젝트 일정에 영향을 미치는 위험 예측</a:t>
            </a:r>
            <a:endParaRPr lang="en-US" altLang="ko-KR" dirty="0"/>
          </a:p>
          <a:p>
            <a:pPr>
              <a:defRPr/>
            </a:pPr>
            <a:r>
              <a:rPr lang="ko-KR" altLang="en-US" dirty="0"/>
              <a:t>프로젝트 위험</a:t>
            </a:r>
            <a:endParaRPr lang="en-US" altLang="ko-KR" dirty="0"/>
          </a:p>
          <a:p>
            <a:pPr>
              <a:defRPr/>
            </a:pPr>
            <a:r>
              <a:rPr lang="ko-KR" altLang="en-US" dirty="0"/>
              <a:t>제품 위험</a:t>
            </a:r>
            <a:endParaRPr lang="en-US" altLang="ko-KR" dirty="0"/>
          </a:p>
          <a:p>
            <a:pPr>
              <a:defRPr/>
            </a:pPr>
            <a:r>
              <a:rPr lang="ko-KR" altLang="en-US" dirty="0"/>
              <a:t>비즈니스 위험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7025922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0F0D2-9772-5FA5-925C-DF41A79851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F1C82-3DCC-20D9-3D67-9F0F35329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4E117F-D338-97E4-5B1D-2C6B9A2552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defRPr/>
            </a:pPr>
            <a:r>
              <a:rPr lang="ko-KR" altLang="en-US" dirty="0"/>
              <a:t>위험 관리 프로세스</a:t>
            </a:r>
            <a:endParaRPr lang="en-US" altLang="ko-KR" dirty="0"/>
          </a:p>
          <a:p>
            <a:pPr>
              <a:defRPr/>
            </a:pPr>
            <a:r>
              <a:rPr lang="ko-KR" altLang="en-US" dirty="0"/>
              <a:t>위험 식별</a:t>
            </a:r>
            <a:r>
              <a:rPr lang="en-US" altLang="ko-KR" dirty="0"/>
              <a:t>(Risk identification)</a:t>
            </a:r>
          </a:p>
          <a:p>
            <a:pPr>
              <a:defRPr/>
            </a:pPr>
            <a:r>
              <a:rPr lang="ko-KR" altLang="en-US" dirty="0"/>
              <a:t>위험 분석</a:t>
            </a:r>
            <a:r>
              <a:rPr lang="en-US" altLang="ko-KR" dirty="0"/>
              <a:t>(Risk analysis)</a:t>
            </a:r>
          </a:p>
          <a:p>
            <a:pPr>
              <a:defRPr/>
            </a:pPr>
            <a:r>
              <a:rPr lang="ko-KR" altLang="en-US" dirty="0"/>
              <a:t>위험 가능성 평가</a:t>
            </a:r>
            <a:endParaRPr lang="en-US" altLang="ko-KR" dirty="0"/>
          </a:p>
          <a:p>
            <a:pPr>
              <a:defRPr/>
            </a:pPr>
            <a:r>
              <a:rPr lang="ko-KR" altLang="en-US" dirty="0"/>
              <a:t>위험 결과 평가</a:t>
            </a:r>
            <a:endParaRPr lang="en-US" altLang="ko-KR" dirty="0"/>
          </a:p>
          <a:p>
            <a:pPr>
              <a:defRPr/>
            </a:pPr>
            <a:r>
              <a:rPr lang="ko-KR" altLang="en-US" dirty="0"/>
              <a:t>위험 계획</a:t>
            </a:r>
            <a:r>
              <a:rPr lang="en-US" altLang="ko-KR" dirty="0"/>
              <a:t>(Risk planning)</a:t>
            </a:r>
          </a:p>
          <a:p>
            <a:pPr>
              <a:defRPr/>
            </a:pPr>
            <a:r>
              <a:rPr lang="ko-KR" altLang="en-US" dirty="0"/>
              <a:t>회피전략</a:t>
            </a:r>
            <a:endParaRPr lang="en-US" altLang="ko-KR" dirty="0"/>
          </a:p>
          <a:p>
            <a:pPr>
              <a:defRPr/>
            </a:pPr>
            <a:r>
              <a:rPr lang="ko-KR" altLang="en-US" dirty="0"/>
              <a:t>최소화전략</a:t>
            </a:r>
            <a:endParaRPr lang="en-US" altLang="ko-KR" dirty="0"/>
          </a:p>
          <a:p>
            <a:pPr>
              <a:defRPr/>
            </a:pPr>
            <a:r>
              <a:rPr lang="ko-KR" altLang="en-US" dirty="0"/>
              <a:t>비상계획</a:t>
            </a:r>
            <a:endParaRPr lang="en-US" altLang="ko-KR" dirty="0"/>
          </a:p>
          <a:p>
            <a:pPr>
              <a:defRPr/>
            </a:pPr>
            <a:r>
              <a:rPr lang="ko-KR" altLang="en-US" dirty="0"/>
              <a:t>위험 감시</a:t>
            </a:r>
            <a:r>
              <a:rPr lang="en-US" altLang="ko-KR" dirty="0"/>
              <a:t>(Risk monitoring)</a:t>
            </a:r>
          </a:p>
        </p:txBody>
      </p:sp>
    </p:spTree>
    <p:extLst>
      <p:ext uri="{BB962C8B-B14F-4D97-AF65-F5344CB8AC3E}">
        <p14:creationId xmlns:p14="http://schemas.microsoft.com/office/powerpoint/2010/main" val="41209451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위험관리</a:t>
            </a:r>
            <a:r>
              <a:rPr lang="en-US" altLang="ko-KR" dirty="0"/>
              <a:t> MAPE - </a:t>
            </a:r>
            <a:r>
              <a:rPr lang="ko-KR" altLang="en-US" dirty="0"/>
              <a:t>유형</a:t>
            </a:r>
          </a:p>
        </p:txBody>
      </p:sp>
    </p:spTree>
    <p:extLst>
      <p:ext uri="{BB962C8B-B14F-4D97-AF65-F5344CB8AC3E}">
        <p14:creationId xmlns:p14="http://schemas.microsoft.com/office/powerpoint/2010/main" val="11255891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C682D5-57F9-F424-9316-0568BC01E4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5BA82-573D-E3F9-50EB-8F6448DB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94BA9C-6870-37B2-E90F-78859227FC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위험관리</a:t>
            </a:r>
            <a:r>
              <a:rPr lang="en-US" altLang="ko-KR" dirty="0"/>
              <a:t> MAPE - </a:t>
            </a:r>
            <a:r>
              <a:rPr lang="ko-KR" altLang="en-US" dirty="0"/>
              <a:t>식별</a:t>
            </a:r>
          </a:p>
        </p:txBody>
      </p:sp>
    </p:spTree>
    <p:extLst>
      <p:ext uri="{BB962C8B-B14F-4D97-AF65-F5344CB8AC3E}">
        <p14:creationId xmlns:p14="http://schemas.microsoft.com/office/powerpoint/2010/main" val="1565840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FA2E5-9769-509C-2CFB-B7184441E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CA5D74-707D-9CF4-3627-F3B8D0795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DD7264-AC71-735A-5010-C0EC99FF75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위험관리</a:t>
            </a:r>
            <a:r>
              <a:rPr lang="en-US" altLang="ko-KR" dirty="0"/>
              <a:t> MAPE - </a:t>
            </a:r>
            <a:r>
              <a:rPr lang="ko-KR" altLang="en-US" dirty="0"/>
              <a:t>분석</a:t>
            </a:r>
          </a:p>
        </p:txBody>
      </p:sp>
    </p:spTree>
    <p:extLst>
      <p:ext uri="{BB962C8B-B14F-4D97-AF65-F5344CB8AC3E}">
        <p14:creationId xmlns:p14="http://schemas.microsoft.com/office/powerpoint/2010/main" val="18448607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F658C-9793-A133-E609-0E121FB8C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3CEE2E-D453-C508-C267-FB5BC13FDC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38A9D7-2FA1-8EAA-B7B2-D28D71FDCF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위험관리</a:t>
            </a:r>
            <a:r>
              <a:rPr lang="en-US" altLang="ko-KR" dirty="0"/>
              <a:t> MAPE - </a:t>
            </a:r>
            <a:r>
              <a:rPr lang="ko-KR" altLang="en-US" dirty="0"/>
              <a:t>전략</a:t>
            </a:r>
          </a:p>
        </p:txBody>
      </p:sp>
    </p:spTree>
    <p:extLst>
      <p:ext uri="{BB962C8B-B14F-4D97-AF65-F5344CB8AC3E}">
        <p14:creationId xmlns:p14="http://schemas.microsoft.com/office/powerpoint/2010/main" val="27328974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32052-5A49-BBCE-FE09-FAD6C64F8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11FFD6-818E-854E-F478-15EE408EB6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5506DA-511A-7044-082A-BDA66FAAE3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위험관리</a:t>
            </a:r>
            <a:r>
              <a:rPr lang="en-US" altLang="ko-KR" dirty="0"/>
              <a:t> MAPE - </a:t>
            </a:r>
            <a:r>
              <a:rPr lang="ko-KR" altLang="en-US" dirty="0"/>
              <a:t>감시</a:t>
            </a:r>
          </a:p>
        </p:txBody>
      </p:sp>
    </p:spTree>
    <p:extLst>
      <p:ext uri="{BB962C8B-B14F-4D97-AF65-F5344CB8AC3E}">
        <p14:creationId xmlns:p14="http://schemas.microsoft.com/office/powerpoint/2010/main" val="75025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6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최종 주제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교내 보행자 안전 시스템에 대한 간단한 설명</a:t>
            </a:r>
          </a:p>
        </p:txBody>
      </p:sp>
    </p:spTree>
    <p:extLst>
      <p:ext uri="{BB962C8B-B14F-4D97-AF65-F5344CB8AC3E}">
        <p14:creationId xmlns:p14="http://schemas.microsoft.com/office/powerpoint/2010/main" val="37662777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6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설계과정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설계 단계에서 논의 된 내용을 간략히 설명</a:t>
            </a:r>
          </a:p>
        </p:txBody>
      </p:sp>
    </p:spTree>
    <p:extLst>
      <p:ext uri="{BB962C8B-B14F-4D97-AF65-F5344CB8AC3E}">
        <p14:creationId xmlns:p14="http://schemas.microsoft.com/office/powerpoint/2010/main" val="36177083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6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설계과정</a:t>
            </a:r>
            <a:endParaRPr lang="en-US" altLang="ko-K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최종적으로 설계된 구체적인 내용 설명</a:t>
            </a:r>
          </a:p>
        </p:txBody>
      </p:sp>
    </p:spTree>
    <p:extLst>
      <p:ext uri="{BB962C8B-B14F-4D97-AF65-F5344CB8AC3E}">
        <p14:creationId xmlns:p14="http://schemas.microsoft.com/office/powerpoint/2010/main" val="34778905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6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설계과정</a:t>
            </a:r>
            <a:endParaRPr lang="en-US" altLang="ko-K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최종적으로 설계된 구체적인 내용 설명</a:t>
            </a:r>
          </a:p>
        </p:txBody>
      </p:sp>
    </p:spTree>
    <p:extLst>
      <p:ext uri="{BB962C8B-B14F-4D97-AF65-F5344CB8AC3E}">
        <p14:creationId xmlns:p14="http://schemas.microsoft.com/office/powerpoint/2010/main" val="35280413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6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설계과정</a:t>
            </a:r>
            <a:endParaRPr lang="en-US" altLang="ko-K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최종적으로 설계된 구체적인 내용 설명</a:t>
            </a:r>
          </a:p>
        </p:txBody>
      </p:sp>
    </p:spTree>
    <p:extLst>
      <p:ext uri="{BB962C8B-B14F-4D97-AF65-F5344CB8AC3E}">
        <p14:creationId xmlns:p14="http://schemas.microsoft.com/office/powerpoint/2010/main" val="3516441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6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개발과정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업무분담</a:t>
            </a:r>
          </a:p>
        </p:txBody>
      </p:sp>
    </p:spTree>
    <p:extLst>
      <p:ext uri="{BB962C8B-B14F-4D97-AF65-F5344CB8AC3E}">
        <p14:creationId xmlns:p14="http://schemas.microsoft.com/office/powerpoint/2010/main" val="7726447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실제 개발 과정</a:t>
            </a:r>
            <a:r>
              <a:rPr lang="en-US" altLang="ko-KR"/>
              <a:t>(</a:t>
            </a:r>
            <a:r>
              <a:rPr lang="ko-KR" altLang="en-US"/>
              <a:t>형상관리 이미지 포함</a:t>
            </a:r>
            <a:r>
              <a:rPr lang="en-US" altLang="ko-KR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722855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실제 개발 과정</a:t>
            </a:r>
            <a:r>
              <a:rPr lang="en-US" altLang="ko-KR"/>
              <a:t>(</a:t>
            </a:r>
            <a:r>
              <a:rPr lang="ko-KR" altLang="en-US"/>
              <a:t>형상관리 이미지 포함</a:t>
            </a:r>
            <a:r>
              <a:rPr lang="en-US" altLang="ko-KR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974054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실제 개발 과정</a:t>
            </a:r>
            <a:r>
              <a:rPr lang="en-US" altLang="ko-KR"/>
              <a:t>(</a:t>
            </a:r>
            <a:r>
              <a:rPr lang="ko-KR" altLang="en-US"/>
              <a:t>형상관리 이미지 포함</a:t>
            </a:r>
            <a:r>
              <a:rPr lang="en-US" altLang="ko-KR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7021224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실제 개발 과정</a:t>
            </a:r>
            <a:r>
              <a:rPr lang="en-US" altLang="ko-KR"/>
              <a:t>(</a:t>
            </a:r>
            <a:r>
              <a:rPr lang="ko-KR" altLang="en-US"/>
              <a:t>형상관리 이미지 포함</a:t>
            </a:r>
            <a:r>
              <a:rPr lang="en-US" altLang="ko-KR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9376110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과제 </a:t>
            </a:r>
            <a:r>
              <a:rPr lang="en-US" altLang="ko-KR"/>
              <a:t>6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7498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마무리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한 학기 마무리 감상</a:t>
            </a:r>
          </a:p>
        </p:txBody>
      </p:sp>
    </p:spTree>
    <p:extLst>
      <p:ext uri="{BB962C8B-B14F-4D97-AF65-F5344CB8AC3E}">
        <p14:creationId xmlns:p14="http://schemas.microsoft.com/office/powerpoint/2010/main" val="16060311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12162689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/>
      <a:lstStyle/>
      <a:style>
        <a:lnRef idx="2">
          <a:schemeClr val="accent1">
            <a:shade val="2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/>
      <a:lstStyle/>
    </a:txDef>
  </a:objectDefaul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/>
      <a:lstStyle/>
      <a:style>
        <a:lnRef idx="2">
          <a:schemeClr val="accent1">
            <a:shade val="2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/>
      <a:lstStyle/>
    </a:txDef>
  </a:objectDefaul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1308</ep:Words>
  <ep:PresentationFormat>Widescreen</ep:PresentationFormat>
  <ep:Paragraphs>362</ep:Paragraphs>
  <ep:Slides>57</ep:Slides>
  <ep:Notes>1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57</vt:i4>
      </vt:variant>
    </vt:vector>
  </ep:HeadingPairs>
  <ep:TitlesOfParts>
    <vt:vector size="58" baseType="lpstr">
      <vt:lpstr>Office Theme</vt:lpstr>
      <vt:lpstr>소프트웨어 응용설계</vt:lpstr>
      <vt:lpstr>목차</vt:lpstr>
      <vt:lpstr>Autonomic Computing Evaluation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슬라이드 18</vt:lpstr>
      <vt:lpstr>슬라이드 19</vt:lpstr>
      <vt:lpstr>슬라이드 20</vt:lpstr>
      <vt:lpstr>슬라이드 21</vt:lpstr>
      <vt:lpstr>슬라이드 22</vt:lpstr>
      <vt:lpstr>슬라이드 23</vt:lpstr>
      <vt:lpstr>슬라이드 24</vt:lpstr>
      <vt:lpstr>슬라이드 25</vt:lpstr>
      <vt:lpstr>슬라이드 26</vt:lpstr>
      <vt:lpstr>슬라이드 27</vt:lpstr>
      <vt:lpstr>슬라이드 28</vt:lpstr>
      <vt:lpstr>슬라이드 29</vt:lpstr>
      <vt:lpstr>슬라이드 30</vt:lpstr>
      <vt:lpstr>과제 4</vt:lpstr>
      <vt:lpstr>과제 4</vt:lpstr>
      <vt:lpstr>과제 4</vt:lpstr>
      <vt:lpstr>과제 4</vt:lpstr>
      <vt:lpstr>과제 4</vt:lpstr>
      <vt:lpstr>과제 5</vt:lpstr>
      <vt:lpstr>과제 5</vt:lpstr>
      <vt:lpstr>과제 5</vt:lpstr>
      <vt:lpstr>과제 5</vt:lpstr>
      <vt:lpstr>과제 5</vt:lpstr>
      <vt:lpstr>과제 5</vt:lpstr>
      <vt:lpstr>과제 5</vt:lpstr>
      <vt:lpstr>과제 6 - 최종 주제</vt:lpstr>
      <vt:lpstr>과제 6 - 설계과정</vt:lpstr>
      <vt:lpstr>과제 6 - 설계과정</vt:lpstr>
      <vt:lpstr>과제 6 - 설계과정</vt:lpstr>
      <vt:lpstr>과제 6 - 설계과정</vt:lpstr>
      <vt:lpstr>과제 6 - 개발과정</vt:lpstr>
      <vt:lpstr>과제 6</vt:lpstr>
      <vt:lpstr>과제 6</vt:lpstr>
      <vt:lpstr>과제 6</vt:lpstr>
      <vt:lpstr>과제 6</vt:lpstr>
      <vt:lpstr>과제 6 - DEMO</vt:lpstr>
      <vt:lpstr>마무리</vt:lpstr>
      <vt:lpstr>슬라이드 55</vt:lpstr>
      <vt:lpstr>슬라이드 56</vt:lpstr>
      <vt:lpstr>슬라이드 57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2025-11-16T08:43:41.000</dcterms:created>
  <dc:creator>Jongyoun Pyeon</dc:creator>
  <cp:lastModifiedBy>owXD0</cp:lastModifiedBy>
  <dcterms:modified xsi:type="dcterms:W3CDTF">2025-11-26T08:17:11.742</dcterms:modified>
  <cp:revision>45</cp:revision>
  <cp:version/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