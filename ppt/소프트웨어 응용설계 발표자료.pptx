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0"/>
  </p:notesMasterIdLst>
  <p:sldIdLst>
    <p:sldId id="256" r:id="rId2"/>
    <p:sldId id="257" r:id="rId3"/>
    <p:sldId id="258" r:id="rId4"/>
    <p:sldId id="259" r:id="rId5"/>
    <p:sldId id="283" r:id="rId6"/>
    <p:sldId id="285" r:id="rId7"/>
    <p:sldId id="286" r:id="rId8"/>
    <p:sldId id="287" r:id="rId9"/>
    <p:sldId id="288" r:id="rId10"/>
    <p:sldId id="289" r:id="rId11"/>
    <p:sldId id="261" r:id="rId12"/>
    <p:sldId id="260" r:id="rId13"/>
    <p:sldId id="290" r:id="rId14"/>
    <p:sldId id="291" r:id="rId15"/>
    <p:sldId id="262" r:id="rId16"/>
    <p:sldId id="295" r:id="rId17"/>
    <p:sldId id="263" r:id="rId18"/>
    <p:sldId id="292" r:id="rId19"/>
    <p:sldId id="293" r:id="rId20"/>
    <p:sldId id="294" r:id="rId21"/>
    <p:sldId id="264" r:id="rId22"/>
    <p:sldId id="265" r:id="rId23"/>
    <p:sldId id="296" r:id="rId24"/>
    <p:sldId id="297" r:id="rId25"/>
    <p:sldId id="298" r:id="rId26"/>
    <p:sldId id="299" r:id="rId27"/>
    <p:sldId id="300" r:id="rId28"/>
    <p:sldId id="301" r:id="rId29"/>
    <p:sldId id="302" r:id="rId30"/>
    <p:sldId id="305" r:id="rId31"/>
    <p:sldId id="303" r:id="rId32"/>
    <p:sldId id="304" r:id="rId33"/>
    <p:sldId id="306" r:id="rId34"/>
    <p:sldId id="307" r:id="rId35"/>
    <p:sldId id="308" r:id="rId36"/>
    <p:sldId id="266" r:id="rId37"/>
    <p:sldId id="309" r:id="rId38"/>
    <p:sldId id="267" r:id="rId39"/>
    <p:sldId id="310" r:id="rId40"/>
    <p:sldId id="311" r:id="rId41"/>
    <p:sldId id="312" r:id="rId42"/>
    <p:sldId id="313" r:id="rId43"/>
    <p:sldId id="282" r:id="rId44"/>
    <p:sldId id="314" r:id="rId45"/>
    <p:sldId id="315" r:id="rId46"/>
    <p:sldId id="268" r:id="rId47"/>
    <p:sldId id="269" r:id="rId48"/>
    <p:sldId id="270" r:id="rId49"/>
    <p:sldId id="276" r:id="rId50"/>
    <p:sldId id="277" r:id="rId51"/>
    <p:sldId id="271" r:id="rId52"/>
    <p:sldId id="272" r:id="rId53"/>
    <p:sldId id="278" r:id="rId54"/>
    <p:sldId id="279" r:id="rId55"/>
    <p:sldId id="280" r:id="rId56"/>
    <p:sldId id="273" r:id="rId57"/>
    <p:sldId id="275" r:id="rId58"/>
    <p:sldId id="281" r:id="rId5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7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24" y="72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668465-D334-4657-879C-DD8741229252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4BA605-15B5-4CAD-807D-CD3DB072E0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2956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4BA605-15B5-4CAD-807D-CD3DB072E041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36363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EFE66-ACD3-963D-BA68-3E6F89C19A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129E2B-5896-0874-FF2B-DA42778614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Click to edit Master subtitle style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3A390-0BDC-B1B6-396C-BAFCDA52C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A4D9A-9094-449E-894D-14A4E9ED5F44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405C4D-3CF4-0EB1-2AFD-FC787FCDF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81B63-7E49-7454-0DCB-6A1D5A705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67ED6-1E03-4DC5-B1E1-D451A17D04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1808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7F211-7257-6E47-AAA9-56701A8E8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06EBD-3534-5D58-A452-22A532714E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F50316-B835-3324-3D6D-7A5580367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A4D9A-9094-449E-894D-14A4E9ED5F44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04A430-AAD7-E3CC-65CF-B1A224207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39E807-36C3-075B-6A39-327DFD63F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67ED6-1E03-4DC5-B1E1-D451A17D04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8276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1DA13-242E-2762-ACAE-E9136805F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FCB62C-D64D-C21E-384F-E2DC55427C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1D294F-6D3F-27FB-6DB4-1E471DF5D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A4D9A-9094-449E-894D-14A4E9ED5F44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ECD277-F29D-FEDD-937F-1FFAAEEF5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1F556D-4AA8-FD95-076E-7B873E30A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67ED6-1E03-4DC5-B1E1-D451A17D04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892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BF21E-E861-2404-45B7-CE99284D5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AD6A5-E59B-C23C-4AF7-50D03E56E5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8BFA46-0C2D-099E-76BE-5904F4C756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8726CA-7362-2A40-FCA6-45AE1B719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A4D9A-9094-449E-894D-14A4E9ED5F44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D0A70E-D6D8-B3DE-8C4A-D61CDB40A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C7D4EE-8203-A76E-7054-F3D3D4DED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67ED6-1E03-4DC5-B1E1-D451A17D04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5341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B9F6C-58B0-0AA8-0098-7E16422C1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9E5552-DAAA-39FF-4F40-EA3A73EDCA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874E52-58A3-80A6-BFD6-4A1248715A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77357F-352C-0691-7A53-2E2DB4A264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8E2E32-E4CE-60BB-001B-924995F464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3DBCAD-73EA-EE39-2689-F03340B29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A4D9A-9094-449E-894D-14A4E9ED5F44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9029E0-DE30-96ED-977C-62BBF47B3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8734CD-8A27-EE9B-51C6-8B1916B5C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67ED6-1E03-4DC5-B1E1-D451A17D04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6196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713CC-BBAD-B513-211A-242D22C7E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481747-AFE4-7061-7BFD-74A77653D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A4D9A-9094-449E-894D-14A4E9ED5F44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828259-39AF-FD41-EDB1-37F42AE9F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AB063E-B9EA-5F5F-EDFF-B60720AFB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67ED6-1E03-4DC5-B1E1-D451A17D04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5632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3D6908-AFC5-9798-4F44-E87B1CDC3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A4D9A-9094-449E-894D-14A4E9ED5F44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0FC89B-A1EB-1A55-5DF8-8622E8C6B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67478F-8B50-BB4A-DF1B-69C3679D4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67ED6-1E03-4DC5-B1E1-D451A17D04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0553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52168-6CE9-47D0-C968-A67A9C986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44A151-2DB8-25B4-C36A-628839044A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6E8512-D96E-CFC4-27E0-38B4D1D7A0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2E75EC-ABBC-89C0-5768-7F92B1DF5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A4D9A-9094-449E-894D-14A4E9ED5F44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5E4F50-84B6-55A7-24C0-0077E3F5D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39ABDB-C0F0-A0DC-D337-69CAC576C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67ED6-1E03-4DC5-B1E1-D451A17D04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06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2CDC-BFCC-6C34-605D-A5D59D58C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DB0889-1858-05A7-1DD0-F83AFD0A8B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D218F9-D604-4C5E-A5E6-B72ACAA145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C68D85-F2ED-C4B5-2550-F5EC32122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A4D9A-9094-449E-894D-14A4E9ED5F44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14D9B7-6EC0-9A5C-D320-8F5679E0A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B2BA83-55B0-EF50-D15C-2F794AEF4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67ED6-1E03-4DC5-B1E1-D451A17D04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787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14327-C68C-A8FB-4F3F-F616324D8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EB54A7-A704-F138-FBD8-BFC5E747E3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C23EBE-F0DD-CC84-F550-2FA34990D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A4D9A-9094-449E-894D-14A4E9ED5F44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736D24-890A-5999-2AD5-5CF71A552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D1EFD-5D45-86D7-1E76-B9C26E568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67ED6-1E03-4DC5-B1E1-D451A17D04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6421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F02FB4-A746-388B-71E3-22F668AAEF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A24505-1C62-B9BF-B5EF-CBB9C70697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EF13C1-F554-F254-40F1-32F4E2770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A4D9A-9094-449E-894D-14A4E9ED5F44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C2C533-DFF5-17A5-58B0-EF3D39345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8E8FEF-0795-E09C-86D4-7C3BEB48F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67ED6-1E03-4DC5-B1E1-D451A17D04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7612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354455-04CA-CB30-0D88-BD91484BB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28AA7B-B686-5489-A8BF-BAB41D2510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E191B-D645-C229-188C-ADCE116167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6A4D9A-9094-449E-894D-14A4E9ED5F44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2A11A3-0B59-F601-0194-CD556D7C67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A11ABC-DDA8-E634-C519-3F205F1F51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C67ED6-1E03-4DC5-B1E1-D451A17D04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9126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A4769-67B9-5BCF-009A-10146AEFDE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소프트웨어 응용설계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33733B-44EE-2DAD-4C3E-9A0B9EE017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조 </a:t>
            </a:r>
            <a:r>
              <a:rPr lang="en-US" altLang="ko-KR" dirty="0"/>
              <a:t>(</a:t>
            </a:r>
            <a:r>
              <a:rPr lang="ko-KR" altLang="en-US" dirty="0"/>
              <a:t>이현직</a:t>
            </a:r>
            <a:r>
              <a:rPr lang="en-US" altLang="ko-KR" dirty="0"/>
              <a:t>, </a:t>
            </a:r>
            <a:r>
              <a:rPr lang="ko-KR" altLang="en-US" dirty="0"/>
              <a:t>송정우</a:t>
            </a:r>
            <a:r>
              <a:rPr lang="en-US" altLang="ko-KR" dirty="0"/>
              <a:t>, </a:t>
            </a:r>
            <a:r>
              <a:rPr lang="ko-KR" altLang="en-US" dirty="0"/>
              <a:t>정승호</a:t>
            </a:r>
            <a:r>
              <a:rPr lang="en-US" altLang="ko-KR" dirty="0"/>
              <a:t>, </a:t>
            </a:r>
            <a:r>
              <a:rPr lang="ko-KR" altLang="en-US" dirty="0"/>
              <a:t>편종윤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50596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목차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99840" lvl="0" indent="-399840">
              <a:buFont typeface="Wingdings"/>
              <a:buChar char="§"/>
              <a:defRPr/>
            </a:pPr>
            <a:r>
              <a:rPr lang="ko-KR" altLang="en-US" dirty="0"/>
              <a:t>과제 </a:t>
            </a:r>
            <a:r>
              <a:rPr lang="en-US" altLang="ko-KR" dirty="0"/>
              <a:t>1 - Autonomic Computing Evaluation</a:t>
            </a:r>
          </a:p>
          <a:p>
            <a:pPr marL="399840" lvl="0" indent="-399840">
              <a:buFont typeface="Wingdings"/>
              <a:buChar char="§"/>
              <a:defRPr/>
            </a:pPr>
            <a:r>
              <a:rPr lang="ko-KR" altLang="en-US" dirty="0"/>
              <a:t>과제 </a:t>
            </a:r>
            <a:r>
              <a:rPr lang="en-US" altLang="ko-KR" dirty="0"/>
              <a:t>2 - System</a:t>
            </a:r>
            <a:r>
              <a:rPr lang="ko-KR" altLang="en-US" dirty="0"/>
              <a:t> </a:t>
            </a:r>
            <a:r>
              <a:rPr lang="en-US" altLang="ko-KR" dirty="0"/>
              <a:t>Design</a:t>
            </a:r>
          </a:p>
          <a:p>
            <a:pPr marL="399840" lvl="0" indent="-399840">
              <a:buFont typeface="Wingdings"/>
              <a:buChar char="§"/>
              <a:defRPr/>
            </a:pPr>
            <a:r>
              <a:rPr lang="ko-KR" altLang="en-US" dirty="0"/>
              <a:t>과제 </a:t>
            </a:r>
            <a:r>
              <a:rPr lang="en-US" altLang="ko-KR" dirty="0"/>
              <a:t>3 - System Status Analysis</a:t>
            </a:r>
          </a:p>
          <a:p>
            <a:pPr marL="399840" lvl="0" indent="-399840">
              <a:buFont typeface="Wingdings"/>
              <a:buChar char="§"/>
              <a:defRPr/>
            </a:pPr>
            <a:r>
              <a:rPr lang="ko-KR" altLang="en-US" dirty="0"/>
              <a:t>과제 </a:t>
            </a:r>
            <a:r>
              <a:rPr lang="en-US" altLang="ko-KR" dirty="0"/>
              <a:t>4 - Critical System</a:t>
            </a:r>
          </a:p>
          <a:p>
            <a:pPr marL="399840" lvl="0" indent="-399840">
              <a:buFont typeface="Wingdings"/>
              <a:buChar char="§"/>
              <a:defRPr/>
            </a:pPr>
            <a:r>
              <a:rPr lang="ko-KR" altLang="en-US" dirty="0"/>
              <a:t>과제 </a:t>
            </a:r>
            <a:r>
              <a:rPr lang="en-US" altLang="ko-KR" dirty="0"/>
              <a:t>5 - Critical System for Risk Management</a:t>
            </a:r>
            <a:endParaRPr lang="ko-KR" altLang="en-US" dirty="0"/>
          </a:p>
          <a:p>
            <a:pPr marL="399840" lvl="0" indent="-399840">
              <a:buFont typeface="Wingdings"/>
              <a:buChar char="§"/>
              <a:defRPr/>
            </a:pPr>
            <a:r>
              <a:rPr lang="ko-KR" altLang="en-US" dirty="0"/>
              <a:t>과제 </a:t>
            </a:r>
            <a:r>
              <a:rPr lang="en-US" altLang="ko-KR" dirty="0"/>
              <a:t>6 - Final Presentation and Demo</a:t>
            </a:r>
          </a:p>
          <a:p>
            <a:pPr marL="399840" lvl="0" indent="-399840">
              <a:buFont typeface="Wingdings"/>
              <a:buChar char="§"/>
              <a:defRPr/>
            </a:pPr>
            <a:r>
              <a:rPr lang="ko-KR" altLang="en-US" dirty="0"/>
              <a:t>마무리</a:t>
            </a:r>
          </a:p>
        </p:txBody>
      </p:sp>
    </p:spTree>
    <p:extLst>
      <p:ext uri="{BB962C8B-B14F-4D97-AF65-F5344CB8AC3E}">
        <p14:creationId xmlns:p14="http://schemas.microsoft.com/office/powerpoint/2010/main" val="4170316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ko-KR" altLang="en-US" sz="4000" dirty="0"/>
              <a:t>과제 </a:t>
            </a:r>
            <a:r>
              <a:rPr lang="en-US" altLang="ko-KR" sz="4000" dirty="0"/>
              <a:t>1 - Autonomic Computing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Reliability</a:t>
            </a:r>
          </a:p>
          <a:p>
            <a:pPr lvl="1">
              <a:defRPr/>
            </a:pPr>
            <a:r>
              <a:rPr lang="ko-KR" altLang="en-US" dirty="0"/>
              <a:t>구성 요소</a:t>
            </a:r>
            <a:r>
              <a:rPr lang="en-US" altLang="ko-KR" dirty="0"/>
              <a:t>, </a:t>
            </a:r>
            <a:r>
              <a:rPr lang="ko-KR" altLang="en-US" dirty="0"/>
              <a:t>통신</a:t>
            </a:r>
            <a:r>
              <a:rPr lang="en-US" altLang="ko-KR" dirty="0"/>
              <a:t>, </a:t>
            </a:r>
            <a:r>
              <a:rPr lang="ko-KR" altLang="en-US" dirty="0"/>
              <a:t>서비스 또는 시스템이 목적을 성공적으로 달성할 확률</a:t>
            </a: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>
              <a:defRPr/>
            </a:pPr>
            <a:r>
              <a:rPr lang="en-US" altLang="ko-KR" dirty="0"/>
              <a:t>Autonomic</a:t>
            </a:r>
            <a:r>
              <a:rPr lang="ko-KR" altLang="en-US" dirty="0"/>
              <a:t> </a:t>
            </a:r>
            <a:r>
              <a:rPr lang="en-US" altLang="ko-KR" dirty="0"/>
              <a:t>Computing</a:t>
            </a:r>
            <a:r>
              <a:rPr lang="ko-KR" altLang="en-US" dirty="0"/>
              <a:t>의 필요성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인간의 개입만으로 관리되는 시스템의 복잡성이 급격히 증가함 </a:t>
            </a:r>
            <a:endParaRPr lang="en-US" altLang="ko-KR" dirty="0"/>
          </a:p>
          <a:p>
            <a:pPr lvl="2">
              <a:buFont typeface="Wingdings" panose="05000000000000000000" pitchFamily="2" charset="2"/>
              <a:buChar char="è"/>
              <a:defRPr/>
            </a:pPr>
            <a:r>
              <a:rPr lang="ko-KR" altLang="en-US" dirty="0"/>
              <a:t>신뢰성 저하 추세가 가속화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신뢰성 향상을 위해 인간의 개입을 줄이고 자율 시스템으로 전환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131922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ko-KR" altLang="en-US" sz="4000" dirty="0"/>
              <a:t>과제 </a:t>
            </a:r>
            <a:r>
              <a:rPr lang="en-US" altLang="ko-KR" sz="4000" dirty="0"/>
              <a:t>1 - Autonomic Computing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en-US" altLang="ko-KR" dirty="0"/>
              <a:t>Autonomic Computing</a:t>
            </a:r>
          </a:p>
          <a:p>
            <a:pPr lvl="1">
              <a:defRPr/>
            </a:pPr>
            <a:r>
              <a:rPr lang="ko-KR" altLang="en-US" dirty="0"/>
              <a:t>자율 신경계가 우리 몸을 조절하고 보호하는 것과 같은 방식으로 스스로를 조절할 수 있는 컴퓨터 시스템 </a:t>
            </a:r>
            <a:r>
              <a:rPr lang="en-US" altLang="ko-KR" dirty="0"/>
              <a:t>(by</a:t>
            </a:r>
            <a:r>
              <a:rPr lang="ko-KR" altLang="en-US" dirty="0"/>
              <a:t> </a:t>
            </a:r>
            <a:r>
              <a:rPr lang="en-US" altLang="ko-KR" dirty="0"/>
              <a:t>Paul Horn, IBM)</a:t>
            </a:r>
          </a:p>
          <a:p>
            <a:pPr>
              <a:defRPr/>
            </a:pPr>
            <a:r>
              <a:rPr lang="en-US" altLang="ko-KR" dirty="0"/>
              <a:t>Principle Characteristics</a:t>
            </a:r>
          </a:p>
          <a:p>
            <a:pPr lvl="1">
              <a:defRPr/>
            </a:pPr>
            <a:r>
              <a:rPr lang="ko-KR" altLang="en-US" dirty="0"/>
              <a:t>자기 인식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감각을 갖추고 성능을 향상시키기 위해 노력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자율 규제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규율 의식을 가지고 있으며 환경 변화에 따라 행동을 조절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개방성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개방형 표준을 통해 소통하고 이기종 시스템과 리소스를 교환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문맥 인식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환경과 사용자의 행동을 포함한 활동의 주변 맥락을 고려</a:t>
            </a: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6954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AC027-74B7-7B0B-C862-D50B04315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 dirty="0"/>
              <a:t>과제 </a:t>
            </a:r>
            <a:r>
              <a:rPr lang="en-US" altLang="ko-KR" sz="4000" dirty="0"/>
              <a:t>1 - Autonomic Computing Evaluation</a:t>
            </a:r>
            <a:endParaRPr lang="ko-KR" alt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E4657-4F17-A05E-81E4-A140B512FE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Self-Protecting</a:t>
            </a:r>
          </a:p>
          <a:p>
            <a:pPr lvl="1"/>
            <a:r>
              <a:rPr lang="ko-KR" altLang="en-US" dirty="0"/>
              <a:t>어디서나 무단 액세스로부터 스스로를 보호하도록 설계된 시스템</a:t>
            </a:r>
            <a:endParaRPr lang="en-US" altLang="ko-KR" dirty="0"/>
          </a:p>
          <a:p>
            <a:r>
              <a:rPr lang="en-US" altLang="ko-KR" dirty="0"/>
              <a:t>Self-Optimizing</a:t>
            </a:r>
          </a:p>
          <a:p>
            <a:pPr lvl="1"/>
            <a:r>
              <a:rPr lang="ko-KR" altLang="en-US" dirty="0"/>
              <a:t>서버가 기업의 요구를 가장 효율적으로 충족할 수 있도록 리소스를 자동으로 관리하도록 설계된 시스템</a:t>
            </a:r>
            <a:endParaRPr lang="en-US" altLang="ko-KR" dirty="0"/>
          </a:p>
          <a:p>
            <a:r>
              <a:rPr lang="en-US" altLang="ko-KR" dirty="0"/>
              <a:t>Self-configuring</a:t>
            </a:r>
          </a:p>
          <a:p>
            <a:pPr lvl="1"/>
            <a:r>
              <a:rPr lang="ko-KR" altLang="en-US" dirty="0"/>
              <a:t>즉석에서 스스로를 정의하도록 설계된 시스템</a:t>
            </a:r>
            <a:endParaRPr lang="en-US" altLang="ko-KR" dirty="0"/>
          </a:p>
          <a:p>
            <a:r>
              <a:rPr lang="en-US" altLang="ko-KR" dirty="0"/>
              <a:t>Self-healing</a:t>
            </a:r>
          </a:p>
          <a:p>
            <a:pPr lvl="1"/>
            <a:r>
              <a:rPr lang="ko-KR" altLang="en-US" dirty="0"/>
              <a:t>자율적으로 문제를 결정하고 해결하는 시스템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887145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DACE6-38E6-E8B1-43D3-0695C8DDD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 dirty="0"/>
              <a:t>과제 </a:t>
            </a:r>
            <a:r>
              <a:rPr lang="en-US" altLang="ko-KR" sz="4000" dirty="0"/>
              <a:t>1 - Autonomic Computing Evaluation</a:t>
            </a:r>
            <a:endParaRPr lang="ko-KR" alt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A9B74-6C43-DF86-CD34-B1B0CD897A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혼동행렬</a:t>
            </a:r>
            <a:endParaRPr lang="en-US" altLang="ko-KR" dirty="0"/>
          </a:p>
          <a:p>
            <a:r>
              <a:rPr lang="en-US" altLang="ko-KR" dirty="0"/>
              <a:t>Accuracy(</a:t>
            </a:r>
            <a:r>
              <a:rPr lang="ko-KR" altLang="en-US" dirty="0"/>
              <a:t>정확도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Precision(</a:t>
            </a:r>
            <a:r>
              <a:rPr lang="ko-KR" altLang="en-US" dirty="0"/>
              <a:t>정밀도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Recall(</a:t>
            </a:r>
            <a:r>
              <a:rPr lang="ko-KR" altLang="en-US" dirty="0"/>
              <a:t>재현율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F1-SCORE(</a:t>
            </a:r>
            <a:r>
              <a:rPr lang="ko-KR" altLang="en-US" dirty="0"/>
              <a:t>조화평균</a:t>
            </a:r>
            <a:r>
              <a:rPr lang="en-US" altLang="ko-K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407263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02C89-078C-44B9-48A8-424A85DC6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5D36C-7AF7-08EE-1D16-A9FC9F72F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 dirty="0"/>
              <a:t>과제 </a:t>
            </a:r>
            <a:r>
              <a:rPr lang="en-US" altLang="ko-KR" sz="4000" dirty="0"/>
              <a:t>1 - Autonomic Computing Evaluation</a:t>
            </a:r>
            <a:endParaRPr lang="ko-KR" alt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E49DA-E63B-79C2-F1FF-2FB7F65ADD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ko-KR" altLang="en-US" dirty="0"/>
              <a:t>혼동행렬</a:t>
            </a:r>
            <a:endParaRPr lang="en-US" altLang="ko-KR" dirty="0"/>
          </a:p>
          <a:p>
            <a:r>
              <a:rPr lang="en-US" altLang="ko-KR" dirty="0"/>
              <a:t>API </a:t>
            </a:r>
            <a:r>
              <a:rPr lang="ko-KR" altLang="en-US" dirty="0"/>
              <a:t>호출의 경우</a:t>
            </a:r>
            <a:endParaRPr lang="en-US" altLang="ko-KR" dirty="0"/>
          </a:p>
          <a:p>
            <a:r>
              <a:rPr lang="ko-KR" altLang="en-US" dirty="0"/>
              <a:t>총 </a:t>
            </a:r>
            <a:r>
              <a:rPr lang="en-US" altLang="ko-KR" dirty="0"/>
              <a:t>800</a:t>
            </a:r>
            <a:r>
              <a:rPr lang="ko-KR" altLang="en-US" dirty="0"/>
              <a:t>건의 </a:t>
            </a:r>
            <a:r>
              <a:rPr lang="en-US" altLang="ko-KR" dirty="0"/>
              <a:t>API </a:t>
            </a:r>
            <a:r>
              <a:rPr lang="ko-KR" altLang="en-US" dirty="0"/>
              <a:t>호출 중 실제 비정상 호출</a:t>
            </a:r>
            <a:r>
              <a:rPr lang="en-US" altLang="ko-KR" dirty="0"/>
              <a:t>(</a:t>
            </a:r>
            <a:r>
              <a:rPr lang="ko-KR" altLang="en-US" dirty="0"/>
              <a:t>봇</a:t>
            </a:r>
            <a:r>
              <a:rPr lang="en-US" altLang="ko-KR" dirty="0"/>
              <a:t>, DoS 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  <a:r>
              <a:rPr lang="ko-KR" altLang="en-US" dirty="0"/>
              <a:t>은 </a:t>
            </a:r>
            <a:r>
              <a:rPr lang="en-US" altLang="ko-KR" dirty="0"/>
              <a:t>150</a:t>
            </a:r>
            <a:r>
              <a:rPr lang="ko-KR" altLang="en-US" dirty="0"/>
              <a:t>건</a:t>
            </a:r>
            <a:r>
              <a:rPr lang="en-US" altLang="ko-KR" dirty="0"/>
              <a:t>, </a:t>
            </a:r>
            <a:r>
              <a:rPr lang="ko-KR" altLang="en-US" dirty="0"/>
              <a:t>정상 호출은 </a:t>
            </a:r>
            <a:r>
              <a:rPr lang="en-US" altLang="ko-KR" dirty="0"/>
              <a:t>650</a:t>
            </a:r>
            <a:r>
              <a:rPr lang="ko-KR" altLang="en-US" dirty="0"/>
              <a:t>건이었다</a:t>
            </a:r>
            <a:r>
              <a:rPr lang="en-US" altLang="ko-KR" dirty="0"/>
              <a:t>. </a:t>
            </a:r>
            <a:r>
              <a:rPr lang="ko-KR" altLang="en-US" dirty="0"/>
              <a:t>시스템은 </a:t>
            </a:r>
            <a:r>
              <a:rPr lang="en-US" altLang="ko-KR" dirty="0"/>
              <a:t>180</a:t>
            </a:r>
            <a:r>
              <a:rPr lang="ko-KR" altLang="en-US" dirty="0"/>
              <a:t>건을 비정상 호출로 판정했는데</a:t>
            </a:r>
            <a:r>
              <a:rPr lang="en-US" altLang="ko-KR" dirty="0"/>
              <a:t>, </a:t>
            </a:r>
            <a:r>
              <a:rPr lang="ko-KR" altLang="en-US" dirty="0"/>
              <a:t>이 중 </a:t>
            </a:r>
            <a:r>
              <a:rPr lang="en-US" altLang="ko-KR" dirty="0"/>
              <a:t>130</a:t>
            </a:r>
            <a:r>
              <a:rPr lang="ko-KR" altLang="en-US" dirty="0"/>
              <a:t>건은 실제 비정상이었고 </a:t>
            </a:r>
            <a:r>
              <a:rPr lang="en-US" altLang="ko-KR" dirty="0"/>
              <a:t>50</a:t>
            </a:r>
            <a:r>
              <a:rPr lang="ko-KR" altLang="en-US" dirty="0"/>
              <a:t>건은 정상 요청을 잘못 탐지했다</a:t>
            </a:r>
            <a:r>
              <a:rPr lang="en-US" altLang="ko-KR" dirty="0"/>
              <a:t>. </a:t>
            </a:r>
            <a:r>
              <a:rPr lang="ko-KR" altLang="en-US" dirty="0"/>
              <a:t>또 </a:t>
            </a:r>
            <a:r>
              <a:rPr lang="en-US" altLang="ko-KR" dirty="0"/>
              <a:t>20</a:t>
            </a:r>
            <a:r>
              <a:rPr lang="ko-KR" altLang="en-US" dirty="0"/>
              <a:t>건의 비정상 호출은 정상으로 놓쳤다</a:t>
            </a:r>
            <a:r>
              <a:rPr lang="en-US" altLang="ko-KR" dirty="0"/>
              <a:t>.</a:t>
            </a:r>
          </a:p>
          <a:p>
            <a:pPr fontAlgn="base"/>
            <a:r>
              <a:rPr lang="en-US" altLang="ko-KR" b="1" dirty="0"/>
              <a:t>1. Accuracy(</a:t>
            </a:r>
            <a:r>
              <a:rPr lang="ko-KR" altLang="en-US" b="1" dirty="0"/>
              <a:t>정확도</a:t>
            </a:r>
            <a:r>
              <a:rPr lang="en-US" altLang="ko-KR" b="1" dirty="0"/>
              <a:t>)</a:t>
            </a:r>
            <a:endParaRPr lang="ko-KR" altLang="en-US" dirty="0"/>
          </a:p>
          <a:p>
            <a:pPr fontAlgn="base"/>
            <a:r>
              <a:rPr lang="ko-KR" altLang="en-US" dirty="0"/>
              <a:t>정확도는 해당 시스템의 예측성공 비율을 나타낸다</a:t>
            </a:r>
            <a:r>
              <a:rPr lang="en-US" altLang="ko-KR" dirty="0"/>
              <a:t>. </a:t>
            </a: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전체 건수 중에 예측이 맞은 비율이기 때문에 </a:t>
            </a:r>
            <a:r>
              <a:rPr lang="en-US" altLang="ko-KR" dirty="0"/>
              <a:t>(130 + 600) / 800 * 100(%) = 91.25(%) </a:t>
            </a:r>
            <a:r>
              <a:rPr lang="ko-KR" altLang="en-US" dirty="0"/>
              <a:t>이다</a:t>
            </a:r>
            <a:r>
              <a:rPr lang="en-US" altLang="ko-KR" dirty="0"/>
              <a:t>.</a:t>
            </a:r>
            <a:endParaRPr lang="ko-KR" altLang="en-US" dirty="0"/>
          </a:p>
          <a:p>
            <a:pPr fontAlgn="base"/>
            <a:r>
              <a:rPr lang="en-US" altLang="ko-KR" b="1" dirty="0"/>
              <a:t>2. Precision(</a:t>
            </a:r>
            <a:r>
              <a:rPr lang="ko-KR" altLang="en-US" b="1" dirty="0"/>
              <a:t>정밀도</a:t>
            </a:r>
            <a:r>
              <a:rPr lang="en-US" altLang="ko-KR" b="1" dirty="0"/>
              <a:t>)</a:t>
            </a:r>
            <a:endParaRPr lang="ko-KR" altLang="en-US" dirty="0"/>
          </a:p>
          <a:p>
            <a:pPr fontAlgn="base"/>
            <a:r>
              <a:rPr lang="ko-KR" altLang="en-US" dirty="0"/>
              <a:t>정확도는 </a:t>
            </a:r>
            <a:r>
              <a:rPr lang="en-US" altLang="ko-KR" dirty="0"/>
              <a:t>API </a:t>
            </a:r>
            <a:r>
              <a:rPr lang="ko-KR" altLang="en-US" dirty="0"/>
              <a:t>호출이 비정상이라고 예측했을 때</a:t>
            </a:r>
            <a:r>
              <a:rPr lang="en-US" altLang="ko-KR" dirty="0"/>
              <a:t>, </a:t>
            </a:r>
            <a:r>
              <a:rPr lang="ko-KR" altLang="en-US" dirty="0"/>
              <a:t>실제 비정상인 비율을 나타낸다</a:t>
            </a:r>
            <a:r>
              <a:rPr lang="en-US" altLang="ko-KR" dirty="0"/>
              <a:t>. </a:t>
            </a: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비정상이라고 예측한 수는 </a:t>
            </a:r>
            <a:r>
              <a:rPr lang="en-US" altLang="ko-KR" dirty="0"/>
              <a:t>180</a:t>
            </a:r>
            <a:r>
              <a:rPr lang="ko-KR" altLang="en-US" dirty="0"/>
              <a:t>건</a:t>
            </a:r>
            <a:r>
              <a:rPr lang="en-US" altLang="ko-KR" dirty="0"/>
              <a:t>, </a:t>
            </a:r>
            <a:r>
              <a:rPr lang="ko-KR" altLang="en-US" dirty="0"/>
              <a:t>그 중 실제 비정상인 건은 </a:t>
            </a:r>
            <a:r>
              <a:rPr lang="en-US" altLang="ko-KR" dirty="0"/>
              <a:t>130</a:t>
            </a:r>
            <a:r>
              <a:rPr lang="ko-KR" altLang="en-US" dirty="0"/>
              <a:t>이다</a:t>
            </a:r>
            <a:r>
              <a:rPr lang="en-US" altLang="ko-KR" dirty="0"/>
              <a:t>. </a:t>
            </a:r>
            <a:endParaRPr lang="ko-KR" altLang="en-US" dirty="0"/>
          </a:p>
          <a:p>
            <a:pPr fontAlgn="base"/>
            <a:r>
              <a:rPr lang="ko-KR" altLang="en-US" dirty="0"/>
              <a:t>그렇다면 정확도는 </a:t>
            </a:r>
            <a:r>
              <a:rPr lang="en-US" altLang="ko-KR" dirty="0"/>
              <a:t>130/180 * 100(%) = 72.22(%) </a:t>
            </a:r>
            <a:r>
              <a:rPr lang="ko-KR" altLang="en-US" dirty="0"/>
              <a:t>이다</a:t>
            </a:r>
            <a:r>
              <a:rPr lang="en-US" altLang="ko-KR" dirty="0"/>
              <a:t>..</a:t>
            </a:r>
            <a:endParaRPr lang="ko-KR" altLang="en-US" dirty="0"/>
          </a:p>
          <a:p>
            <a:pPr fontAlgn="base"/>
            <a:r>
              <a:rPr lang="en-US" altLang="ko-KR" b="1" dirty="0"/>
              <a:t>3. Recall(</a:t>
            </a:r>
            <a:r>
              <a:rPr lang="ko-KR" altLang="en-US" b="1" dirty="0"/>
              <a:t>재현율</a:t>
            </a:r>
            <a:r>
              <a:rPr lang="en-US" altLang="ko-KR" b="1" dirty="0"/>
              <a:t>)</a:t>
            </a:r>
            <a:endParaRPr lang="ko-KR" altLang="en-US" dirty="0"/>
          </a:p>
          <a:p>
            <a:pPr fontAlgn="base"/>
            <a:r>
              <a:rPr lang="ko-KR" altLang="en-US" dirty="0"/>
              <a:t>재현율은 실제 호출이 비정상일 때</a:t>
            </a:r>
            <a:r>
              <a:rPr lang="en-US" altLang="ko-KR" dirty="0"/>
              <a:t>, </a:t>
            </a:r>
            <a:r>
              <a:rPr lang="ko-KR" altLang="en-US" dirty="0"/>
              <a:t>그것을 시스템이 비정상이라고 예측한 비율을 나타낸다</a:t>
            </a:r>
            <a:r>
              <a:rPr lang="en-US" altLang="ko-KR" dirty="0"/>
              <a:t>. </a:t>
            </a:r>
            <a:endParaRPr lang="ko-KR" altLang="en-US" dirty="0"/>
          </a:p>
          <a:p>
            <a:pPr fontAlgn="base"/>
            <a:r>
              <a:rPr lang="ko-KR" altLang="en-US" dirty="0"/>
              <a:t>실제 비정상인 건수는 </a:t>
            </a:r>
            <a:r>
              <a:rPr lang="en-US" altLang="ko-KR" dirty="0"/>
              <a:t>150</a:t>
            </a:r>
            <a:r>
              <a:rPr lang="ko-KR" altLang="en-US" dirty="0"/>
              <a:t>건이고 실제와 예측 모두 비정상인 건은 </a:t>
            </a:r>
            <a:r>
              <a:rPr lang="en-US" altLang="ko-KR" dirty="0"/>
              <a:t>130</a:t>
            </a:r>
            <a:r>
              <a:rPr lang="ko-KR" altLang="en-US" dirty="0"/>
              <a:t>건이다</a:t>
            </a:r>
            <a:r>
              <a:rPr lang="en-US" altLang="ko-KR" dirty="0"/>
              <a:t>.</a:t>
            </a:r>
            <a:endParaRPr lang="ko-KR" altLang="en-US" dirty="0"/>
          </a:p>
          <a:p>
            <a:pPr fontAlgn="base"/>
            <a:r>
              <a:rPr lang="ko-KR" altLang="en-US" dirty="0"/>
              <a:t>그러므로 재현율은 </a:t>
            </a:r>
            <a:r>
              <a:rPr lang="en-US" altLang="ko-KR" dirty="0"/>
              <a:t>130 / 150 * 100(%) = 86.67(%) </a:t>
            </a:r>
            <a:r>
              <a:rPr lang="ko-KR" altLang="en-US" dirty="0"/>
              <a:t>이다</a:t>
            </a:r>
            <a:r>
              <a:rPr lang="en-US" altLang="ko-KR" dirty="0"/>
              <a:t>.</a:t>
            </a:r>
            <a:endParaRPr lang="ko-KR" altLang="en-US" dirty="0"/>
          </a:p>
          <a:p>
            <a:pPr fontAlgn="base"/>
            <a:r>
              <a:rPr lang="en-US" altLang="ko-KR" b="1" dirty="0"/>
              <a:t>4. F1-SCORE(</a:t>
            </a:r>
            <a:r>
              <a:rPr lang="ko-KR" altLang="en-US" b="1" dirty="0"/>
              <a:t>조화평균</a:t>
            </a:r>
            <a:r>
              <a:rPr lang="en-US" altLang="ko-KR" b="1" dirty="0"/>
              <a:t>)</a:t>
            </a:r>
            <a:endParaRPr lang="ko-KR" altLang="en-US" dirty="0"/>
          </a:p>
          <a:p>
            <a:pPr fontAlgn="base"/>
            <a:r>
              <a:rPr lang="ko-KR" altLang="en-US" dirty="0"/>
              <a:t>조화평균은 </a:t>
            </a:r>
            <a:r>
              <a:rPr lang="en-US" altLang="ko-KR" dirty="0"/>
              <a:t>2 * (</a:t>
            </a:r>
            <a:r>
              <a:rPr lang="ko-KR" altLang="en-US" dirty="0"/>
              <a:t>정밀도 * 재현율</a:t>
            </a:r>
            <a:r>
              <a:rPr lang="en-US" altLang="ko-KR" dirty="0"/>
              <a:t>) / (</a:t>
            </a:r>
            <a:r>
              <a:rPr lang="ko-KR" altLang="en-US" dirty="0"/>
              <a:t>정밀도 </a:t>
            </a:r>
            <a:r>
              <a:rPr lang="en-US" altLang="ko-KR" dirty="0"/>
              <a:t>+ </a:t>
            </a:r>
            <a:r>
              <a:rPr lang="ko-KR" altLang="en-US" dirty="0"/>
              <a:t>재현율</a:t>
            </a:r>
            <a:r>
              <a:rPr lang="en-US" altLang="ko-KR" dirty="0"/>
              <a:t>) </a:t>
            </a:r>
            <a:r>
              <a:rPr lang="ko-KR" altLang="en-US" dirty="0"/>
              <a:t>이므로</a:t>
            </a:r>
            <a:r>
              <a:rPr lang="en-US" altLang="ko-KR" dirty="0"/>
              <a:t>,</a:t>
            </a:r>
            <a:endParaRPr lang="ko-KR" altLang="en-US" dirty="0"/>
          </a:p>
          <a:p>
            <a:pPr fontAlgn="base"/>
            <a:r>
              <a:rPr lang="ko-KR" altLang="en-US" dirty="0"/>
              <a:t>조화평균은 </a:t>
            </a:r>
            <a:r>
              <a:rPr lang="en-US" altLang="ko-KR" dirty="0"/>
              <a:t>2 * (0.7222 * 0.8667) / (0.7222 + 0.8667) * 100(%) = 78.78(%) </a:t>
            </a:r>
            <a:r>
              <a:rPr lang="ko-KR" altLang="en-US" dirty="0"/>
              <a:t>이다</a:t>
            </a:r>
            <a:r>
              <a:rPr lang="en-US" altLang="ko-KR" dirty="0"/>
              <a:t>.</a:t>
            </a:r>
            <a:endParaRPr lang="ko-KR" altLang="en-US" dirty="0"/>
          </a:p>
          <a:p>
            <a:endParaRPr lang="en-US" altLang="ko-KR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C82645C-377E-8DA0-41E7-8D940AB056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7938352"/>
              </p:ext>
            </p:extLst>
          </p:nvPr>
        </p:nvGraphicFramePr>
        <p:xfrm>
          <a:off x="4689770" y="1197258"/>
          <a:ext cx="7158990" cy="1850263"/>
        </p:xfrm>
        <a:graphic>
          <a:graphicData uri="http://schemas.openxmlformats.org/drawingml/2006/table">
            <a:tbl>
              <a:tblPr/>
              <a:tblGrid>
                <a:gridCol w="2338324">
                  <a:extLst>
                    <a:ext uri="{9D8B030D-6E8A-4147-A177-3AD203B41FA5}">
                      <a16:colId xmlns:a16="http://schemas.microsoft.com/office/drawing/2014/main" val="1502180516"/>
                    </a:ext>
                  </a:extLst>
                </a:gridCol>
                <a:gridCol w="2410333">
                  <a:extLst>
                    <a:ext uri="{9D8B030D-6E8A-4147-A177-3AD203B41FA5}">
                      <a16:colId xmlns:a16="http://schemas.microsoft.com/office/drawing/2014/main" val="2877821815"/>
                    </a:ext>
                  </a:extLst>
                </a:gridCol>
                <a:gridCol w="2410333">
                  <a:extLst>
                    <a:ext uri="{9D8B030D-6E8A-4147-A177-3AD203B41FA5}">
                      <a16:colId xmlns:a16="http://schemas.microsoft.com/office/drawing/2014/main" val="3253088219"/>
                    </a:ext>
                  </a:extLst>
                </a:gridCol>
              </a:tblGrid>
              <a:tr h="342519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HY견고딕"/>
                          <a:ea typeface="HY견고딕"/>
                        </a:rPr>
                        <a:t>실제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HY견고딕"/>
                          <a:ea typeface="HY견고딕"/>
                        </a:rPr>
                        <a:t>와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HY견고딕"/>
                          <a:ea typeface="HY견고딕"/>
                        </a:rPr>
                        <a:t>예측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latin typeface="HY견고딕"/>
                          <a:ea typeface="HY견고딕"/>
                        </a:rPr>
                        <a:t>실제 </a:t>
                      </a:r>
                      <a:r>
                        <a:rPr lang="en-US" altLang="ko-KR" sz="1000" b="1" kern="0" spc="0">
                          <a:solidFill>
                            <a:srgbClr val="000000"/>
                          </a:solidFill>
                          <a:effectLst/>
                          <a:latin typeface="HY견고딕"/>
                          <a:ea typeface="HY견고딕"/>
                        </a:rPr>
                        <a:t>(</a:t>
                      </a:r>
                      <a:r>
                        <a:rPr lang="en-US" sz="1000" b="1" kern="0" spc="0">
                          <a:solidFill>
                            <a:srgbClr val="000000"/>
                          </a:solidFill>
                          <a:effectLst/>
                          <a:latin typeface="HY견고딕"/>
                          <a:ea typeface="HY견고딕"/>
                        </a:rPr>
                        <a:t>Knowledge)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264402"/>
                  </a:ext>
                </a:extLst>
              </a:tr>
              <a:tr h="32346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latin typeface="HY견고딕"/>
                          <a:ea typeface="HY견고딕"/>
                        </a:rPr>
                        <a:t>비정상</a:t>
                      </a:r>
                      <a:r>
                        <a:rPr lang="en-US" altLang="ko-KR" sz="1000" b="1" kern="0" spc="0">
                          <a:solidFill>
                            <a:srgbClr val="000000"/>
                          </a:solidFill>
                          <a:effectLst/>
                          <a:latin typeface="HY견고딕"/>
                          <a:ea typeface="HY견고딕"/>
                        </a:rPr>
                        <a:t>(150</a:t>
                      </a: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latin typeface="HY견고딕"/>
                          <a:ea typeface="HY견고딕"/>
                        </a:rPr>
                        <a:t>건</a:t>
                      </a:r>
                      <a:r>
                        <a:rPr lang="en-US" altLang="ko-KR" sz="1000" b="1" kern="0" spc="0">
                          <a:solidFill>
                            <a:srgbClr val="000000"/>
                          </a:solidFill>
                          <a:effectLst/>
                          <a:latin typeface="HY견고딕"/>
                          <a:ea typeface="HY견고딕"/>
                        </a:rPr>
                        <a:t>)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latin typeface="HY견고딕"/>
                          <a:ea typeface="HY견고딕"/>
                        </a:rPr>
                        <a:t>정상</a:t>
                      </a:r>
                      <a:r>
                        <a:rPr lang="en-US" altLang="ko-KR" sz="1000" b="1" kern="0" spc="0">
                          <a:solidFill>
                            <a:srgbClr val="000000"/>
                          </a:solidFill>
                          <a:effectLst/>
                          <a:latin typeface="HY견고딕"/>
                          <a:ea typeface="HY견고딕"/>
                        </a:rPr>
                        <a:t>(650</a:t>
                      </a: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latin typeface="HY견고딕"/>
                          <a:ea typeface="HY견고딕"/>
                        </a:rPr>
                        <a:t>건</a:t>
                      </a:r>
                      <a:r>
                        <a:rPr lang="en-US" altLang="ko-KR" sz="1000" b="1" kern="0" spc="0">
                          <a:solidFill>
                            <a:srgbClr val="000000"/>
                          </a:solidFill>
                          <a:effectLst/>
                          <a:latin typeface="HY견고딕"/>
                          <a:ea typeface="HY견고딕"/>
                        </a:rPr>
                        <a:t>)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1458611"/>
                  </a:ext>
                </a:extLst>
              </a:tr>
              <a:tr h="558165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latin typeface="HY견고딕"/>
                          <a:ea typeface="HY견고딕"/>
                        </a:rPr>
                        <a:t>예측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altLang="ko-KR" sz="1000" b="1" kern="0" spc="0">
                          <a:solidFill>
                            <a:srgbClr val="000000"/>
                          </a:solidFill>
                          <a:effectLst/>
                          <a:latin typeface="HY견고딕"/>
                          <a:ea typeface="HY견고딕"/>
                        </a:rPr>
                        <a:t>(</a:t>
                      </a:r>
                      <a:r>
                        <a:rPr lang="en-US" sz="1000" b="1" kern="0" spc="0">
                          <a:solidFill>
                            <a:srgbClr val="000000"/>
                          </a:solidFill>
                          <a:effectLst/>
                          <a:latin typeface="HY견고딕"/>
                          <a:ea typeface="HY견고딕"/>
                        </a:rPr>
                        <a:t>MA)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1000" b="1" kern="0" spc="0">
                          <a:solidFill>
                            <a:srgbClr val="000000"/>
                          </a:solidFill>
                          <a:effectLst/>
                          <a:latin typeface="HY견고딕"/>
                          <a:ea typeface="HY견고딕"/>
                        </a:rPr>
                        <a:t>TP(130</a:t>
                      </a: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latin typeface="HY견고딕"/>
                          <a:ea typeface="HY견고딕"/>
                        </a:rPr>
                        <a:t>건</a:t>
                      </a:r>
                      <a:r>
                        <a:rPr lang="en-US" altLang="ko-KR" sz="1000" b="1" kern="0" spc="0">
                          <a:solidFill>
                            <a:srgbClr val="000000"/>
                          </a:solidFill>
                          <a:effectLst/>
                          <a:latin typeface="HY견고딕"/>
                          <a:ea typeface="HY견고딕"/>
                        </a:rPr>
                        <a:t>)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1000" b="1" kern="0" spc="0">
                          <a:solidFill>
                            <a:srgbClr val="000000"/>
                          </a:solidFill>
                          <a:effectLst/>
                          <a:latin typeface="HY견고딕"/>
                          <a:ea typeface="HY견고딕"/>
                        </a:rPr>
                        <a:t>FP(50</a:t>
                      </a: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latin typeface="HY견고딕"/>
                          <a:ea typeface="HY견고딕"/>
                        </a:rPr>
                        <a:t>건</a:t>
                      </a:r>
                      <a:r>
                        <a:rPr lang="en-US" altLang="ko-KR" sz="1000" b="1" kern="0" spc="0">
                          <a:solidFill>
                            <a:srgbClr val="000000"/>
                          </a:solidFill>
                          <a:effectLst/>
                          <a:latin typeface="HY견고딕"/>
                          <a:ea typeface="HY견고딕"/>
                        </a:rPr>
                        <a:t>)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5557528"/>
                  </a:ext>
                </a:extLst>
              </a:tr>
              <a:tr h="55816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1000" b="1" kern="0" spc="0">
                          <a:solidFill>
                            <a:srgbClr val="000000"/>
                          </a:solidFill>
                          <a:effectLst/>
                          <a:latin typeface="HY견고딕"/>
                          <a:ea typeface="HY견고딕"/>
                        </a:rPr>
                        <a:t>FN(20</a:t>
                      </a: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latin typeface="HY견고딕"/>
                          <a:ea typeface="HY견고딕"/>
                        </a:rPr>
                        <a:t>건</a:t>
                      </a:r>
                      <a:r>
                        <a:rPr lang="en-US" altLang="ko-KR" sz="1000" b="1" kern="0" spc="0">
                          <a:solidFill>
                            <a:srgbClr val="000000"/>
                          </a:solidFill>
                          <a:effectLst/>
                          <a:latin typeface="HY견고딕"/>
                          <a:ea typeface="HY견고딕"/>
                        </a:rPr>
                        <a:t>)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1000" b="1" kern="0" spc="0" dirty="0">
                          <a:solidFill>
                            <a:srgbClr val="000000"/>
                          </a:solidFill>
                          <a:effectLst/>
                          <a:latin typeface="HY견고딕"/>
                          <a:ea typeface="HY견고딕"/>
                        </a:rPr>
                        <a:t>TN(600</a:t>
                      </a: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HY견고딕"/>
                          <a:ea typeface="HY견고딕"/>
                        </a:rPr>
                        <a:t>건</a:t>
                      </a:r>
                      <a:r>
                        <a:rPr lang="en-US" altLang="ko-KR" sz="1000" b="1" kern="0" spc="0" dirty="0">
                          <a:solidFill>
                            <a:srgbClr val="000000"/>
                          </a:solidFill>
                          <a:effectLst/>
                          <a:latin typeface="HY견고딕"/>
                          <a:ea typeface="HY견고딕"/>
                        </a:rPr>
                        <a:t>)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8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72412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9400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06A5C-F4AE-EF93-4CD1-16870B56B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01158-2973-A3A7-A1E1-37B74B025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 dirty="0"/>
              <a:t>과제 </a:t>
            </a:r>
            <a:r>
              <a:rPr lang="en-US" altLang="ko-KR" sz="4000" dirty="0"/>
              <a:t>1 - Autonomic Computing Evaluation</a:t>
            </a:r>
            <a:endParaRPr lang="ko-KR" alt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730549-9721-03DC-488E-7DBF994182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altLang="ko-KR" b="1" dirty="0"/>
              <a:t>6. Autonomic Computing</a:t>
            </a:r>
            <a:r>
              <a:rPr lang="ko-KR" altLang="en-US" b="1" dirty="0"/>
              <a:t>에서 중요한 점을 서술하세요</a:t>
            </a:r>
            <a:r>
              <a:rPr lang="en-US" altLang="ko-KR" b="1" dirty="0"/>
              <a:t>. </a:t>
            </a:r>
            <a:endParaRPr lang="ko-KR" altLang="en-US" dirty="0"/>
          </a:p>
          <a:p>
            <a:pPr fontAlgn="base"/>
            <a:r>
              <a:rPr lang="en-US" altLang="ko-KR" dirty="0"/>
              <a:t>Autonomic Computing</a:t>
            </a:r>
            <a:r>
              <a:rPr lang="ko-KR" altLang="en-US" dirty="0"/>
              <a:t>에서 중요한 점은 결국은 </a:t>
            </a:r>
            <a:r>
              <a:rPr lang="en-US" altLang="ko-KR" dirty="0"/>
              <a:t>Goal</a:t>
            </a:r>
            <a:r>
              <a:rPr lang="ko-KR" altLang="en-US" dirty="0"/>
              <a:t>과 그것을 달성하기 위한 </a:t>
            </a:r>
            <a:r>
              <a:rPr lang="en-US" altLang="ko-KR" dirty="0"/>
              <a:t>MAPE</a:t>
            </a:r>
            <a:r>
              <a:rPr lang="ko-KR" altLang="en-US" dirty="0"/>
              <a:t>과정이 제일 중요하다고 생각합니다</a:t>
            </a:r>
            <a:r>
              <a:rPr lang="en-US" altLang="ko-KR" dirty="0"/>
              <a:t>. </a:t>
            </a:r>
            <a:r>
              <a:rPr lang="ko-KR" altLang="en-US" dirty="0"/>
              <a:t>또한 신뢰성과 성능 측면에서 </a:t>
            </a:r>
            <a:r>
              <a:rPr lang="en-US" altLang="ko-KR" dirty="0"/>
              <a:t>self-optimizing</a:t>
            </a:r>
            <a:r>
              <a:rPr lang="ko-KR" altLang="en-US" dirty="0"/>
              <a:t>이 중요하다고 생각합니다</a:t>
            </a:r>
            <a:r>
              <a:rPr lang="en-US" altLang="ko-KR" dirty="0"/>
              <a:t>. self-optimizing</a:t>
            </a:r>
            <a:r>
              <a:rPr lang="ko-KR" altLang="en-US" dirty="0"/>
              <a:t>이 잘 되면 성능이 일정하게 유지되기 쉽고</a:t>
            </a:r>
            <a:r>
              <a:rPr lang="en-US" altLang="ko-KR" dirty="0"/>
              <a:t>, </a:t>
            </a:r>
            <a:r>
              <a:rPr lang="ko-KR" altLang="en-US" dirty="0"/>
              <a:t>비용을 줄일 수 있으며</a:t>
            </a:r>
            <a:r>
              <a:rPr lang="en-US" altLang="ko-KR" dirty="0"/>
              <a:t>, </a:t>
            </a:r>
            <a:r>
              <a:rPr lang="ko-KR" altLang="en-US" dirty="0"/>
              <a:t>관리자가 임계값을 일일이 맞추는 부담이 줄어들기 때문입니다</a:t>
            </a:r>
            <a:r>
              <a:rPr lang="en-US" altLang="ko-KR" dirty="0"/>
              <a:t>.</a:t>
            </a:r>
            <a:endParaRPr lang="ko-KR" altLang="en-US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2453211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CBA97-B26C-59AF-C94A-1DF3D8A80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2D82D-C57D-C30D-EB62-9A1F4B05B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 dirty="0"/>
              <a:t>과제 </a:t>
            </a:r>
            <a:r>
              <a:rPr lang="en-US" altLang="ko-KR" sz="4000" dirty="0"/>
              <a:t>1 - Autonomic Computing Evaluation</a:t>
            </a:r>
            <a:endParaRPr lang="ko-KR" alt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89DEEF-6DD8-35EB-C7C3-BAB2779FC5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altLang="ko-KR" b="1" dirty="0"/>
              <a:t>7. </a:t>
            </a:r>
            <a:r>
              <a:rPr lang="ko-KR" altLang="en-US" b="1" dirty="0"/>
              <a:t>그룹 활동을 통해 어떤 </a:t>
            </a:r>
            <a:r>
              <a:rPr lang="en-US" altLang="ko-KR" b="1" dirty="0"/>
              <a:t>1) SW</a:t>
            </a:r>
            <a:r>
              <a:rPr lang="ko-KR" altLang="en-US" b="1" dirty="0"/>
              <a:t>응용 시스템을 제안할 것인지 작성하고</a:t>
            </a:r>
            <a:r>
              <a:rPr lang="en-US" altLang="ko-KR" b="1" dirty="0"/>
              <a:t>, 2) </a:t>
            </a:r>
            <a:r>
              <a:rPr lang="ko-KR" altLang="en-US" b="1" dirty="0"/>
              <a:t>목표</a:t>
            </a:r>
            <a:r>
              <a:rPr lang="en-US" altLang="ko-KR" b="1" dirty="0"/>
              <a:t>(Goal)</a:t>
            </a:r>
            <a:r>
              <a:rPr lang="ko-KR" altLang="en-US" b="1" dirty="0"/>
              <a:t>가 무엇인지를 작성하세요</a:t>
            </a:r>
            <a:r>
              <a:rPr lang="en-US" altLang="ko-KR" b="1" dirty="0"/>
              <a:t>. </a:t>
            </a:r>
            <a:endParaRPr lang="ko-KR" altLang="en-US" dirty="0"/>
          </a:p>
          <a:p>
            <a:pPr fontAlgn="base"/>
            <a:r>
              <a:rPr lang="en-US" altLang="ko-KR" dirty="0"/>
              <a:t>1) </a:t>
            </a:r>
            <a:r>
              <a:rPr lang="ko-KR" altLang="en-US" dirty="0"/>
              <a:t>가계부 기반 자율 예산 관리 시스템</a:t>
            </a:r>
          </a:p>
          <a:p>
            <a:pPr fontAlgn="base"/>
            <a:r>
              <a:rPr lang="en-US" altLang="ko-KR" dirty="0"/>
              <a:t>2) </a:t>
            </a:r>
            <a:r>
              <a:rPr lang="ko-KR" altLang="en-US" dirty="0"/>
              <a:t>사용자의 수입</a:t>
            </a:r>
            <a:r>
              <a:rPr lang="en-US" altLang="ko-KR" dirty="0"/>
              <a:t>, </a:t>
            </a:r>
            <a:r>
              <a:rPr lang="ko-KR" altLang="en-US" dirty="0"/>
              <a:t>소비 패턴을 기반으로 한 달의 예산과 하루의 권장 지출액을 제안해준다</a:t>
            </a:r>
            <a:r>
              <a:rPr lang="en-US" altLang="ko-KR" dirty="0"/>
              <a:t>. </a:t>
            </a:r>
            <a:r>
              <a:rPr lang="ko-KR" altLang="en-US" dirty="0"/>
              <a:t>예상 금액 초과 시 자동으로 예산과 권장 지출액을 조정해준다</a:t>
            </a:r>
            <a:r>
              <a:rPr lang="en-US" altLang="ko-KR" dirty="0"/>
              <a:t>.</a:t>
            </a:r>
            <a:endParaRPr lang="ko-KR" altLang="en-US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023357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B9F39-4208-9F53-C639-FD030606C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8423D-6E8B-C397-AB65-6C676F425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 dirty="0"/>
              <a:t>과제 </a:t>
            </a:r>
            <a:r>
              <a:rPr lang="en-US" altLang="ko-KR" sz="4000" dirty="0"/>
              <a:t>1 - Autonomic Computing Evaluation</a:t>
            </a:r>
            <a:endParaRPr lang="ko-KR" alt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5AA353-CB48-879A-6FFF-D59FCA10F8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fontAlgn="base"/>
            <a:r>
              <a:rPr lang="en-US" altLang="ko-KR" b="1" dirty="0"/>
              <a:t>8. </a:t>
            </a:r>
            <a:r>
              <a:rPr lang="ko-KR" altLang="en-US" b="1" dirty="0"/>
              <a:t>목표시스템의 신뢰성을 위해서 자율제어 시스템은 목표시스템의 내부에 있어야 하는지</a:t>
            </a:r>
            <a:r>
              <a:rPr lang="en-US" altLang="ko-KR" b="1" dirty="0"/>
              <a:t>, </a:t>
            </a:r>
            <a:r>
              <a:rPr lang="ko-KR" altLang="en-US" b="1" dirty="0"/>
              <a:t>외부에 있어야 하는지 서술하고</a:t>
            </a:r>
            <a:r>
              <a:rPr lang="en-US" altLang="ko-KR" b="1" dirty="0"/>
              <a:t>, </a:t>
            </a:r>
            <a:r>
              <a:rPr lang="ko-KR" altLang="en-US" b="1" dirty="0"/>
              <a:t>그 이유를 작성하세요</a:t>
            </a:r>
            <a:r>
              <a:rPr lang="en-US" altLang="ko-KR" b="1" dirty="0"/>
              <a:t>. </a:t>
            </a:r>
            <a:endParaRPr lang="ko-KR" altLang="en-US" dirty="0"/>
          </a:p>
          <a:p>
            <a:pPr fontAlgn="base"/>
            <a:r>
              <a:rPr lang="ko-KR" altLang="en-US" dirty="0"/>
              <a:t>의견</a:t>
            </a:r>
            <a:r>
              <a:rPr lang="en-US" altLang="ko-KR" dirty="0"/>
              <a:t>: </a:t>
            </a:r>
            <a:r>
              <a:rPr lang="ko-KR" altLang="en-US" dirty="0"/>
              <a:t>가계부 기반 자율 예산 관리 시스템의 자율제어 시스템은 외부에 있어야 합니다</a:t>
            </a:r>
            <a:r>
              <a:rPr lang="en-US" altLang="ko-KR" dirty="0"/>
              <a:t>.</a:t>
            </a:r>
            <a:endParaRPr lang="ko-KR" altLang="en-US" dirty="0"/>
          </a:p>
          <a:p>
            <a:pPr fontAlgn="base"/>
            <a:r>
              <a:rPr lang="ko-KR" altLang="en-US" dirty="0"/>
              <a:t>이유</a:t>
            </a:r>
            <a:r>
              <a:rPr lang="en-US" altLang="ko-KR" dirty="0"/>
              <a:t>: </a:t>
            </a:r>
            <a:r>
              <a:rPr lang="ko-KR" altLang="en-US" dirty="0"/>
              <a:t>기본적으로 사용자의 지출 데이터는 외부 결제 시스템으로부터 받아오게 됩니다</a:t>
            </a:r>
            <a:r>
              <a:rPr lang="en-US" altLang="ko-KR" dirty="0"/>
              <a:t>. </a:t>
            </a:r>
            <a:r>
              <a:rPr lang="ko-KR" altLang="en-US" dirty="0"/>
              <a:t>해당 데이터를 분석</a:t>
            </a:r>
            <a:r>
              <a:rPr lang="en-US" altLang="ko-KR" dirty="0"/>
              <a:t>, </a:t>
            </a:r>
            <a:r>
              <a:rPr lang="ko-KR" altLang="en-US" dirty="0"/>
              <a:t>판단</a:t>
            </a:r>
            <a:r>
              <a:rPr lang="en-US" altLang="ko-KR" dirty="0"/>
              <a:t>, </a:t>
            </a:r>
            <a:r>
              <a:rPr lang="ko-KR" altLang="en-US" dirty="0"/>
              <a:t>제안해주는 별도의 시스템은 목표시스템</a:t>
            </a:r>
            <a:r>
              <a:rPr lang="en-US" altLang="ko-KR" dirty="0"/>
              <a:t>(</a:t>
            </a:r>
            <a:r>
              <a:rPr lang="ko-KR" altLang="en-US" dirty="0"/>
              <a:t>사용자의 기기</a:t>
            </a:r>
            <a:r>
              <a:rPr lang="en-US" altLang="ko-KR" dirty="0"/>
              <a:t>)</a:t>
            </a:r>
            <a:r>
              <a:rPr lang="ko-KR" altLang="en-US" dirty="0"/>
              <a:t>와 분리되어 있어야 유지보수나 안정성 측면에서 유리합니다</a:t>
            </a:r>
            <a:r>
              <a:rPr lang="en-US" altLang="ko-KR" dirty="0"/>
              <a:t>. </a:t>
            </a:r>
            <a:r>
              <a:rPr lang="ko-KR" altLang="en-US" dirty="0"/>
              <a:t>내부에 두게 된다면 결제 시스템 서버에 대한 의존성이 높아지고 사용자 기기에서의 리소스가 무거워지게 됩니다</a:t>
            </a:r>
            <a:r>
              <a:rPr lang="en-US" altLang="ko-KR" dirty="0"/>
              <a:t>.</a:t>
            </a:r>
            <a:endParaRPr lang="ko-KR" altLang="en-US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685525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과제 </a:t>
            </a:r>
            <a:r>
              <a:rPr lang="en-US" altLang="ko-KR"/>
              <a:t>2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Monitor</a:t>
            </a:r>
          </a:p>
          <a:p>
            <a:pPr lvl="1"/>
            <a:r>
              <a:rPr lang="ko-KR" altLang="en-US" dirty="0"/>
              <a:t>요소</a:t>
            </a:r>
            <a:r>
              <a:rPr lang="en-US" altLang="ko-KR" dirty="0"/>
              <a:t>(</a:t>
            </a:r>
            <a:r>
              <a:rPr lang="ko-KR" altLang="en-US" dirty="0"/>
              <a:t>목표 시스템</a:t>
            </a:r>
            <a:r>
              <a:rPr lang="en-US" altLang="ko-KR" dirty="0"/>
              <a:t>)</a:t>
            </a:r>
            <a:r>
              <a:rPr lang="ko-KR" altLang="en-US" dirty="0"/>
              <a:t>에서 수집한 세부 정보를 수집</a:t>
            </a:r>
            <a:r>
              <a:rPr lang="en-US" altLang="ko-KR" dirty="0"/>
              <a:t>, </a:t>
            </a:r>
            <a:r>
              <a:rPr lang="ko-KR" altLang="en-US" dirty="0"/>
              <a:t>집계</a:t>
            </a:r>
            <a:r>
              <a:rPr lang="en-US" altLang="ko-KR" dirty="0"/>
              <a:t>, </a:t>
            </a:r>
            <a:r>
              <a:rPr lang="ko-KR" altLang="en-US" dirty="0"/>
              <a:t>필터링</a:t>
            </a:r>
            <a:r>
              <a:rPr lang="en-US" altLang="ko-KR" dirty="0"/>
              <a:t>, </a:t>
            </a:r>
            <a:r>
              <a:rPr lang="ko-KR" altLang="en-US" dirty="0"/>
              <a:t>관리 및 보고하는 메커니즘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Analyze</a:t>
            </a:r>
          </a:p>
          <a:p>
            <a:pPr lvl="1"/>
            <a:r>
              <a:rPr lang="ko-KR" altLang="en-US" dirty="0"/>
              <a:t>복잡한 상황을 연관시키고 모델링하는 메커니즘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Plan</a:t>
            </a:r>
          </a:p>
          <a:p>
            <a:pPr lvl="1"/>
            <a:r>
              <a:rPr lang="ko-KR" altLang="en-US" dirty="0"/>
              <a:t>목표 달성에 필요한 행동을 구조화하는 메커니즘</a:t>
            </a:r>
            <a:endParaRPr lang="en-US" altLang="ko-KR" dirty="0"/>
          </a:p>
          <a:p>
            <a:r>
              <a:rPr lang="en-US" altLang="ko-KR" dirty="0"/>
              <a:t>Execute</a:t>
            </a:r>
          </a:p>
          <a:p>
            <a:pPr lvl="1"/>
            <a:r>
              <a:rPr lang="ko-KR" altLang="en-US" dirty="0"/>
              <a:t>고려 사항을 포함한 계획 실행을 제어하는 메커니즘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ACFCDF8-9C88-1293-E4D7-901B0EAC13B2}"/>
              </a:ext>
            </a:extLst>
          </p:cNvPr>
          <p:cNvGrpSpPr/>
          <p:nvPr/>
        </p:nvGrpSpPr>
        <p:grpSpPr>
          <a:xfrm>
            <a:off x="8339435" y="3134519"/>
            <a:ext cx="3908425" cy="1733550"/>
            <a:chOff x="4141787" y="1837532"/>
            <a:chExt cx="3908425" cy="1733550"/>
          </a:xfrm>
        </p:grpSpPr>
        <p:sp>
          <p:nvSpPr>
            <p:cNvPr id="7" name="AutoShape 10">
              <a:extLst>
                <a:ext uri="{FF2B5EF4-FFF2-40B4-BE49-F238E27FC236}">
                  <a16:creationId xmlns:a16="http://schemas.microsoft.com/office/drawing/2014/main" id="{73FCDC3C-2F67-E14A-4F98-BDD8DF6220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0525" y="1943894"/>
              <a:ext cx="1727200" cy="1614488"/>
            </a:xfrm>
            <a:prstGeom prst="rtTriangle">
              <a:avLst/>
            </a:prstGeom>
            <a:gradFill rotWithShape="1">
              <a:gsLst>
                <a:gs pos="0">
                  <a:schemeClr val="accent1"/>
                </a:gs>
                <a:gs pos="100000">
                  <a:schemeClr val="accent1">
                    <a:gamma/>
                    <a:tint val="60392"/>
                    <a:invGamma/>
                  </a:schemeClr>
                </a:gs>
              </a:gsLst>
              <a:lin ang="5400000" scaled="1"/>
            </a:gra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34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34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34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34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34" charset="-127"/>
                  <a:cs typeface="+mn-cs"/>
                </a:defRPr>
              </a:lvl5pPr>
              <a:lvl6pPr marL="2286000" algn="l" defTabSz="914400" rtl="0" eaLnBrk="1" latinLnBrk="1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34" charset="-127"/>
                  <a:cs typeface="+mn-cs"/>
                </a:defRPr>
              </a:lvl6pPr>
              <a:lvl7pPr marL="2743200" algn="l" defTabSz="914400" rtl="0" eaLnBrk="1" latinLnBrk="1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34" charset="-127"/>
                  <a:cs typeface="+mn-cs"/>
                </a:defRPr>
              </a:lvl7pPr>
              <a:lvl8pPr marL="3200400" algn="l" defTabSz="914400" rtl="0" eaLnBrk="1" latinLnBrk="1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34" charset="-127"/>
                  <a:cs typeface="+mn-cs"/>
                </a:defRPr>
              </a:lvl8pPr>
              <a:lvl9pPr marL="3657600" algn="l" defTabSz="914400" rtl="0" eaLnBrk="1" latinLnBrk="1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34" charset="-127"/>
                  <a:cs typeface="+mn-cs"/>
                </a:defRPr>
              </a:lvl9pPr>
            </a:lstStyle>
            <a:p>
              <a:pPr algn="ctr" eaLnBrk="1" hangingPunct="1">
                <a:defRPr/>
              </a:pPr>
              <a:endParaRPr lang="ko-KR" altLang="en-US">
                <a:ea typeface="굴림" panose="020B0600000101010101" pitchFamily="50" charset="-127"/>
              </a:endParaRPr>
            </a:p>
          </p:txBody>
        </p:sp>
        <p:sp>
          <p:nvSpPr>
            <p:cNvPr id="8" name="AutoShape 11">
              <a:extLst>
                <a:ext uri="{FF2B5EF4-FFF2-40B4-BE49-F238E27FC236}">
                  <a16:creationId xmlns:a16="http://schemas.microsoft.com/office/drawing/2014/main" id="{03FC1759-8D29-ABE6-DE89-799AF16465F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4216400" y="1870869"/>
              <a:ext cx="1727200" cy="1614488"/>
            </a:xfrm>
            <a:prstGeom prst="rtTriangle">
              <a:avLst/>
            </a:prstGeom>
            <a:gradFill rotWithShape="1">
              <a:gsLst>
                <a:gs pos="0">
                  <a:schemeClr val="accent1"/>
                </a:gs>
                <a:gs pos="100000">
                  <a:schemeClr val="accent1">
                    <a:gamma/>
                    <a:tint val="60392"/>
                    <a:invGamma/>
                  </a:schemeClr>
                </a:gs>
              </a:gsLst>
              <a:lin ang="5400000" scaled="1"/>
            </a:gra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34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34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34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34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34" charset="-127"/>
                  <a:cs typeface="+mn-cs"/>
                </a:defRPr>
              </a:lvl5pPr>
              <a:lvl6pPr marL="2286000" algn="l" defTabSz="914400" rtl="0" eaLnBrk="1" latinLnBrk="1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34" charset="-127"/>
                  <a:cs typeface="+mn-cs"/>
                </a:defRPr>
              </a:lvl6pPr>
              <a:lvl7pPr marL="2743200" algn="l" defTabSz="914400" rtl="0" eaLnBrk="1" latinLnBrk="1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34" charset="-127"/>
                  <a:cs typeface="+mn-cs"/>
                </a:defRPr>
              </a:lvl7pPr>
              <a:lvl8pPr marL="3200400" algn="l" defTabSz="914400" rtl="0" eaLnBrk="1" latinLnBrk="1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34" charset="-127"/>
                  <a:cs typeface="+mn-cs"/>
                </a:defRPr>
              </a:lvl8pPr>
              <a:lvl9pPr marL="3657600" algn="l" defTabSz="914400" rtl="0" eaLnBrk="1" latinLnBrk="1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34" charset="-127"/>
                  <a:cs typeface="+mn-cs"/>
                </a:defRPr>
              </a:lvl9pPr>
            </a:lstStyle>
            <a:p>
              <a:pPr algn="ctr" eaLnBrk="1" hangingPunct="1">
                <a:defRPr/>
              </a:pPr>
              <a:endParaRPr lang="ko-KR" altLang="en-US">
                <a:ea typeface="굴림" panose="020B0600000101010101" pitchFamily="50" charset="-127"/>
              </a:endParaRPr>
            </a:p>
          </p:txBody>
        </p:sp>
        <p:sp>
          <p:nvSpPr>
            <p:cNvPr id="9" name="AutoShape 12">
              <a:extLst>
                <a:ext uri="{FF2B5EF4-FFF2-40B4-BE49-F238E27FC236}">
                  <a16:creationId xmlns:a16="http://schemas.microsoft.com/office/drawing/2014/main" id="{0BED5F8A-D539-EF17-8F9B-A27D791CBC2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6076156" y="1900238"/>
              <a:ext cx="1727200" cy="1614488"/>
            </a:xfrm>
            <a:prstGeom prst="rtTriangle">
              <a:avLst/>
            </a:prstGeom>
            <a:gradFill rotWithShape="1">
              <a:gsLst>
                <a:gs pos="0">
                  <a:schemeClr val="accent1"/>
                </a:gs>
                <a:gs pos="100000">
                  <a:schemeClr val="accent1">
                    <a:gamma/>
                    <a:tint val="60392"/>
                    <a:invGamma/>
                  </a:schemeClr>
                </a:gs>
              </a:gsLst>
              <a:lin ang="5400000" scaled="1"/>
            </a:gra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34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34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34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34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34" charset="-127"/>
                  <a:cs typeface="+mn-cs"/>
                </a:defRPr>
              </a:lvl5pPr>
              <a:lvl6pPr marL="2286000" algn="l" defTabSz="914400" rtl="0" eaLnBrk="1" latinLnBrk="1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34" charset="-127"/>
                  <a:cs typeface="+mn-cs"/>
                </a:defRPr>
              </a:lvl6pPr>
              <a:lvl7pPr marL="2743200" algn="l" defTabSz="914400" rtl="0" eaLnBrk="1" latinLnBrk="1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34" charset="-127"/>
                  <a:cs typeface="+mn-cs"/>
                </a:defRPr>
              </a:lvl7pPr>
              <a:lvl8pPr marL="3200400" algn="l" defTabSz="914400" rtl="0" eaLnBrk="1" latinLnBrk="1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34" charset="-127"/>
                  <a:cs typeface="+mn-cs"/>
                </a:defRPr>
              </a:lvl8pPr>
              <a:lvl9pPr marL="3657600" algn="l" defTabSz="914400" rtl="0" eaLnBrk="1" latinLnBrk="1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34" charset="-127"/>
                  <a:cs typeface="+mn-cs"/>
                </a:defRPr>
              </a:lvl9pPr>
            </a:lstStyle>
            <a:p>
              <a:pPr algn="ctr" eaLnBrk="1" hangingPunct="1">
                <a:defRPr/>
              </a:pPr>
              <a:endParaRPr lang="ko-KR" altLang="en-US">
                <a:ea typeface="굴림" panose="020B0600000101010101" pitchFamily="50" charset="-127"/>
              </a:endParaRPr>
            </a:p>
          </p:txBody>
        </p:sp>
        <p:sp>
          <p:nvSpPr>
            <p:cNvPr id="10" name="AutoShape 13">
              <a:extLst>
                <a:ext uri="{FF2B5EF4-FFF2-40B4-BE49-F238E27FC236}">
                  <a16:creationId xmlns:a16="http://schemas.microsoft.com/office/drawing/2014/main" id="{8D01706C-A056-6D61-7AF0-0167BCC14B2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6169819" y="1893888"/>
              <a:ext cx="1727200" cy="1614487"/>
            </a:xfrm>
            <a:prstGeom prst="rtTriangle">
              <a:avLst/>
            </a:prstGeom>
            <a:gradFill rotWithShape="1">
              <a:gsLst>
                <a:gs pos="0">
                  <a:schemeClr val="accent1"/>
                </a:gs>
                <a:gs pos="100000">
                  <a:schemeClr val="accent1">
                    <a:gamma/>
                    <a:tint val="60392"/>
                    <a:invGamma/>
                  </a:schemeClr>
                </a:gs>
              </a:gsLst>
              <a:lin ang="5400000" scaled="1"/>
            </a:gra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34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34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34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34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34" charset="-127"/>
                  <a:cs typeface="+mn-cs"/>
                </a:defRPr>
              </a:lvl5pPr>
              <a:lvl6pPr marL="2286000" algn="l" defTabSz="914400" rtl="0" eaLnBrk="1" latinLnBrk="1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34" charset="-127"/>
                  <a:cs typeface="+mn-cs"/>
                </a:defRPr>
              </a:lvl6pPr>
              <a:lvl7pPr marL="2743200" algn="l" defTabSz="914400" rtl="0" eaLnBrk="1" latinLnBrk="1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34" charset="-127"/>
                  <a:cs typeface="+mn-cs"/>
                </a:defRPr>
              </a:lvl7pPr>
              <a:lvl8pPr marL="3200400" algn="l" defTabSz="914400" rtl="0" eaLnBrk="1" latinLnBrk="1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34" charset="-127"/>
                  <a:cs typeface="+mn-cs"/>
                </a:defRPr>
              </a:lvl8pPr>
              <a:lvl9pPr marL="3657600" algn="l" defTabSz="914400" rtl="0" eaLnBrk="1" latinLnBrk="1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34" charset="-127"/>
                  <a:cs typeface="+mn-cs"/>
                </a:defRPr>
              </a:lvl9pPr>
            </a:lstStyle>
            <a:p>
              <a:pPr algn="ctr" eaLnBrk="1" hangingPunct="1">
                <a:defRPr/>
              </a:pPr>
              <a:endParaRPr lang="ko-KR" altLang="en-US">
                <a:ea typeface="굴림" panose="020B0600000101010101" pitchFamily="50" charset="-127"/>
              </a:endParaRPr>
            </a:p>
          </p:txBody>
        </p:sp>
        <p:sp>
          <p:nvSpPr>
            <p:cNvPr id="11" name="AutoShape 14">
              <a:extLst>
                <a:ext uri="{FF2B5EF4-FFF2-40B4-BE49-F238E27FC236}">
                  <a16:creationId xmlns:a16="http://schemas.microsoft.com/office/drawing/2014/main" id="{C531FF96-3DA0-2529-862C-115EE90F7C5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5019675" y="2931319"/>
              <a:ext cx="2098675" cy="633413"/>
            </a:xfrm>
            <a:custGeom>
              <a:avLst/>
              <a:gdLst>
                <a:gd name="T0" fmla="*/ 2147483646 w 21600"/>
                <a:gd name="T1" fmla="*/ 272346652 h 21600"/>
                <a:gd name="T2" fmla="*/ 2147483646 w 21600"/>
                <a:gd name="T3" fmla="*/ 544693304 h 21600"/>
                <a:gd name="T4" fmla="*/ 2147483646 w 21600"/>
                <a:gd name="T5" fmla="*/ 272346652 h 21600"/>
                <a:gd name="T6" fmla="*/ 2147483646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CC0099"/>
                </a:gs>
                <a:gs pos="100000">
                  <a:srgbClr val="E375C8"/>
                </a:gs>
              </a:gsLst>
              <a:lin ang="5400000" scaled="1"/>
            </a:gra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34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34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34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34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34" charset="-127"/>
                  <a:cs typeface="+mn-cs"/>
                </a:defRPr>
              </a:lvl5pPr>
              <a:lvl6pPr marL="2286000" algn="l" defTabSz="914400" rtl="0" eaLnBrk="1" latinLnBrk="1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34" charset="-127"/>
                  <a:cs typeface="+mn-cs"/>
                </a:defRPr>
              </a:lvl6pPr>
              <a:lvl7pPr marL="2743200" algn="l" defTabSz="914400" rtl="0" eaLnBrk="1" latinLnBrk="1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34" charset="-127"/>
                  <a:cs typeface="+mn-cs"/>
                </a:defRPr>
              </a:lvl7pPr>
              <a:lvl8pPr marL="3200400" algn="l" defTabSz="914400" rtl="0" eaLnBrk="1" latinLnBrk="1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34" charset="-127"/>
                  <a:cs typeface="+mn-cs"/>
                </a:defRPr>
              </a:lvl8pPr>
              <a:lvl9pPr marL="3657600" algn="l" defTabSz="914400" rtl="0" eaLnBrk="1" latinLnBrk="1" hangingPunct="1">
                <a:defRPr kern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34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14" name="Text Box 19">
              <a:extLst>
                <a:ext uri="{FF2B5EF4-FFF2-40B4-BE49-F238E27FC236}">
                  <a16:creationId xmlns:a16="http://schemas.microsoft.com/office/drawing/2014/main" id="{4C84CEE4-F1A8-BE61-2362-338F759328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8050" y="1977232"/>
              <a:ext cx="1144587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 b="1" kern="1200">
                  <a:solidFill>
                    <a:schemeClr val="tx2"/>
                  </a:solidFill>
                  <a:latin typeface="Arial" panose="020B0604020202020204" pitchFamily="34" charset="0"/>
                  <a:ea typeface="굴림" panose="020B0600000101010101" pitchFamily="34" charset="-127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b="1" kern="1200">
                  <a:solidFill>
                    <a:schemeClr val="tx2"/>
                  </a:solidFill>
                  <a:latin typeface="Arial" panose="020B0604020202020204" pitchFamily="34" charset="0"/>
                  <a:ea typeface="굴림" panose="020B0600000101010101" pitchFamily="34" charset="-127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34" charset="-127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34" charset="-127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34" charset="-127"/>
                  <a:cs typeface="+mn-cs"/>
                </a:defRPr>
              </a:lvl5pPr>
              <a:lvl6pPr marL="2514600" indent="-228600" algn="l" defTabSz="914400" rtl="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34" charset="-127"/>
                  <a:cs typeface="+mn-cs"/>
                </a:defRPr>
              </a:lvl6pPr>
              <a:lvl7pPr marL="2971800" indent="-228600" algn="l" defTabSz="914400" rtl="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34" charset="-127"/>
                  <a:cs typeface="+mn-cs"/>
                </a:defRPr>
              </a:lvl7pPr>
              <a:lvl8pPr marL="3429000" indent="-228600" algn="l" defTabSz="914400" rtl="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34" charset="-127"/>
                  <a:cs typeface="+mn-cs"/>
                </a:defRPr>
              </a:lvl8pPr>
              <a:lvl9pPr marL="3886200" indent="-228600" algn="l" defTabSz="914400" rtl="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34" charset="-127"/>
                  <a:cs typeface="+mn-cs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>
                  <a:solidFill>
                    <a:schemeClr val="tx1"/>
                  </a:solidFill>
                </a:rPr>
                <a:t>Analyze</a:t>
              </a:r>
            </a:p>
          </p:txBody>
        </p:sp>
        <p:sp>
          <p:nvSpPr>
            <p:cNvPr id="15" name="Text Box 20">
              <a:extLst>
                <a:ext uri="{FF2B5EF4-FFF2-40B4-BE49-F238E27FC236}">
                  <a16:creationId xmlns:a16="http://schemas.microsoft.com/office/drawing/2014/main" id="{A6294F8C-8CDA-887A-7961-AE69134BC3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41787" y="2826544"/>
              <a:ext cx="1114425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 b="1" kern="1200">
                  <a:solidFill>
                    <a:schemeClr val="tx2"/>
                  </a:solidFill>
                  <a:latin typeface="Arial" panose="020B0604020202020204" pitchFamily="34" charset="0"/>
                  <a:ea typeface="굴림" panose="020B0600000101010101" pitchFamily="34" charset="-127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b="1" kern="1200">
                  <a:solidFill>
                    <a:schemeClr val="tx2"/>
                  </a:solidFill>
                  <a:latin typeface="Arial" panose="020B0604020202020204" pitchFamily="34" charset="0"/>
                  <a:ea typeface="굴림" panose="020B0600000101010101" pitchFamily="34" charset="-127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34" charset="-127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34" charset="-127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34" charset="-127"/>
                  <a:cs typeface="+mn-cs"/>
                </a:defRPr>
              </a:lvl5pPr>
              <a:lvl6pPr marL="2514600" indent="-228600" algn="l" defTabSz="914400" rtl="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34" charset="-127"/>
                  <a:cs typeface="+mn-cs"/>
                </a:defRPr>
              </a:lvl6pPr>
              <a:lvl7pPr marL="2971800" indent="-228600" algn="l" defTabSz="914400" rtl="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34" charset="-127"/>
                  <a:cs typeface="+mn-cs"/>
                </a:defRPr>
              </a:lvl7pPr>
              <a:lvl8pPr marL="3429000" indent="-228600" algn="l" defTabSz="914400" rtl="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34" charset="-127"/>
                  <a:cs typeface="+mn-cs"/>
                </a:defRPr>
              </a:lvl8pPr>
              <a:lvl9pPr marL="3886200" indent="-228600" algn="l" defTabSz="914400" rtl="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34" charset="-127"/>
                  <a:cs typeface="+mn-cs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>
                  <a:solidFill>
                    <a:schemeClr val="tx1"/>
                  </a:solidFill>
                </a:rPr>
                <a:t>Monitor</a:t>
              </a:r>
            </a:p>
          </p:txBody>
        </p:sp>
        <p:sp>
          <p:nvSpPr>
            <p:cNvPr id="16" name="Text Box 21">
              <a:extLst>
                <a:ext uri="{FF2B5EF4-FFF2-40B4-BE49-F238E27FC236}">
                  <a16:creationId xmlns:a16="http://schemas.microsoft.com/office/drawing/2014/main" id="{39290A8D-7D12-2F35-4AD5-0B8123A8CD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86512" y="2005807"/>
              <a:ext cx="720725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 b="1" kern="1200">
                  <a:solidFill>
                    <a:schemeClr val="tx2"/>
                  </a:solidFill>
                  <a:latin typeface="Arial" panose="020B0604020202020204" pitchFamily="34" charset="0"/>
                  <a:ea typeface="굴림" panose="020B0600000101010101" pitchFamily="34" charset="-127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b="1" kern="1200">
                  <a:solidFill>
                    <a:schemeClr val="tx2"/>
                  </a:solidFill>
                  <a:latin typeface="Arial" panose="020B0604020202020204" pitchFamily="34" charset="0"/>
                  <a:ea typeface="굴림" panose="020B0600000101010101" pitchFamily="34" charset="-127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34" charset="-127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34" charset="-127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34" charset="-127"/>
                  <a:cs typeface="+mn-cs"/>
                </a:defRPr>
              </a:lvl5pPr>
              <a:lvl6pPr marL="2514600" indent="-228600" algn="l" defTabSz="914400" rtl="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34" charset="-127"/>
                  <a:cs typeface="+mn-cs"/>
                </a:defRPr>
              </a:lvl6pPr>
              <a:lvl7pPr marL="2971800" indent="-228600" algn="l" defTabSz="914400" rtl="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34" charset="-127"/>
                  <a:cs typeface="+mn-cs"/>
                </a:defRPr>
              </a:lvl7pPr>
              <a:lvl8pPr marL="3429000" indent="-228600" algn="l" defTabSz="914400" rtl="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34" charset="-127"/>
                  <a:cs typeface="+mn-cs"/>
                </a:defRPr>
              </a:lvl8pPr>
              <a:lvl9pPr marL="3886200" indent="-228600" algn="l" defTabSz="914400" rtl="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34" charset="-127"/>
                  <a:cs typeface="+mn-cs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>
                  <a:solidFill>
                    <a:schemeClr val="tx1"/>
                  </a:solidFill>
                </a:rPr>
                <a:t>Plan</a:t>
              </a:r>
            </a:p>
          </p:txBody>
        </p:sp>
        <p:sp>
          <p:nvSpPr>
            <p:cNvPr id="17" name="Text Box 22">
              <a:extLst>
                <a:ext uri="{FF2B5EF4-FFF2-40B4-BE49-F238E27FC236}">
                  <a16:creationId xmlns:a16="http://schemas.microsoft.com/office/drawing/2014/main" id="{DFDB1B3A-4EB5-DB42-3BA5-01E341BE4B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91337" y="2891632"/>
              <a:ext cx="1158875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 b="1" kern="1200">
                  <a:solidFill>
                    <a:schemeClr val="tx2"/>
                  </a:solidFill>
                  <a:latin typeface="Arial" panose="020B0604020202020204" pitchFamily="34" charset="0"/>
                  <a:ea typeface="굴림" panose="020B0600000101010101" pitchFamily="34" charset="-127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b="1" kern="1200">
                  <a:solidFill>
                    <a:schemeClr val="tx2"/>
                  </a:solidFill>
                  <a:latin typeface="Arial" panose="020B0604020202020204" pitchFamily="34" charset="0"/>
                  <a:ea typeface="굴림" panose="020B0600000101010101" pitchFamily="34" charset="-127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34" charset="-127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34" charset="-127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34" charset="-127"/>
                  <a:cs typeface="+mn-cs"/>
                </a:defRPr>
              </a:lvl5pPr>
              <a:lvl6pPr marL="2514600" indent="-228600" algn="l" defTabSz="914400" rtl="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34" charset="-127"/>
                  <a:cs typeface="+mn-cs"/>
                </a:defRPr>
              </a:lvl6pPr>
              <a:lvl7pPr marL="2971800" indent="-228600" algn="l" defTabSz="914400" rtl="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34" charset="-127"/>
                  <a:cs typeface="+mn-cs"/>
                </a:defRPr>
              </a:lvl7pPr>
              <a:lvl8pPr marL="3429000" indent="-228600" algn="l" defTabSz="914400" rtl="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34" charset="-127"/>
                  <a:cs typeface="+mn-cs"/>
                </a:defRPr>
              </a:lvl8pPr>
              <a:lvl9pPr marL="3886200" indent="-228600" algn="l" defTabSz="914400" rtl="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34" charset="-127"/>
                  <a:cs typeface="+mn-cs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>
                  <a:solidFill>
                    <a:schemeClr val="tx1"/>
                  </a:solidFill>
                </a:rPr>
                <a:t>Execute</a:t>
              </a:r>
            </a:p>
          </p:txBody>
        </p:sp>
        <p:sp>
          <p:nvSpPr>
            <p:cNvPr id="18" name="Text Box 23">
              <a:extLst>
                <a:ext uri="{FF2B5EF4-FFF2-40B4-BE49-F238E27FC236}">
                  <a16:creationId xmlns:a16="http://schemas.microsoft.com/office/drawing/2014/main" id="{11A71F4A-1838-939A-55D6-7FEF12255D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46700" y="3058319"/>
              <a:ext cx="1539875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 b="1" kern="1200">
                  <a:solidFill>
                    <a:schemeClr val="tx2"/>
                  </a:solidFill>
                  <a:latin typeface="Arial" panose="020B0604020202020204" pitchFamily="34" charset="0"/>
                  <a:ea typeface="굴림" panose="020B0600000101010101" pitchFamily="34" charset="-127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b="1" kern="1200">
                  <a:solidFill>
                    <a:schemeClr val="tx2"/>
                  </a:solidFill>
                  <a:latin typeface="Arial" panose="020B0604020202020204" pitchFamily="34" charset="0"/>
                  <a:ea typeface="굴림" panose="020B0600000101010101" pitchFamily="34" charset="-127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34" charset="-127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34" charset="-127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34" charset="-127"/>
                  <a:cs typeface="+mn-cs"/>
                </a:defRPr>
              </a:lvl5pPr>
              <a:lvl6pPr marL="2514600" indent="-228600" algn="l" defTabSz="914400" rtl="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34" charset="-127"/>
                  <a:cs typeface="+mn-cs"/>
                </a:defRPr>
              </a:lvl6pPr>
              <a:lvl7pPr marL="2971800" indent="-228600" algn="l" defTabSz="914400" rtl="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34" charset="-127"/>
                  <a:cs typeface="+mn-cs"/>
                </a:defRPr>
              </a:lvl7pPr>
              <a:lvl8pPr marL="3429000" indent="-228600" algn="l" defTabSz="914400" rtl="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34" charset="-127"/>
                  <a:cs typeface="+mn-cs"/>
                </a:defRPr>
              </a:lvl8pPr>
              <a:lvl9pPr marL="3886200" indent="-228600" algn="l" defTabSz="914400" rtl="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34" charset="-127"/>
                  <a:cs typeface="+mn-cs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dirty="0">
                  <a:solidFill>
                    <a:schemeClr val="bg1"/>
                  </a:solidFill>
                </a:rPr>
                <a:t>Knowledge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05315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과제 </a:t>
            </a:r>
            <a:r>
              <a:rPr lang="en-US" altLang="ko-KR" dirty="0"/>
              <a:t>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/>
              <a:t>CASE</a:t>
            </a:r>
            <a:r>
              <a:rPr lang="ko-KR" altLang="en-US" dirty="0"/>
              <a:t> 도구</a:t>
            </a:r>
            <a:endParaRPr lang="en-US" altLang="ko-KR" dirty="0"/>
          </a:p>
          <a:p>
            <a:pPr>
              <a:defRPr/>
            </a:pPr>
            <a:r>
              <a:rPr lang="en-US" altLang="ko-KR" dirty="0"/>
              <a:t>Computer-Aided Software Engineering</a:t>
            </a:r>
          </a:p>
          <a:p>
            <a:pPr>
              <a:defRPr/>
            </a:pPr>
            <a:r>
              <a:rPr lang="en-US" altLang="ko-KR" dirty="0"/>
              <a:t>Upper-Case</a:t>
            </a:r>
          </a:p>
          <a:p>
            <a:pPr>
              <a:defRPr/>
            </a:pPr>
            <a:r>
              <a:rPr lang="ko-KR" altLang="en-US" dirty="0"/>
              <a:t>요구분석</a:t>
            </a:r>
            <a:r>
              <a:rPr lang="en-US" altLang="ko-KR" dirty="0"/>
              <a:t>, </a:t>
            </a:r>
            <a:r>
              <a:rPr lang="ko-KR" altLang="en-US" dirty="0"/>
              <a:t>설계지원</a:t>
            </a:r>
            <a:endParaRPr lang="en-US" altLang="ko-KR" dirty="0"/>
          </a:p>
          <a:p>
            <a:pPr>
              <a:defRPr/>
            </a:pPr>
            <a:r>
              <a:rPr lang="en-US" altLang="ko-KR" dirty="0"/>
              <a:t>Lower-Case</a:t>
            </a:r>
          </a:p>
          <a:p>
            <a:pPr>
              <a:defRPr/>
            </a:pPr>
            <a:r>
              <a:rPr lang="ko-KR" altLang="en-US" dirty="0"/>
              <a:t>프로그래밍</a:t>
            </a:r>
            <a:r>
              <a:rPr lang="en-US" altLang="ko-KR" dirty="0"/>
              <a:t>, </a:t>
            </a:r>
            <a:r>
              <a:rPr lang="ko-KR" altLang="en-US" dirty="0"/>
              <a:t>디버깅</a:t>
            </a:r>
            <a:r>
              <a:rPr lang="en-US" altLang="ko-KR" dirty="0"/>
              <a:t>, </a:t>
            </a:r>
            <a:r>
              <a:rPr lang="ko-KR" altLang="en-US" dirty="0"/>
              <a:t>테스트</a:t>
            </a:r>
          </a:p>
        </p:txBody>
      </p:sp>
    </p:spTree>
    <p:extLst>
      <p:ext uri="{BB962C8B-B14F-4D97-AF65-F5344CB8AC3E}">
        <p14:creationId xmlns:p14="http://schemas.microsoft.com/office/powerpoint/2010/main" val="1289967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2689C-F04C-1890-4394-95EAF5D10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 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332C9-3EA8-743A-B514-7FF0B5AE62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필드와 레코드과제 </a:t>
            </a:r>
          </a:p>
        </p:txBody>
      </p:sp>
    </p:spTree>
    <p:extLst>
      <p:ext uri="{BB962C8B-B14F-4D97-AF65-F5344CB8AC3E}">
        <p14:creationId xmlns:p14="http://schemas.microsoft.com/office/powerpoint/2010/main" val="26628740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7F845-9669-2E87-FDC5-69C53AFF5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13020-2A19-F0C9-F47E-CE024D814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 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825C86-CE2A-6F1E-DA5F-2B8FEA5966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입출금내역 기반 자율 예산 관리 시스템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FE5BE4-A20D-0D16-D6B5-B1DD3CE9C4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6182" y="-4999"/>
            <a:ext cx="8402223" cy="1695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6069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과제 </a:t>
            </a:r>
            <a:r>
              <a:rPr lang="en-US" altLang="ko-KR"/>
              <a:t>3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/>
              <a:t>Unified Modeling Language</a:t>
            </a:r>
            <a:r>
              <a:rPr lang="ko-KR" altLang="en-US" dirty="0"/>
              <a:t>은 객체지향 분석</a:t>
            </a:r>
            <a:r>
              <a:rPr lang="en-US" altLang="ko-KR" dirty="0"/>
              <a:t>(Analysis)</a:t>
            </a:r>
            <a:r>
              <a:rPr lang="ko-KR" altLang="en-US" dirty="0"/>
              <a:t>과 설계</a:t>
            </a:r>
            <a:r>
              <a:rPr lang="en-US" altLang="ko-KR" dirty="0"/>
              <a:t>(Design)</a:t>
            </a:r>
            <a:r>
              <a:rPr lang="ko-KR" altLang="en-US" dirty="0"/>
              <a:t>를 위한 모델링 언어</a:t>
            </a:r>
            <a:endParaRPr lang="en-US" altLang="ko-KR" dirty="0"/>
          </a:p>
          <a:p>
            <a:pPr>
              <a:defRPr/>
            </a:pPr>
            <a:r>
              <a:rPr lang="ko-KR" altLang="en-US" dirty="0"/>
              <a:t>시퀀스 다이어그램</a:t>
            </a:r>
            <a:endParaRPr lang="en-US" altLang="ko-KR" dirty="0"/>
          </a:p>
          <a:p>
            <a:pPr>
              <a:defRPr/>
            </a:pPr>
            <a:r>
              <a:rPr lang="ko-KR" altLang="en-US" dirty="0"/>
              <a:t>시스템의 동적구조, 즉 객체와 객체그룹사이, 객체와 객체사이</a:t>
            </a:r>
            <a:r>
              <a:rPr lang="en-US" altLang="ko-KR" dirty="0"/>
              <a:t>, </a:t>
            </a:r>
            <a:r>
              <a:rPr lang="ko-KR" altLang="en-US" dirty="0"/>
              <a:t>객체그룹과 객체그룹사이의 동적인 행위를</a:t>
            </a:r>
            <a:r>
              <a:rPr lang="en-US" altLang="ko-KR" dirty="0"/>
              <a:t> </a:t>
            </a:r>
            <a:r>
              <a:rPr lang="ko-KR" altLang="en-US" dirty="0"/>
              <a:t>기술</a:t>
            </a:r>
            <a:endParaRPr lang="en-US" altLang="ko-KR" dirty="0"/>
          </a:p>
          <a:p>
            <a:pPr>
              <a:defRPr/>
            </a:pPr>
            <a:r>
              <a:rPr lang="ko-KR" altLang="en-US" dirty="0"/>
              <a:t>시간(</a:t>
            </a:r>
            <a:r>
              <a:rPr lang="en-US" altLang="ko-KR" dirty="0"/>
              <a:t>Time),</a:t>
            </a:r>
            <a:r>
              <a:rPr lang="ko-KR" altLang="en-US" dirty="0"/>
              <a:t>객체(</a:t>
            </a:r>
            <a:r>
              <a:rPr lang="en-US" altLang="ko-KR" dirty="0"/>
              <a:t>Object),</a:t>
            </a:r>
            <a:r>
              <a:rPr lang="ko-KR" altLang="en-US" dirty="0"/>
              <a:t>메시지(</a:t>
            </a:r>
            <a:r>
              <a:rPr lang="en-US" altLang="ko-KR" dirty="0"/>
              <a:t>Message)</a:t>
            </a:r>
            <a:r>
              <a:rPr lang="ko-KR" altLang="en-US" dirty="0"/>
              <a:t>로 구성</a:t>
            </a:r>
            <a:endParaRPr lang="en-US" altLang="ko-KR" dirty="0"/>
          </a:p>
          <a:p>
            <a:pPr>
              <a:defRPr/>
            </a:pPr>
            <a:r>
              <a:rPr lang="ko-KR" altLang="en-US" dirty="0"/>
              <a:t>상태 다이어그램</a:t>
            </a:r>
            <a:endParaRPr lang="en-US" altLang="ko-KR" dirty="0"/>
          </a:p>
          <a:p>
            <a:pPr>
              <a:defRPr/>
            </a:pPr>
            <a:r>
              <a:rPr lang="ko-KR" altLang="en-US" dirty="0"/>
              <a:t>한 객체의 상태를 나타냄</a:t>
            </a:r>
            <a:endParaRPr lang="en-US" altLang="ko-KR" dirty="0"/>
          </a:p>
          <a:p>
            <a:pPr>
              <a:defRPr/>
            </a:pPr>
            <a:r>
              <a:rPr lang="ko-KR" altLang="en-US" dirty="0"/>
              <a:t>사건에 반응하여 일으키는 상태변화를 시간을 축으로 표현</a:t>
            </a:r>
          </a:p>
        </p:txBody>
      </p:sp>
    </p:spTree>
    <p:extLst>
      <p:ext uri="{BB962C8B-B14F-4D97-AF65-F5344CB8AC3E}">
        <p14:creationId xmlns:p14="http://schemas.microsoft.com/office/powerpoint/2010/main" val="72068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A4EF7-3DE7-A07E-4240-46B24F6D4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D3C32-8E91-83C3-F7E3-EAB598FF2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과제 </a:t>
            </a:r>
            <a:r>
              <a:rPr lang="en-US" altLang="ko-KR"/>
              <a:t>3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9BBF8-6E2C-969A-2C58-ABD4753BBD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인덱스 색인</a:t>
            </a:r>
          </a:p>
        </p:txBody>
      </p:sp>
    </p:spTree>
    <p:extLst>
      <p:ext uri="{BB962C8B-B14F-4D97-AF65-F5344CB8AC3E}">
        <p14:creationId xmlns:p14="http://schemas.microsoft.com/office/powerpoint/2010/main" val="2566595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과제 </a:t>
            </a:r>
            <a:r>
              <a:rPr lang="en-US" altLang="ko-KR"/>
              <a:t>3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22318AB-3455-1DB7-04EB-ABCBCC7C9F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662" y="1061686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049" name="_x257278976">
            <a:extLst>
              <a:ext uri="{FF2B5EF4-FFF2-40B4-BE49-F238E27FC236}">
                <a16:creationId xmlns:a16="http://schemas.microsoft.com/office/drawing/2014/main" id="{928F4EE0-C5B9-6D6B-8F90-0B332B6D41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8385" y="924607"/>
            <a:ext cx="5481638" cy="3673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F382B20-4761-F465-0B14-C3F2A671EE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911" y="69600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051" name="_x564983592">
            <a:extLst>
              <a:ext uri="{FF2B5EF4-FFF2-40B4-BE49-F238E27FC236}">
                <a16:creationId xmlns:a16="http://schemas.microsoft.com/office/drawing/2014/main" id="{162AC5F1-9C47-9583-3B01-89831B74FC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911" y="1153207"/>
            <a:ext cx="4386263" cy="3409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4291D41-5305-E0F8-2970-EF273C5DBD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384" y="3333991"/>
            <a:ext cx="4171315" cy="360870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0978F13-6A97-32DE-F806-AD69DFDDAB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053" name="_x565002456">
            <a:extLst>
              <a:ext uri="{FF2B5EF4-FFF2-40B4-BE49-F238E27FC236}">
                <a16:creationId xmlns:a16="http://schemas.microsoft.com/office/drawing/2014/main" id="{9BF93998-A8E2-46FB-770A-69DE66948E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2317" y="3157713"/>
            <a:ext cx="4370388" cy="3825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34C7B2D-FB98-44CB-FE39-2117FF1CAC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25557" y="2080300"/>
            <a:ext cx="4370705" cy="3825748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26881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8646C-4A8A-FC6B-61CF-723EB96A4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EE60B-76E6-FC23-B9D9-B2CDAA3E8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과제 </a:t>
            </a:r>
            <a:r>
              <a:rPr lang="en-US" altLang="ko-KR"/>
              <a:t>3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509C6DB-23EF-35E7-CD84-A0CE4EFECF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662" y="1061686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738F76-D8BB-E1C3-0D78-20ADE73BFA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911" y="69600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F60593-9433-219A-5BA2-32D205F6E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71E4374-8F37-AFE5-40BE-FA20C4C9D3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911" y="115320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6145" name="_x564999864">
            <a:extLst>
              <a:ext uri="{FF2B5EF4-FFF2-40B4-BE49-F238E27FC236}">
                <a16:creationId xmlns:a16="http://schemas.microsoft.com/office/drawing/2014/main" id="{47E04238-5288-9891-E42F-C6D4A5B67D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911" y="1610407"/>
            <a:ext cx="4592638" cy="3803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623C30E-6473-C56D-E7F1-F6C4DDB223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8192" y="457200"/>
            <a:ext cx="5265420" cy="286702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9" name="Rectangle 4">
            <a:extLst>
              <a:ext uri="{FF2B5EF4-FFF2-40B4-BE49-F238E27FC236}">
                <a16:creationId xmlns:a16="http://schemas.microsoft.com/office/drawing/2014/main" id="{7AFEDCBB-EFC3-E528-5007-A6D08103EA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6147" name="_x565811912">
            <a:extLst>
              <a:ext uri="{FF2B5EF4-FFF2-40B4-BE49-F238E27FC236}">
                <a16:creationId xmlns:a16="http://schemas.microsoft.com/office/drawing/2014/main" id="{9F3D4E55-04DD-3500-20EE-1A4518E7D8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"/>
          <a:stretch>
            <a:fillRect/>
          </a:stretch>
        </p:blipFill>
        <p:spPr bwMode="auto">
          <a:xfrm>
            <a:off x="7277079" y="1153207"/>
            <a:ext cx="2263775" cy="4237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840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4A817-492A-CA9F-C813-4765CE691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66329-6AE4-BBAC-B406-1F48FD144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 </a:t>
            </a:r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9A0468-5E10-E70E-C566-8267BFF4E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fontAlgn="base"/>
            <a:r>
              <a:rPr lang="ko-KR" altLang="en-US" dirty="0"/>
              <a:t>상태 분석</a:t>
            </a:r>
            <a:endParaRPr lang="en-US" altLang="ko-KR" dirty="0"/>
          </a:p>
          <a:p>
            <a:pPr fontAlgn="base"/>
            <a:r>
              <a:rPr lang="en-US" altLang="ko-KR" dirty="0"/>
              <a:t>- </a:t>
            </a:r>
            <a:r>
              <a:rPr lang="ko-KR" altLang="en-US" dirty="0"/>
              <a:t>이름</a:t>
            </a:r>
            <a:r>
              <a:rPr lang="en-US" altLang="ko-KR" dirty="0"/>
              <a:t>, </a:t>
            </a:r>
            <a:r>
              <a:rPr lang="ko-KR" altLang="en-US" dirty="0"/>
              <a:t>주민번호</a:t>
            </a:r>
            <a:r>
              <a:rPr lang="en-US" altLang="ko-KR" dirty="0"/>
              <a:t>, </a:t>
            </a:r>
            <a:r>
              <a:rPr lang="ko-KR" altLang="en-US" dirty="0"/>
              <a:t>전화번호</a:t>
            </a:r>
          </a:p>
          <a:p>
            <a:pPr fontAlgn="base"/>
            <a:r>
              <a:rPr lang="ko-KR" altLang="en-US" dirty="0"/>
              <a:t>	</a:t>
            </a:r>
            <a:r>
              <a:rPr lang="en-US" altLang="ko-KR" dirty="0"/>
              <a:t>1. </a:t>
            </a:r>
            <a:r>
              <a:rPr lang="ko-KR" altLang="en-US" dirty="0"/>
              <a:t>입력 포맷 오류</a:t>
            </a:r>
          </a:p>
          <a:p>
            <a:pPr fontAlgn="base"/>
            <a:r>
              <a:rPr lang="ko-KR" altLang="en-US" dirty="0"/>
              <a:t>	</a:t>
            </a:r>
            <a:r>
              <a:rPr lang="en-US" altLang="ko-KR" dirty="0"/>
              <a:t>2. </a:t>
            </a:r>
            <a:r>
              <a:rPr lang="ko-KR" altLang="en-US" dirty="0"/>
              <a:t>사용자 인증 오류</a:t>
            </a:r>
          </a:p>
          <a:p>
            <a:pPr fontAlgn="base"/>
            <a:r>
              <a:rPr lang="ko-KR" altLang="en-US" dirty="0"/>
              <a:t>	</a:t>
            </a:r>
            <a:r>
              <a:rPr lang="en-US" altLang="ko-KR" dirty="0"/>
              <a:t>3. </a:t>
            </a:r>
            <a:r>
              <a:rPr lang="ko-KR" altLang="en-US" dirty="0"/>
              <a:t>사용자 인증 성공</a:t>
            </a:r>
          </a:p>
          <a:p>
            <a:pPr lvl="0" fontAlgn="base"/>
            <a:r>
              <a:rPr lang="ko-KR" altLang="en-US" dirty="0"/>
              <a:t>사용자 식별 번호</a:t>
            </a:r>
            <a:r>
              <a:rPr lang="en-US" altLang="ko-KR" dirty="0"/>
              <a:t>, </a:t>
            </a:r>
            <a:r>
              <a:rPr lang="ko-KR" altLang="en-US" dirty="0"/>
              <a:t>계좌 잔액</a:t>
            </a:r>
            <a:r>
              <a:rPr lang="en-US" altLang="ko-KR" dirty="0"/>
              <a:t>, </a:t>
            </a:r>
            <a:r>
              <a:rPr lang="ko-KR" altLang="en-US" dirty="0"/>
              <a:t>입출금액</a:t>
            </a:r>
            <a:r>
              <a:rPr lang="en-US" altLang="ko-KR" dirty="0"/>
              <a:t>, </a:t>
            </a:r>
            <a:r>
              <a:rPr lang="ko-KR" altLang="en-US" dirty="0"/>
              <a:t>입출금일</a:t>
            </a:r>
            <a:r>
              <a:rPr lang="en-US" altLang="ko-KR" dirty="0"/>
              <a:t>, </a:t>
            </a:r>
            <a:r>
              <a:rPr lang="ko-KR" altLang="en-US" dirty="0"/>
              <a:t>전월 일평균 지출액</a:t>
            </a:r>
          </a:p>
          <a:p>
            <a:pPr fontAlgn="base"/>
            <a:r>
              <a:rPr lang="en-US" altLang="ko-KR" dirty="0"/>
              <a:t>1. </a:t>
            </a:r>
            <a:r>
              <a:rPr lang="ko-KR" altLang="en-US" dirty="0"/>
              <a:t>일일 소비량 높음</a:t>
            </a:r>
          </a:p>
          <a:p>
            <a:pPr fontAlgn="base"/>
            <a:r>
              <a:rPr lang="en-US" altLang="ko-KR" dirty="0"/>
              <a:t>2. </a:t>
            </a:r>
            <a:r>
              <a:rPr lang="ko-KR" altLang="en-US" dirty="0"/>
              <a:t>일일 소비량 보통</a:t>
            </a:r>
          </a:p>
          <a:p>
            <a:pPr fontAlgn="base"/>
            <a:r>
              <a:rPr lang="en-US" altLang="ko-KR" dirty="0"/>
              <a:t>3. </a:t>
            </a:r>
            <a:r>
              <a:rPr lang="ko-KR" altLang="en-US" dirty="0"/>
              <a:t>일일 소비량 낮음</a:t>
            </a:r>
          </a:p>
        </p:txBody>
      </p:sp>
    </p:spTree>
    <p:extLst>
      <p:ext uri="{BB962C8B-B14F-4D97-AF65-F5344CB8AC3E}">
        <p14:creationId xmlns:p14="http://schemas.microsoft.com/office/powerpoint/2010/main" val="9987011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3C977-A92B-B8ED-B8A0-006119B68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8AEB9-4945-9CFA-2F93-8A5C50BBE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 </a:t>
            </a:r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AFE02-3F6E-CBD3-D2EF-D8456953B8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fontAlgn="base"/>
            <a:r>
              <a:rPr lang="ko-KR" altLang="en-US" dirty="0"/>
              <a:t>전략 생성</a:t>
            </a:r>
            <a:endParaRPr lang="en-US" altLang="ko-KR" dirty="0"/>
          </a:p>
          <a:p>
            <a:pPr lvl="0" fontAlgn="base"/>
            <a:r>
              <a:rPr lang="ko-KR" altLang="en-US" dirty="0"/>
              <a:t>입력 포맷 오류 </a:t>
            </a:r>
            <a:r>
              <a:rPr lang="en-US" altLang="ko-KR" dirty="0"/>
              <a:t>-&gt; </a:t>
            </a:r>
            <a:r>
              <a:rPr lang="ko-KR" altLang="en-US" dirty="0"/>
              <a:t>입력칸 재입력 요구</a:t>
            </a:r>
          </a:p>
          <a:p>
            <a:pPr lvl="0" fontAlgn="base"/>
            <a:r>
              <a:rPr lang="ko-KR" altLang="en-US" dirty="0"/>
              <a:t>사용자 인증 오류 </a:t>
            </a:r>
            <a:r>
              <a:rPr lang="en-US" altLang="ko-KR" dirty="0"/>
              <a:t>-&gt; </a:t>
            </a:r>
            <a:r>
              <a:rPr lang="ko-KR" altLang="en-US" dirty="0"/>
              <a:t>존재하지 않는 사용자임을 알림</a:t>
            </a:r>
          </a:p>
          <a:p>
            <a:pPr lvl="0" fontAlgn="base"/>
            <a:r>
              <a:rPr lang="ko-KR" altLang="en-US" dirty="0"/>
              <a:t>사용자 인증 성공 </a:t>
            </a:r>
            <a:r>
              <a:rPr lang="en-US" altLang="ko-KR" dirty="0"/>
              <a:t>-&gt; </a:t>
            </a:r>
            <a:r>
              <a:rPr lang="ko-KR" altLang="en-US" dirty="0"/>
              <a:t>인증 완료를 알리고 다음 프로세스 진행</a:t>
            </a:r>
          </a:p>
          <a:p>
            <a:pPr lvl="0" fontAlgn="base"/>
            <a:r>
              <a:rPr lang="ko-KR" altLang="en-US" dirty="0"/>
              <a:t>일일 소비량 높음 </a:t>
            </a:r>
            <a:r>
              <a:rPr lang="en-US" altLang="ko-KR" dirty="0"/>
              <a:t>-&gt; </a:t>
            </a:r>
            <a:r>
              <a:rPr lang="ko-KR" altLang="en-US" dirty="0"/>
              <a:t>과소비 상태 알림 및 권장 지출액 조정</a:t>
            </a:r>
          </a:p>
          <a:p>
            <a:pPr lvl="0" fontAlgn="base"/>
            <a:r>
              <a:rPr lang="ko-KR" altLang="en-US" dirty="0"/>
              <a:t>일일 소비량 보통 </a:t>
            </a:r>
            <a:r>
              <a:rPr lang="en-US" altLang="ko-KR" dirty="0"/>
              <a:t>-&gt; </a:t>
            </a:r>
            <a:r>
              <a:rPr lang="ko-KR" altLang="en-US" dirty="0"/>
              <a:t>전월 일평균 지출액 대비 차이 없음 알림</a:t>
            </a:r>
          </a:p>
          <a:p>
            <a:pPr lvl="0" fontAlgn="base"/>
            <a:r>
              <a:rPr lang="ko-KR" altLang="en-US" dirty="0"/>
              <a:t>일일 소비량 낮음 </a:t>
            </a:r>
            <a:r>
              <a:rPr lang="en-US" altLang="ko-KR" dirty="0"/>
              <a:t>-&gt;</a:t>
            </a:r>
            <a:r>
              <a:rPr lang="ko-KR" altLang="en-US" dirty="0"/>
              <a:t> 전월 일평균 지출액 대비 차이 없음 알림 및 권장 지출액 조정</a:t>
            </a:r>
          </a:p>
        </p:txBody>
      </p:sp>
    </p:spTree>
    <p:extLst>
      <p:ext uri="{BB962C8B-B14F-4D97-AF65-F5344CB8AC3E}">
        <p14:creationId xmlns:p14="http://schemas.microsoft.com/office/powerpoint/2010/main" val="35952277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과제 </a:t>
            </a:r>
            <a:r>
              <a:rPr lang="en-US" altLang="ko-KR"/>
              <a:t>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en-US" altLang="ko-KR" dirty="0"/>
              <a:t>Critical System</a:t>
            </a:r>
          </a:p>
          <a:p>
            <a:pPr>
              <a:defRPr/>
            </a:pPr>
            <a:r>
              <a:rPr lang="ko-KR" altLang="en-US" dirty="0"/>
              <a:t>“어떤 시스템 고장은 중요한 경제적 손실과</a:t>
            </a:r>
            <a:r>
              <a:rPr lang="en-US" altLang="ko-KR" dirty="0"/>
              <a:t>, </a:t>
            </a:r>
            <a:r>
              <a:rPr lang="ko-KR" altLang="en-US" dirty="0"/>
              <a:t>물질적 피해</a:t>
            </a:r>
            <a:r>
              <a:rPr lang="en-US" altLang="ko-KR" dirty="0"/>
              <a:t>, </a:t>
            </a:r>
            <a:r>
              <a:rPr lang="ko-KR" altLang="en-US" dirty="0"/>
              <a:t>혹은 사람의 생명에 위협이 될 수 있다</a:t>
            </a:r>
            <a:r>
              <a:rPr lang="en-US" altLang="ko-KR" dirty="0"/>
              <a:t>.”</a:t>
            </a:r>
          </a:p>
          <a:p>
            <a:pPr>
              <a:defRPr/>
            </a:pPr>
            <a:r>
              <a:rPr lang="en-US" altLang="ko-KR" dirty="0"/>
              <a:t>Critical system</a:t>
            </a:r>
            <a:r>
              <a:rPr lang="ko-KR" altLang="en-US" dirty="0"/>
              <a:t>의 중요한 특징</a:t>
            </a:r>
          </a:p>
          <a:p>
            <a:pPr>
              <a:defRPr/>
            </a:pPr>
            <a:r>
              <a:rPr lang="en-US" altLang="ko-KR" dirty="0"/>
              <a:t>Dependability (</a:t>
            </a:r>
            <a:r>
              <a:rPr lang="ko-KR" altLang="en-US" dirty="0"/>
              <a:t>신뢰성 </a:t>
            </a:r>
            <a:r>
              <a:rPr lang="en-US" altLang="ko-KR" dirty="0"/>
              <a:t>/ </a:t>
            </a:r>
            <a:r>
              <a:rPr lang="ko-KR" altLang="en-US" dirty="0"/>
              <a:t>확실성</a:t>
            </a:r>
            <a:r>
              <a:rPr lang="en-US" altLang="ko-KR" dirty="0"/>
              <a:t>)</a:t>
            </a:r>
          </a:p>
          <a:p>
            <a:pPr>
              <a:defRPr/>
            </a:pPr>
            <a:r>
              <a:rPr lang="en-US" altLang="ko-KR" dirty="0"/>
              <a:t>Availability(</a:t>
            </a:r>
            <a:r>
              <a:rPr lang="ko-KR" altLang="en-US" dirty="0"/>
              <a:t>가용성</a:t>
            </a:r>
            <a:r>
              <a:rPr lang="en-US" altLang="ko-KR" dirty="0"/>
              <a:t>)</a:t>
            </a:r>
          </a:p>
          <a:p>
            <a:pPr>
              <a:defRPr/>
            </a:pPr>
            <a:r>
              <a:rPr lang="en-US" altLang="ko-KR" dirty="0"/>
              <a:t>Reliability(</a:t>
            </a:r>
            <a:r>
              <a:rPr lang="ko-KR" altLang="en-US" dirty="0"/>
              <a:t>신뢰성</a:t>
            </a:r>
            <a:r>
              <a:rPr lang="en-US" altLang="ko-KR" dirty="0"/>
              <a:t>)</a:t>
            </a:r>
          </a:p>
          <a:p>
            <a:pPr>
              <a:defRPr/>
            </a:pPr>
            <a:r>
              <a:rPr lang="en-US" altLang="ko-KR" dirty="0"/>
              <a:t>Safety(</a:t>
            </a:r>
            <a:r>
              <a:rPr lang="ko-KR" altLang="en-US" dirty="0"/>
              <a:t>안정성</a:t>
            </a:r>
            <a:r>
              <a:rPr lang="en-US" altLang="ko-KR" dirty="0"/>
              <a:t>)</a:t>
            </a:r>
          </a:p>
          <a:p>
            <a:pPr>
              <a:defRPr/>
            </a:pPr>
            <a:r>
              <a:rPr lang="en-US" altLang="ko-KR" dirty="0"/>
              <a:t>Security(</a:t>
            </a:r>
            <a:r>
              <a:rPr lang="ko-KR" altLang="en-US" dirty="0"/>
              <a:t>보안성</a:t>
            </a:r>
            <a:r>
              <a:rPr lang="en-US" altLang="ko-KR" dirty="0"/>
              <a:t>)</a:t>
            </a:r>
          </a:p>
          <a:p>
            <a:pPr>
              <a:defRPr/>
            </a:pPr>
            <a:r>
              <a:rPr lang="en-US" altLang="ko-KR" dirty="0"/>
              <a:t>Repairability (</a:t>
            </a:r>
            <a:r>
              <a:rPr lang="ko-KR" altLang="en-US" dirty="0"/>
              <a:t>수리가능성</a:t>
            </a:r>
            <a:r>
              <a:rPr lang="en-US" altLang="ko-KR" dirty="0"/>
              <a:t>)</a:t>
            </a:r>
          </a:p>
          <a:p>
            <a:pPr>
              <a:defRPr/>
            </a:pPr>
            <a:r>
              <a:rPr lang="en-US" altLang="ko-KR" dirty="0"/>
              <a:t>Maintainability (</a:t>
            </a:r>
            <a:r>
              <a:rPr lang="ko-KR" altLang="en-US" dirty="0"/>
              <a:t>유지보수성</a:t>
            </a:r>
            <a:r>
              <a:rPr lang="en-US" altLang="ko-KR" dirty="0"/>
              <a:t>)</a:t>
            </a:r>
          </a:p>
          <a:p>
            <a:pPr>
              <a:defRPr/>
            </a:pPr>
            <a:r>
              <a:rPr lang="en-US" altLang="ko-KR" dirty="0"/>
              <a:t>Survivability (</a:t>
            </a:r>
            <a:r>
              <a:rPr lang="ko-KR" altLang="en-US" dirty="0"/>
              <a:t>생존가능성</a:t>
            </a:r>
            <a:r>
              <a:rPr lang="en-US" altLang="ko-KR" dirty="0"/>
              <a:t>)</a:t>
            </a:r>
          </a:p>
          <a:p>
            <a:pPr>
              <a:defRPr/>
            </a:pPr>
            <a:r>
              <a:rPr lang="en-US" altLang="ko-KR" dirty="0"/>
              <a:t>Error tolerance (</a:t>
            </a:r>
            <a:r>
              <a:rPr lang="ko-KR" altLang="en-US" dirty="0"/>
              <a:t>오류내성</a:t>
            </a:r>
            <a:r>
              <a:rPr lang="en-US" altLang="ko-K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33622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과제 </a:t>
            </a:r>
            <a:r>
              <a:rPr lang="en-US" altLang="ko-KR"/>
              <a:t>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r>
              <a:rPr lang="ko-KR" altLang="en-US" dirty="0"/>
              <a:t>신뢰성을 이루기 위한 기술</a:t>
            </a:r>
          </a:p>
          <a:p>
            <a:pPr>
              <a:defRPr/>
            </a:pPr>
            <a:r>
              <a:rPr lang="en-US" altLang="ko-KR" dirty="0"/>
              <a:t>Fault avoidance (</a:t>
            </a:r>
            <a:r>
              <a:rPr lang="ko-KR" altLang="en-US" dirty="0"/>
              <a:t>결함 회피</a:t>
            </a:r>
            <a:r>
              <a:rPr lang="en-US" altLang="ko-KR" dirty="0"/>
              <a:t>)</a:t>
            </a:r>
          </a:p>
          <a:p>
            <a:pPr>
              <a:defRPr/>
            </a:pPr>
            <a:r>
              <a:rPr lang="en-US" altLang="ko-KR" dirty="0"/>
              <a:t>• </a:t>
            </a:r>
            <a:r>
              <a:rPr lang="ko-KR" altLang="en-US" dirty="0"/>
              <a:t>시스템 결함 발생 전에</a:t>
            </a:r>
            <a:r>
              <a:rPr lang="en-US" altLang="ko-KR" dirty="0"/>
              <a:t>, </a:t>
            </a:r>
            <a:r>
              <a:rPr lang="ko-KR" altLang="en-US" dirty="0"/>
              <a:t>실수를 할 가능성을 최소화</a:t>
            </a:r>
          </a:p>
          <a:p>
            <a:pPr>
              <a:defRPr/>
            </a:pPr>
            <a:r>
              <a:rPr lang="en-US" altLang="ko-KR" dirty="0"/>
              <a:t>Fault detection and removal (</a:t>
            </a:r>
            <a:r>
              <a:rPr lang="ko-KR" altLang="en-US" dirty="0"/>
              <a:t>결함 탐지와 제거</a:t>
            </a:r>
            <a:r>
              <a:rPr lang="en-US" altLang="ko-KR" dirty="0"/>
              <a:t>)</a:t>
            </a:r>
          </a:p>
          <a:p>
            <a:pPr>
              <a:defRPr/>
            </a:pPr>
            <a:r>
              <a:rPr lang="en-US" altLang="ko-KR" dirty="0"/>
              <a:t>• </a:t>
            </a:r>
            <a:r>
              <a:rPr lang="ko-KR" altLang="en-US" dirty="0"/>
              <a:t>시스템 사용 전</a:t>
            </a:r>
            <a:r>
              <a:rPr lang="en-US" altLang="ko-KR" dirty="0"/>
              <a:t>, </a:t>
            </a:r>
            <a:r>
              <a:rPr lang="ko-KR" altLang="en-US" dirty="0"/>
              <a:t>시스템의 결함을 제거하는 확인과 검증 기술 사용</a:t>
            </a:r>
          </a:p>
          <a:p>
            <a:pPr>
              <a:defRPr/>
            </a:pPr>
            <a:r>
              <a:rPr lang="en-US" altLang="ko-KR" dirty="0"/>
              <a:t>Fault tolerance (</a:t>
            </a:r>
            <a:r>
              <a:rPr lang="ko-KR" altLang="en-US" dirty="0"/>
              <a:t>결함 내성</a:t>
            </a:r>
            <a:r>
              <a:rPr lang="en-US" altLang="ko-KR" dirty="0"/>
              <a:t>)</a:t>
            </a:r>
          </a:p>
          <a:p>
            <a:pPr>
              <a:defRPr/>
            </a:pPr>
            <a:r>
              <a:rPr lang="en-US" altLang="ko-KR" dirty="0"/>
              <a:t>• </a:t>
            </a:r>
            <a:r>
              <a:rPr lang="ko-KR" altLang="en-US" dirty="0"/>
              <a:t>시스템에 존재하는 결함이 시스템 오류를 일으키지 않도록 함</a:t>
            </a:r>
          </a:p>
          <a:p>
            <a:pPr>
              <a:defRPr/>
            </a:pPr>
            <a:r>
              <a:rPr lang="en-US" altLang="ko-KR" dirty="0"/>
              <a:t>• </a:t>
            </a:r>
            <a:r>
              <a:rPr lang="ko-KR" altLang="en-US" dirty="0"/>
              <a:t>시스템의 오류가 시스템 고장이 되지 않도록 하는 것</a:t>
            </a:r>
          </a:p>
        </p:txBody>
      </p:sp>
    </p:spTree>
    <p:extLst>
      <p:ext uri="{BB962C8B-B14F-4D97-AF65-F5344CB8AC3E}">
        <p14:creationId xmlns:p14="http://schemas.microsoft.com/office/powerpoint/2010/main" val="1221419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DF997-212C-B196-3EEF-96E7E1EEB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83427-A35B-D589-0965-E8C088CC4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과제 </a:t>
            </a:r>
            <a:r>
              <a:rPr lang="en-US" altLang="ko-KR"/>
              <a:t>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DC1ED4-0DEC-67E7-BE88-EE95FB8B75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en-US" altLang="ko-KR" dirty="0"/>
              <a:t>Hazard avoidance (</a:t>
            </a:r>
            <a:r>
              <a:rPr lang="ko-KR" altLang="en-US" dirty="0"/>
              <a:t>위험 회피 기술</a:t>
            </a:r>
            <a:r>
              <a:rPr lang="en-US" altLang="ko-KR" dirty="0"/>
              <a:t>)</a:t>
            </a:r>
          </a:p>
          <a:p>
            <a:pPr>
              <a:defRPr/>
            </a:pPr>
            <a:r>
              <a:rPr lang="en-US" altLang="ko-KR" dirty="0"/>
              <a:t>ü The system is designed so that some hazard cannot arise</a:t>
            </a:r>
          </a:p>
          <a:p>
            <a:pPr>
              <a:defRPr/>
            </a:pPr>
            <a:r>
              <a:rPr lang="en-US" altLang="ko-KR" dirty="0"/>
              <a:t>• Ex) Cutting system with two separate button</a:t>
            </a:r>
          </a:p>
          <a:p>
            <a:pPr>
              <a:defRPr/>
            </a:pPr>
            <a:r>
              <a:rPr lang="en-US" altLang="ko-KR" dirty="0"/>
              <a:t>► Hazard detection and removal (</a:t>
            </a:r>
            <a:r>
              <a:rPr lang="ko-KR" altLang="en-US" dirty="0"/>
              <a:t>위험 탐지 및 제거 기술</a:t>
            </a:r>
            <a:r>
              <a:rPr lang="en-US" altLang="ko-KR" dirty="0"/>
              <a:t>)</a:t>
            </a:r>
          </a:p>
          <a:p>
            <a:pPr>
              <a:defRPr/>
            </a:pPr>
            <a:r>
              <a:rPr lang="en-US" altLang="ko-KR" dirty="0"/>
              <a:t>ü The system is designed so that hazards are detected and removed </a:t>
            </a:r>
          </a:p>
          <a:p>
            <a:pPr>
              <a:defRPr/>
            </a:pPr>
            <a:r>
              <a:rPr lang="en-US" altLang="ko-KR" dirty="0"/>
              <a:t>before they result in an accident</a:t>
            </a:r>
          </a:p>
          <a:p>
            <a:pPr>
              <a:defRPr/>
            </a:pPr>
            <a:r>
              <a:rPr lang="en-US" altLang="ko-KR" dirty="0"/>
              <a:t>• Ex) Chemical plant system detects excessive pressure and opens a relief </a:t>
            </a:r>
          </a:p>
          <a:p>
            <a:pPr>
              <a:defRPr/>
            </a:pPr>
            <a:r>
              <a:rPr lang="en-US" altLang="ko-KR" dirty="0"/>
              <a:t>valve</a:t>
            </a:r>
          </a:p>
          <a:p>
            <a:pPr>
              <a:defRPr/>
            </a:pPr>
            <a:r>
              <a:rPr lang="en-US" altLang="ko-KR" dirty="0"/>
              <a:t>► Damage limitation (</a:t>
            </a:r>
            <a:r>
              <a:rPr lang="ko-KR" altLang="en-US" dirty="0"/>
              <a:t>피해 최소화 기술</a:t>
            </a:r>
            <a:r>
              <a:rPr lang="en-US" altLang="ko-KR" dirty="0"/>
              <a:t>)</a:t>
            </a:r>
          </a:p>
          <a:p>
            <a:pPr>
              <a:defRPr/>
            </a:pPr>
            <a:r>
              <a:rPr lang="en-US" altLang="ko-KR" dirty="0"/>
              <a:t>ü The system includes protection features that minimize the damage </a:t>
            </a:r>
          </a:p>
          <a:p>
            <a:pPr>
              <a:defRPr/>
            </a:pPr>
            <a:r>
              <a:rPr lang="en-US" altLang="ko-KR" dirty="0"/>
              <a:t>that may result from an accident</a:t>
            </a:r>
          </a:p>
          <a:p>
            <a:pPr>
              <a:defRPr/>
            </a:pPr>
            <a:r>
              <a:rPr lang="en-US" altLang="ko-KR" dirty="0"/>
              <a:t>• Ex) Aircraft engine including automatic fire extinguishers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8307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57467-97A3-E13E-75EA-6944BB415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06C58-9B2C-04DF-D6C1-EADD32A0F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과제 </a:t>
            </a:r>
            <a:r>
              <a:rPr lang="en-US" altLang="ko-KR"/>
              <a:t>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416371-0713-3A37-0C52-71E6EE147E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방사능 물질의 위험도 측정 시스템 </a:t>
            </a:r>
            <a:r>
              <a:rPr lang="en-US" altLang="ko-KR" dirty="0"/>
              <a:t>MAPE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29705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33307-EBF5-9A81-5EAB-810C582BF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1A789-7AC6-8384-A0D1-EA686EBCA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과제 </a:t>
            </a:r>
            <a:r>
              <a:rPr lang="en-US" altLang="ko-KR"/>
              <a:t>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83043-6218-B1A6-8BF5-7C4A0308D1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방사능 물질의 위험도 측정 시스템 필드</a:t>
            </a:r>
          </a:p>
          <a:p>
            <a:pPr>
              <a:defRPr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34303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93048-D6FC-0747-7950-E8079D7DC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F8D1F-C47C-69FF-D452-347C410B0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과제 </a:t>
            </a:r>
            <a:r>
              <a:rPr lang="en-US" altLang="ko-KR"/>
              <a:t>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AABB6-5CF5-6187-1F21-F0BBFAC044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방사능 물질의 위험도 측정 시스템 함수 추상화</a:t>
            </a:r>
          </a:p>
        </p:txBody>
      </p:sp>
    </p:spTree>
    <p:extLst>
      <p:ext uri="{BB962C8B-B14F-4D97-AF65-F5344CB8AC3E}">
        <p14:creationId xmlns:p14="http://schemas.microsoft.com/office/powerpoint/2010/main" val="1212503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9CA23-4A56-22C2-2547-CACCDE059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4DE2E-8F4C-D04E-E227-EE2AA815A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과제 </a:t>
            </a:r>
            <a:r>
              <a:rPr lang="en-US" altLang="ko-KR"/>
              <a:t>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009A90-F591-C4BE-79E2-178743DBC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방사능 물질의 위험도 측정 시스템 평가 방법</a:t>
            </a:r>
          </a:p>
        </p:txBody>
      </p:sp>
    </p:spTree>
    <p:extLst>
      <p:ext uri="{BB962C8B-B14F-4D97-AF65-F5344CB8AC3E}">
        <p14:creationId xmlns:p14="http://schemas.microsoft.com/office/powerpoint/2010/main" val="1775104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62059-11FC-A0FC-97F0-2762536DA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41363-8F0D-2FD7-BE5A-E67B77C09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과제 </a:t>
            </a:r>
            <a:r>
              <a:rPr lang="en-US" altLang="ko-KR"/>
              <a:t>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C61901-9F64-C87B-8030-6BDBC8FB6C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방사능 물질의 위험도 측정 시스템 임계값 설정</a:t>
            </a:r>
            <a:endParaRPr lang="en-US" altLang="ko-KR" dirty="0"/>
          </a:p>
          <a:p>
            <a:pPr>
              <a:defRPr/>
            </a:pPr>
            <a:r>
              <a:rPr lang="ko-KR" altLang="en-US" dirty="0"/>
              <a:t>방사능 물질의 위험도 측정 시스템 난수 필드 설정</a:t>
            </a:r>
          </a:p>
        </p:txBody>
      </p:sp>
    </p:spTree>
    <p:extLst>
      <p:ext uri="{BB962C8B-B14F-4D97-AF65-F5344CB8AC3E}">
        <p14:creationId xmlns:p14="http://schemas.microsoft.com/office/powerpoint/2010/main" val="3818282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8CE5A-60DB-DE6A-7287-E38E7C18E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05746-91CA-19A7-0E89-85309B67C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과제 </a:t>
            </a:r>
            <a:r>
              <a:rPr lang="en-US" altLang="ko-KR"/>
              <a:t>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A8BFB-F80A-B036-E176-39EAB67B02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방사능 물질의 위험도 측정 시스템 시퀀스 다이어그램</a:t>
            </a:r>
          </a:p>
        </p:txBody>
      </p:sp>
    </p:spTree>
    <p:extLst>
      <p:ext uri="{BB962C8B-B14F-4D97-AF65-F5344CB8AC3E}">
        <p14:creationId xmlns:p14="http://schemas.microsoft.com/office/powerpoint/2010/main" val="2271336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E20C0-F6C8-D7F0-24D8-8089C3D3B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100E1-82FC-222D-DDC9-9365C421B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과제 </a:t>
            </a:r>
            <a:r>
              <a:rPr lang="en-US" altLang="ko-KR"/>
              <a:t>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880E8C-E572-BF08-0A94-5647CF23E4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방사능 물질의 위험도 측정 시스템 시퀀스 다이어그램</a:t>
            </a:r>
          </a:p>
        </p:txBody>
      </p:sp>
    </p:spTree>
    <p:extLst>
      <p:ext uri="{BB962C8B-B14F-4D97-AF65-F5344CB8AC3E}">
        <p14:creationId xmlns:p14="http://schemas.microsoft.com/office/powerpoint/2010/main" val="505053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3E5AF-D0A6-9AF7-0D17-ECFD97164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01148-CE52-6A4D-A07C-694104794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과제 </a:t>
            </a:r>
            <a:r>
              <a:rPr lang="en-US" altLang="ko-KR"/>
              <a:t>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69086-A82D-307A-0C37-79A8BF4029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방사능 물질의 위험도 측정 시스템 상태 다이어그램</a:t>
            </a:r>
          </a:p>
        </p:txBody>
      </p:sp>
    </p:spTree>
    <p:extLst>
      <p:ext uri="{BB962C8B-B14F-4D97-AF65-F5344CB8AC3E}">
        <p14:creationId xmlns:p14="http://schemas.microsoft.com/office/powerpoint/2010/main" val="1032757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FBC45-E4D9-2662-FD5A-AA8DB32BD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1A050-31E7-E098-39D6-21D4718E7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과제 </a:t>
            </a:r>
            <a:r>
              <a:rPr lang="en-US" altLang="ko-KR"/>
              <a:t>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6D800-975E-2883-E77A-495E588F0C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교내 보행자 안전 시스템 </a:t>
            </a:r>
            <a:r>
              <a:rPr lang="en-US" altLang="ko-KR" dirty="0"/>
              <a:t>MAPE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08116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658E7-35AA-5BF4-8038-833ECB8F6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22179-9799-ED3F-31DC-C2DBA555D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과제 </a:t>
            </a:r>
            <a:r>
              <a:rPr lang="en-US" altLang="ko-KR"/>
              <a:t>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26657-8CF4-5C37-CB2A-6CD2C7C360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교내 보행자 안전 시스템 필드 설정</a:t>
            </a:r>
          </a:p>
        </p:txBody>
      </p:sp>
    </p:spTree>
    <p:extLst>
      <p:ext uri="{BB962C8B-B14F-4D97-AF65-F5344CB8AC3E}">
        <p14:creationId xmlns:p14="http://schemas.microsoft.com/office/powerpoint/2010/main" val="1105672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35BCF-F2A0-C481-1C3E-F76B1A237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EA4A8-2FA3-1DC2-42D5-6CFF1CBA1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과제 </a:t>
            </a:r>
            <a:r>
              <a:rPr lang="en-US" altLang="ko-KR"/>
              <a:t>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F98C5-6F8C-DC60-6381-427711D611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교내 보행자 안전 시스템 함수 추상화</a:t>
            </a:r>
          </a:p>
        </p:txBody>
      </p:sp>
    </p:spTree>
    <p:extLst>
      <p:ext uri="{BB962C8B-B14F-4D97-AF65-F5344CB8AC3E}">
        <p14:creationId xmlns:p14="http://schemas.microsoft.com/office/powerpoint/2010/main" val="3922831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5E5FF-197B-F27A-6F32-66EA8DE97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DFE4C-47D8-7CA5-E45C-401424B6F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과제 </a:t>
            </a:r>
            <a:r>
              <a:rPr lang="en-US" altLang="ko-KR"/>
              <a:t>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86622-B415-C6AB-FB0B-FD948DFA9A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교내 보행자 안전 시스템 함수 추상화</a:t>
            </a:r>
            <a:endParaRPr lang="en-US" altLang="ko-KR" dirty="0"/>
          </a:p>
          <a:p>
            <a:pPr>
              <a:defRPr/>
            </a:pPr>
            <a:r>
              <a:rPr lang="ko-KR" altLang="en-US" dirty="0"/>
              <a:t>교내 보행자 안전 시스템 평가 방법</a:t>
            </a:r>
            <a:endParaRPr lang="en-US" altLang="ko-KR" dirty="0"/>
          </a:p>
          <a:p>
            <a:pPr>
              <a:defRPr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19467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과제 </a:t>
            </a:r>
            <a:r>
              <a:rPr lang="en-US" altLang="ko-KR"/>
              <a:t>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/>
              <a:t>Risk Management</a:t>
            </a:r>
          </a:p>
          <a:p>
            <a:pPr>
              <a:defRPr/>
            </a:pPr>
            <a:r>
              <a:rPr lang="ko-KR" altLang="en-US" dirty="0"/>
              <a:t>소프트웨어 품질 혹은 프로젝트 일정에 영향을 미치는 위험 예측</a:t>
            </a:r>
            <a:endParaRPr lang="en-US" altLang="ko-KR" dirty="0"/>
          </a:p>
          <a:p>
            <a:pPr>
              <a:defRPr/>
            </a:pPr>
            <a:r>
              <a:rPr lang="ko-KR" altLang="en-US" dirty="0"/>
              <a:t>프로젝트 위험</a:t>
            </a:r>
            <a:endParaRPr lang="en-US" altLang="ko-KR" dirty="0"/>
          </a:p>
          <a:p>
            <a:pPr>
              <a:defRPr/>
            </a:pPr>
            <a:r>
              <a:rPr lang="ko-KR" altLang="en-US" dirty="0"/>
              <a:t>제품 위험</a:t>
            </a:r>
            <a:endParaRPr lang="en-US" altLang="ko-KR" dirty="0"/>
          </a:p>
          <a:p>
            <a:pPr>
              <a:defRPr/>
            </a:pPr>
            <a:r>
              <a:rPr lang="ko-KR" altLang="en-US" dirty="0"/>
              <a:t>비즈니스 위험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702592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0F0D2-9772-5FA5-925C-DF41A7985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F1C82-3DCC-20D9-3D67-9F0F35329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과제 </a:t>
            </a:r>
            <a:r>
              <a:rPr lang="en-US" altLang="ko-KR"/>
              <a:t>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E117F-D338-97E4-5B1D-2C6B9A2552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ko-KR" altLang="en-US" dirty="0"/>
              <a:t>위험 관리 프로세스</a:t>
            </a:r>
            <a:endParaRPr lang="en-US" altLang="ko-KR" dirty="0"/>
          </a:p>
          <a:p>
            <a:pPr>
              <a:defRPr/>
            </a:pPr>
            <a:r>
              <a:rPr lang="ko-KR" altLang="en-US" dirty="0"/>
              <a:t>위험 식별</a:t>
            </a:r>
            <a:r>
              <a:rPr lang="en-US" altLang="ko-KR" dirty="0"/>
              <a:t>(Risk identification)</a:t>
            </a:r>
          </a:p>
          <a:p>
            <a:pPr>
              <a:defRPr/>
            </a:pPr>
            <a:r>
              <a:rPr lang="ko-KR" altLang="en-US" dirty="0"/>
              <a:t>위험 분석</a:t>
            </a:r>
            <a:r>
              <a:rPr lang="en-US" altLang="ko-KR" dirty="0"/>
              <a:t>(Risk analysis)</a:t>
            </a:r>
          </a:p>
          <a:p>
            <a:pPr>
              <a:defRPr/>
            </a:pPr>
            <a:r>
              <a:rPr lang="ko-KR" altLang="en-US" dirty="0"/>
              <a:t>위험 가능성 평가</a:t>
            </a:r>
            <a:endParaRPr lang="en-US" altLang="ko-KR" dirty="0"/>
          </a:p>
          <a:p>
            <a:pPr>
              <a:defRPr/>
            </a:pPr>
            <a:r>
              <a:rPr lang="ko-KR" altLang="en-US" dirty="0"/>
              <a:t>위험 결과 평가</a:t>
            </a:r>
            <a:endParaRPr lang="en-US" altLang="ko-KR" dirty="0"/>
          </a:p>
          <a:p>
            <a:pPr>
              <a:defRPr/>
            </a:pPr>
            <a:r>
              <a:rPr lang="ko-KR" altLang="en-US" dirty="0"/>
              <a:t>위험 계획</a:t>
            </a:r>
            <a:r>
              <a:rPr lang="en-US" altLang="ko-KR" dirty="0"/>
              <a:t>(Risk planning)</a:t>
            </a:r>
          </a:p>
          <a:p>
            <a:pPr>
              <a:defRPr/>
            </a:pPr>
            <a:r>
              <a:rPr lang="ko-KR" altLang="en-US" dirty="0"/>
              <a:t>회피전략</a:t>
            </a:r>
            <a:endParaRPr lang="en-US" altLang="ko-KR" dirty="0"/>
          </a:p>
          <a:p>
            <a:pPr>
              <a:defRPr/>
            </a:pPr>
            <a:r>
              <a:rPr lang="ko-KR" altLang="en-US" dirty="0"/>
              <a:t>최소화전략</a:t>
            </a:r>
            <a:endParaRPr lang="en-US" altLang="ko-KR" dirty="0"/>
          </a:p>
          <a:p>
            <a:pPr>
              <a:defRPr/>
            </a:pPr>
            <a:r>
              <a:rPr lang="ko-KR" altLang="en-US" dirty="0"/>
              <a:t>비상계획</a:t>
            </a:r>
            <a:endParaRPr lang="en-US" altLang="ko-KR" dirty="0"/>
          </a:p>
          <a:p>
            <a:pPr>
              <a:defRPr/>
            </a:pPr>
            <a:r>
              <a:rPr lang="ko-KR" altLang="en-US" dirty="0"/>
              <a:t>위험 감시</a:t>
            </a:r>
            <a:r>
              <a:rPr lang="en-US" altLang="ko-KR" dirty="0"/>
              <a:t>(Risk monitoring)</a:t>
            </a:r>
          </a:p>
        </p:txBody>
      </p:sp>
    </p:spTree>
    <p:extLst>
      <p:ext uri="{BB962C8B-B14F-4D97-AF65-F5344CB8AC3E}">
        <p14:creationId xmlns:p14="http://schemas.microsoft.com/office/powerpoint/2010/main" val="4120945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과제 </a:t>
            </a:r>
            <a:r>
              <a:rPr lang="en-US" altLang="ko-KR"/>
              <a:t>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위험관리</a:t>
            </a:r>
            <a:r>
              <a:rPr lang="en-US" altLang="ko-KR" dirty="0"/>
              <a:t> MAPE - </a:t>
            </a:r>
            <a:r>
              <a:rPr lang="ko-KR" altLang="en-US" dirty="0"/>
              <a:t>유형</a:t>
            </a:r>
          </a:p>
        </p:txBody>
      </p:sp>
    </p:spTree>
    <p:extLst>
      <p:ext uri="{BB962C8B-B14F-4D97-AF65-F5344CB8AC3E}">
        <p14:creationId xmlns:p14="http://schemas.microsoft.com/office/powerpoint/2010/main" val="1125589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682D5-57F9-F424-9316-0568BC01E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5BA82-573D-E3F9-50EB-8F6448DBE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과제 </a:t>
            </a:r>
            <a:r>
              <a:rPr lang="en-US" altLang="ko-KR"/>
              <a:t>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94BA9C-6870-37B2-E90F-78859227FC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위험관리</a:t>
            </a:r>
            <a:r>
              <a:rPr lang="en-US" altLang="ko-KR" dirty="0"/>
              <a:t> MAPE - </a:t>
            </a:r>
            <a:r>
              <a:rPr lang="ko-KR" altLang="en-US" dirty="0"/>
              <a:t>식별</a:t>
            </a:r>
          </a:p>
        </p:txBody>
      </p:sp>
    </p:spTree>
    <p:extLst>
      <p:ext uri="{BB962C8B-B14F-4D97-AF65-F5344CB8AC3E}">
        <p14:creationId xmlns:p14="http://schemas.microsoft.com/office/powerpoint/2010/main" val="156584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FA2E5-9769-509C-2CFB-B7184441E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A5D74-707D-9CF4-3627-F3B8D0795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과제 </a:t>
            </a:r>
            <a:r>
              <a:rPr lang="en-US" altLang="ko-KR"/>
              <a:t>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DD7264-AC71-735A-5010-C0EC99FF75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위험관리</a:t>
            </a:r>
            <a:r>
              <a:rPr lang="en-US" altLang="ko-KR" dirty="0"/>
              <a:t> MAPE - </a:t>
            </a:r>
            <a:r>
              <a:rPr lang="ko-KR" altLang="en-US" dirty="0"/>
              <a:t>분석</a:t>
            </a:r>
          </a:p>
        </p:txBody>
      </p:sp>
    </p:spTree>
    <p:extLst>
      <p:ext uri="{BB962C8B-B14F-4D97-AF65-F5344CB8AC3E}">
        <p14:creationId xmlns:p14="http://schemas.microsoft.com/office/powerpoint/2010/main" val="1844860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F658C-9793-A133-E609-0E121FB8C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CEE2E-D453-C508-C267-FB5BC13FD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과제 </a:t>
            </a:r>
            <a:r>
              <a:rPr lang="en-US" altLang="ko-KR"/>
              <a:t>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8A9D7-2FA1-8EAA-B7B2-D28D71FDCF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위험관리</a:t>
            </a:r>
            <a:r>
              <a:rPr lang="en-US" altLang="ko-KR" dirty="0"/>
              <a:t> MAPE - </a:t>
            </a:r>
            <a:r>
              <a:rPr lang="ko-KR" altLang="en-US" dirty="0"/>
              <a:t>전략</a:t>
            </a:r>
          </a:p>
        </p:txBody>
      </p:sp>
    </p:spTree>
    <p:extLst>
      <p:ext uri="{BB962C8B-B14F-4D97-AF65-F5344CB8AC3E}">
        <p14:creationId xmlns:p14="http://schemas.microsoft.com/office/powerpoint/2010/main" val="2732897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32052-5A49-BBCE-FE09-FAD6C64F8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1FFD6-818E-854E-F478-15EE408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과제 </a:t>
            </a:r>
            <a:r>
              <a:rPr lang="en-US" altLang="ko-KR"/>
              <a:t>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5506DA-511A-7044-082A-BDA66FAAE3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위험관리</a:t>
            </a:r>
            <a:r>
              <a:rPr lang="en-US" altLang="ko-KR" dirty="0"/>
              <a:t> MAPE - </a:t>
            </a:r>
            <a:r>
              <a:rPr lang="ko-KR" altLang="en-US" dirty="0"/>
              <a:t>감시</a:t>
            </a:r>
          </a:p>
        </p:txBody>
      </p:sp>
    </p:spTree>
    <p:extLst>
      <p:ext uri="{BB962C8B-B14F-4D97-AF65-F5344CB8AC3E}">
        <p14:creationId xmlns:p14="http://schemas.microsoft.com/office/powerpoint/2010/main" val="75025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과제 </a:t>
            </a:r>
            <a:r>
              <a:rPr lang="en-US" altLang="ko-KR"/>
              <a:t>5</a:t>
            </a:r>
            <a:r>
              <a:rPr lang="ko-KR" altLang="en-US"/>
              <a:t> </a:t>
            </a:r>
            <a:r>
              <a:rPr lang="en-US" altLang="ko-KR"/>
              <a:t>-</a:t>
            </a:r>
            <a:r>
              <a:rPr lang="ko-KR" altLang="en-US"/>
              <a:t> 그 외 배운 것들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논문 작성법</a:t>
            </a:r>
          </a:p>
        </p:txBody>
      </p:sp>
    </p:spTree>
    <p:extLst>
      <p:ext uri="{BB962C8B-B14F-4D97-AF65-F5344CB8AC3E}">
        <p14:creationId xmlns:p14="http://schemas.microsoft.com/office/powerpoint/2010/main" val="4003314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B0620-86AD-DEF6-E876-A54C095F3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D3175-959B-558D-7CF1-0B3E51EF9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과제 </a:t>
            </a:r>
            <a:r>
              <a:rPr lang="en-US" altLang="ko-KR"/>
              <a:t>5</a:t>
            </a:r>
            <a:r>
              <a:rPr lang="ko-KR" altLang="en-US"/>
              <a:t> </a:t>
            </a:r>
            <a:r>
              <a:rPr lang="en-US" altLang="ko-KR"/>
              <a:t>-</a:t>
            </a:r>
            <a:r>
              <a:rPr lang="ko-KR" altLang="en-US"/>
              <a:t> 그 외 배운 것들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33C11C-C3BB-A6B3-2364-25B42C22A8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기능적 요구사항 </a:t>
            </a:r>
            <a:r>
              <a:rPr lang="en-US" altLang="ko-KR" dirty="0"/>
              <a:t>&amp;</a:t>
            </a:r>
            <a:r>
              <a:rPr lang="ko-KR" altLang="en-US" dirty="0"/>
              <a:t> 비기능적 요구사항</a:t>
            </a:r>
          </a:p>
        </p:txBody>
      </p:sp>
    </p:spTree>
    <p:extLst>
      <p:ext uri="{BB962C8B-B14F-4D97-AF65-F5344CB8AC3E}">
        <p14:creationId xmlns:p14="http://schemas.microsoft.com/office/powerpoint/2010/main" val="492803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BABD4-9732-5070-3259-70A40B68B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13E46-F2F4-8823-F073-97A16BD15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과제 </a:t>
            </a:r>
            <a:r>
              <a:rPr lang="en-US" altLang="ko-KR"/>
              <a:t>5</a:t>
            </a:r>
            <a:r>
              <a:rPr lang="ko-KR" altLang="en-US"/>
              <a:t> </a:t>
            </a:r>
            <a:r>
              <a:rPr lang="en-US" altLang="ko-KR"/>
              <a:t>-</a:t>
            </a:r>
            <a:r>
              <a:rPr lang="ko-KR" altLang="en-US"/>
              <a:t> 그 외 배운 것들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C87AB-56F9-ED0E-F260-E36F25A1A4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형상관리</a:t>
            </a:r>
          </a:p>
        </p:txBody>
      </p:sp>
    </p:spTree>
    <p:extLst>
      <p:ext uri="{BB962C8B-B14F-4D97-AF65-F5344CB8AC3E}">
        <p14:creationId xmlns:p14="http://schemas.microsoft.com/office/powerpoint/2010/main" val="2878361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과제 </a:t>
            </a:r>
            <a:r>
              <a:rPr lang="en-US" altLang="ko-KR"/>
              <a:t>6</a:t>
            </a:r>
            <a:r>
              <a:rPr lang="ko-KR" altLang="en-US"/>
              <a:t> </a:t>
            </a:r>
            <a:r>
              <a:rPr lang="en-US" altLang="ko-KR"/>
              <a:t>-</a:t>
            </a:r>
            <a:r>
              <a:rPr lang="ko-KR" altLang="en-US"/>
              <a:t> 최종 주제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교내 보행자 안전 시스템에 대한 간단한 설명</a:t>
            </a:r>
          </a:p>
        </p:txBody>
      </p:sp>
    </p:spTree>
    <p:extLst>
      <p:ext uri="{BB962C8B-B14F-4D97-AF65-F5344CB8AC3E}">
        <p14:creationId xmlns:p14="http://schemas.microsoft.com/office/powerpoint/2010/main" val="3766277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과제 </a:t>
            </a:r>
            <a:r>
              <a:rPr lang="en-US" altLang="ko-KR"/>
              <a:t>6</a:t>
            </a:r>
            <a:r>
              <a:rPr lang="ko-KR" altLang="en-US"/>
              <a:t> </a:t>
            </a:r>
            <a:r>
              <a:rPr lang="en-US" altLang="ko-KR"/>
              <a:t>-</a:t>
            </a:r>
            <a:r>
              <a:rPr lang="ko-KR" altLang="en-US"/>
              <a:t> 설계과정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설계 단계에서 논의 된 내용을 간략히 설명</a:t>
            </a:r>
          </a:p>
        </p:txBody>
      </p:sp>
    </p:spTree>
    <p:extLst>
      <p:ext uri="{BB962C8B-B14F-4D97-AF65-F5344CB8AC3E}">
        <p14:creationId xmlns:p14="http://schemas.microsoft.com/office/powerpoint/2010/main" val="3617708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과제 </a:t>
            </a:r>
            <a:r>
              <a:rPr lang="en-US" altLang="ko-KR"/>
              <a:t>6</a:t>
            </a:r>
            <a:r>
              <a:rPr lang="ko-KR" altLang="en-US"/>
              <a:t> </a:t>
            </a:r>
            <a:r>
              <a:rPr lang="en-US" altLang="ko-KR"/>
              <a:t>-</a:t>
            </a:r>
            <a:r>
              <a:rPr lang="ko-KR" altLang="en-US"/>
              <a:t> 설계과정</a:t>
            </a:r>
            <a:endParaRPr lang="en-US" altLang="ko-K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최종적으로 설계된 구체적인 내용 설명</a:t>
            </a:r>
          </a:p>
        </p:txBody>
      </p:sp>
    </p:spTree>
    <p:extLst>
      <p:ext uri="{BB962C8B-B14F-4D97-AF65-F5344CB8AC3E}">
        <p14:creationId xmlns:p14="http://schemas.microsoft.com/office/powerpoint/2010/main" val="3477890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과제 </a:t>
            </a:r>
            <a:r>
              <a:rPr lang="en-US" altLang="ko-KR"/>
              <a:t>6</a:t>
            </a:r>
            <a:r>
              <a:rPr lang="ko-KR" altLang="en-US"/>
              <a:t> </a:t>
            </a:r>
            <a:r>
              <a:rPr lang="en-US" altLang="ko-KR"/>
              <a:t>-</a:t>
            </a:r>
            <a:r>
              <a:rPr lang="ko-KR" altLang="en-US"/>
              <a:t> 설계과정</a:t>
            </a:r>
            <a:endParaRPr lang="en-US" altLang="ko-K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최종적으로 설계된 구체적인 내용 설명</a:t>
            </a:r>
          </a:p>
        </p:txBody>
      </p:sp>
    </p:spTree>
    <p:extLst>
      <p:ext uri="{BB962C8B-B14F-4D97-AF65-F5344CB8AC3E}">
        <p14:creationId xmlns:p14="http://schemas.microsoft.com/office/powerpoint/2010/main" val="3528041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과제 </a:t>
            </a:r>
            <a:r>
              <a:rPr lang="en-US" altLang="ko-KR"/>
              <a:t>6</a:t>
            </a:r>
            <a:r>
              <a:rPr lang="ko-KR" altLang="en-US"/>
              <a:t> </a:t>
            </a:r>
            <a:r>
              <a:rPr lang="en-US" altLang="ko-KR"/>
              <a:t>-</a:t>
            </a:r>
            <a:r>
              <a:rPr lang="ko-KR" altLang="en-US"/>
              <a:t> 설계과정</a:t>
            </a:r>
            <a:endParaRPr lang="en-US" altLang="ko-K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최종적으로 설계된 구체적인 내용 설명</a:t>
            </a:r>
          </a:p>
        </p:txBody>
      </p:sp>
    </p:spTree>
    <p:extLst>
      <p:ext uri="{BB962C8B-B14F-4D97-AF65-F5344CB8AC3E}">
        <p14:creationId xmlns:p14="http://schemas.microsoft.com/office/powerpoint/2010/main" val="351644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과제 </a:t>
            </a:r>
            <a:r>
              <a:rPr lang="en-US" altLang="ko-KR"/>
              <a:t>6</a:t>
            </a:r>
            <a:r>
              <a:rPr lang="ko-KR" altLang="en-US"/>
              <a:t> </a:t>
            </a:r>
            <a:r>
              <a:rPr lang="en-US" altLang="ko-KR"/>
              <a:t>-</a:t>
            </a:r>
            <a:r>
              <a:rPr lang="ko-KR" altLang="en-US"/>
              <a:t> 개발과정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업무분담</a:t>
            </a:r>
          </a:p>
        </p:txBody>
      </p:sp>
    </p:spTree>
    <p:extLst>
      <p:ext uri="{BB962C8B-B14F-4D97-AF65-F5344CB8AC3E}">
        <p14:creationId xmlns:p14="http://schemas.microsoft.com/office/powerpoint/2010/main" val="772644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과제 </a:t>
            </a:r>
            <a:r>
              <a:rPr lang="en-US" altLang="ko-KR"/>
              <a:t>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실제 개발 과정</a:t>
            </a:r>
            <a:r>
              <a:rPr lang="en-US" altLang="ko-KR"/>
              <a:t>(</a:t>
            </a:r>
            <a:r>
              <a:rPr lang="ko-KR" altLang="en-US"/>
              <a:t>형상관리 이미지 포함</a:t>
            </a:r>
            <a:r>
              <a:rPr lang="en-US" altLang="ko-KR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72285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과제 </a:t>
            </a:r>
            <a:r>
              <a:rPr lang="en-US" altLang="ko-KR"/>
              <a:t>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실제 개발 과정</a:t>
            </a:r>
            <a:r>
              <a:rPr lang="en-US" altLang="ko-KR"/>
              <a:t>(</a:t>
            </a:r>
            <a:r>
              <a:rPr lang="ko-KR" altLang="en-US"/>
              <a:t>형상관리 이미지 포함</a:t>
            </a:r>
            <a:r>
              <a:rPr lang="en-US" altLang="ko-KR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74054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과제 </a:t>
            </a:r>
            <a:r>
              <a:rPr lang="en-US" altLang="ko-KR"/>
              <a:t>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실제 개발 과정</a:t>
            </a:r>
            <a:r>
              <a:rPr lang="en-US" altLang="ko-KR"/>
              <a:t>(</a:t>
            </a:r>
            <a:r>
              <a:rPr lang="ko-KR" altLang="en-US"/>
              <a:t>형상관리 이미지 포함</a:t>
            </a:r>
            <a:r>
              <a:rPr lang="en-US" altLang="ko-KR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02122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과제 </a:t>
            </a:r>
            <a:r>
              <a:rPr lang="en-US" altLang="ko-KR"/>
              <a:t>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실제 개발 과정</a:t>
            </a:r>
            <a:r>
              <a:rPr lang="en-US" altLang="ko-KR"/>
              <a:t>(</a:t>
            </a:r>
            <a:r>
              <a:rPr lang="ko-KR" altLang="en-US"/>
              <a:t>형상관리 이미지 포함</a:t>
            </a:r>
            <a:r>
              <a:rPr lang="en-US" altLang="ko-KR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37611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과제 </a:t>
            </a:r>
            <a:r>
              <a:rPr lang="en-US" altLang="ko-KR"/>
              <a:t>6</a:t>
            </a:r>
            <a:r>
              <a:rPr lang="ko-KR" altLang="en-US"/>
              <a:t> </a:t>
            </a:r>
            <a:r>
              <a:rPr lang="en-US" altLang="ko-KR"/>
              <a:t>-</a:t>
            </a:r>
            <a:r>
              <a:rPr lang="ko-KR" altLang="en-US"/>
              <a:t> </a:t>
            </a:r>
            <a:r>
              <a:rPr lang="en-US" altLang="ko-KR"/>
              <a:t>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749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마무리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한 학기 마무리 감상</a:t>
            </a:r>
          </a:p>
        </p:txBody>
      </p:sp>
    </p:spTree>
    <p:extLst>
      <p:ext uri="{BB962C8B-B14F-4D97-AF65-F5344CB8AC3E}">
        <p14:creationId xmlns:p14="http://schemas.microsoft.com/office/powerpoint/2010/main" val="1606031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1216268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1571</Words>
  <Application>Microsoft Office PowerPoint</Application>
  <PresentationFormat>Widescreen</PresentationFormat>
  <Paragraphs>258</Paragraphs>
  <Slides>58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5" baseType="lpstr">
      <vt:lpstr>HY견고딕</vt:lpstr>
      <vt:lpstr>굴림</vt:lpstr>
      <vt:lpstr>맑은 고딕</vt:lpstr>
      <vt:lpstr>함초롬바탕</vt:lpstr>
      <vt:lpstr>Arial</vt:lpstr>
      <vt:lpstr>Wingdings</vt:lpstr>
      <vt:lpstr>Office Theme</vt:lpstr>
      <vt:lpstr>소프트웨어 응용설계</vt:lpstr>
      <vt:lpstr>목차</vt:lpstr>
      <vt:lpstr>과제 1 - Autonomic Computing Evaluation</vt:lpstr>
      <vt:lpstr>과제 1 - Autonomic Computing Evaluation</vt:lpstr>
      <vt:lpstr>과제 1 - Autonomic Computing Evaluation</vt:lpstr>
      <vt:lpstr>과제 1 - Autonomic Computing Evaluation</vt:lpstr>
      <vt:lpstr>과제 1 - Autonomic Computing Evaluation</vt:lpstr>
      <vt:lpstr>과제 1 - Autonomic Computing Evaluation</vt:lpstr>
      <vt:lpstr>과제 1 - Autonomic Computing Evaluation</vt:lpstr>
      <vt:lpstr>과제 1 - Autonomic Computing Evaluation</vt:lpstr>
      <vt:lpstr>과제 2</vt:lpstr>
      <vt:lpstr>과제 2</vt:lpstr>
      <vt:lpstr>과제 2</vt:lpstr>
      <vt:lpstr>과제 2</vt:lpstr>
      <vt:lpstr>과제 3</vt:lpstr>
      <vt:lpstr>과제 3</vt:lpstr>
      <vt:lpstr>과제 3</vt:lpstr>
      <vt:lpstr>과제 3</vt:lpstr>
      <vt:lpstr>과제 3</vt:lpstr>
      <vt:lpstr>과제 3</vt:lpstr>
      <vt:lpstr>과제 4</vt:lpstr>
      <vt:lpstr>과제 4</vt:lpstr>
      <vt:lpstr>과제 4</vt:lpstr>
      <vt:lpstr>과제 4</vt:lpstr>
      <vt:lpstr>과제 4</vt:lpstr>
      <vt:lpstr>과제 4</vt:lpstr>
      <vt:lpstr>과제 4</vt:lpstr>
      <vt:lpstr>과제 4</vt:lpstr>
      <vt:lpstr>과제 4</vt:lpstr>
      <vt:lpstr>과제 4</vt:lpstr>
      <vt:lpstr>과제 4</vt:lpstr>
      <vt:lpstr>과제 4</vt:lpstr>
      <vt:lpstr>과제 4</vt:lpstr>
      <vt:lpstr>과제 4</vt:lpstr>
      <vt:lpstr>과제 4</vt:lpstr>
      <vt:lpstr>과제 5</vt:lpstr>
      <vt:lpstr>과제 5</vt:lpstr>
      <vt:lpstr>과제 5</vt:lpstr>
      <vt:lpstr>과제 5</vt:lpstr>
      <vt:lpstr>과제 5</vt:lpstr>
      <vt:lpstr>과제 5</vt:lpstr>
      <vt:lpstr>과제 5</vt:lpstr>
      <vt:lpstr>과제 5 - 그 외 배운 것들</vt:lpstr>
      <vt:lpstr>과제 5 - 그 외 배운 것들</vt:lpstr>
      <vt:lpstr>과제 5 - 그 외 배운 것들</vt:lpstr>
      <vt:lpstr>과제 6 - 최종 주제</vt:lpstr>
      <vt:lpstr>과제 6 - 설계과정</vt:lpstr>
      <vt:lpstr>과제 6 - 설계과정</vt:lpstr>
      <vt:lpstr>과제 6 - 설계과정</vt:lpstr>
      <vt:lpstr>과제 6 - 설계과정</vt:lpstr>
      <vt:lpstr>과제 6 - 개발과정</vt:lpstr>
      <vt:lpstr>과제 6</vt:lpstr>
      <vt:lpstr>과제 6</vt:lpstr>
      <vt:lpstr>과제 6</vt:lpstr>
      <vt:lpstr>과제 6</vt:lpstr>
      <vt:lpstr>과제 6 - DEMO</vt:lpstr>
      <vt:lpstr>마무리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Jongyoun Pyeon</dc:creator>
  <cp:lastModifiedBy>Jongyoun Pyeon</cp:lastModifiedBy>
  <cp:revision>4</cp:revision>
  <dcterms:created xsi:type="dcterms:W3CDTF">2025-11-16T08:43:41Z</dcterms:created>
  <dcterms:modified xsi:type="dcterms:W3CDTF">2025-11-21T11:14:13Z</dcterms:modified>
  <cp:version/>
</cp:coreProperties>
</file>